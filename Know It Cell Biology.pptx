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64" r:id="rId3"/>
  </p:sldMasterIdLst>
  <p:notesMasterIdLst>
    <p:notesMasterId r:id="rId7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8" r:id="rId64"/>
    <p:sldId id="319" r:id="rId65"/>
    <p:sldId id="316" r:id="rId66"/>
    <p:sldId id="317" r:id="rId67"/>
    <p:sldId id="320" r:id="rId68"/>
    <p:sldId id="321" r:id="rId69"/>
    <p:sldId id="322" r:id="rId70"/>
    <p:sldId id="323" r:id="rId71"/>
    <p:sldId id="324" r:id="rId72"/>
    <p:sldId id="325" r:id="rId73"/>
    <p:sldId id="326" r:id="rId74"/>
  </p:sldIdLst>
  <p:sldSz cx="9144000" cy="6858000" type="screen4x3"/>
  <p:notesSz cx="6858000" cy="9144000"/>
  <p:embeddedFontLst>
    <p:embeddedFont>
      <p:font typeface="Gill Sans" panose="020B0604020202020204" charset="0"/>
      <p:regular r:id="rId76"/>
      <p:bold r:id="rId77"/>
    </p:embeddedFont>
    <p:embeddedFont>
      <p:font typeface="Source Sans Pro" panose="020B0503030403020204" pitchFamily="34" charset="0"/>
      <p:regular r:id="rId78"/>
      <p:bold r:id="rId79"/>
      <p:italic r:id="rId80"/>
      <p:boldItalic r:id="rId81"/>
    </p:embeddedFont>
    <p:embeddedFont>
      <p:font typeface="Times" panose="02020603050405020304" pitchFamily="18"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0" roundtripDataSignature="AMtx7midp5p5eMDow9foJESic1GSBoSVa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B5C040-EF74-47EC-8CDE-39956F763B1A}">
  <a:tblStyle styleId="{7FB5C040-EF74-47EC-8CDE-39956F763B1A}"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E5FCA4E-7378-46B0-B8AC-BF7E9694FEB7}" styleName="Table_1">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210" y="53"/>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font" Target="fonts/font9.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font" Target="fonts/font4.fntdata"/><Relationship Id="rId5" Type="http://schemas.openxmlformats.org/officeDocument/2006/relationships/slide" Target="slides/slide2.xml"/><Relationship Id="rId90" Type="http://customschemas.google.com/relationships/presentationmetadata" Target="metadata"/><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font" Target="fonts/font2.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font" Target="fonts/font5.fntdata"/><Relationship Id="rId85" Type="http://schemas.openxmlformats.org/officeDocument/2006/relationships/font" Target="fonts/font10.fntdata"/><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notesMaster" Target="notesMasters/notesMaster1.xml"/><Relationship Id="rId83" Type="http://schemas.openxmlformats.org/officeDocument/2006/relationships/font" Target="fonts/font8.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font" Target="fonts/font3.fntdata"/><Relationship Id="rId81" Type="http://schemas.openxmlformats.org/officeDocument/2006/relationships/font" Target="fonts/font6.fntdata"/><Relationship Id="rId9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1.fntdata"/><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font" Target="fonts/font7.fntdata"/><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187" name="Google Shape;18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 name="Google Shape;41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 name="Google Shape;49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8" name="Google Shape;518;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6" name="Google Shape;556;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8" name="Google Shape;588;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1" name="Google Shape;611;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619" name="Google Shape;619;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9" name="Google Shape;629;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630" name="Google Shape;630;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0" name="Google Shape;650;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2" name="Google Shape;662;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p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3" name="Google Shape;683;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4" name="Google Shape;684;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1" name="Google Shape;691;p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8" name="Google Shape;698;p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5" name="Google Shape;705;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6" name="Google Shape;706;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3" name="Google Shape;713;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714" name="Google Shape;714;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727" name="Google Shape;727;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740" name="Google Shape;740;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755" name="Google Shape;755;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790" name="Google Shape;790;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801" name="Google Shape;801;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766" name="Google Shape;766;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778" name="Google Shape;778;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3" name="Google Shape;813;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0" name="Google Shape;820;p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7" name="Google Shape;827;p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2" name="Google Shape;842;p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9" name="Google Shape;849;p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p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7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7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78"/>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78"/>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7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7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7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79"/>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7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7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7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80"/>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80"/>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8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8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8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81"/>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1"/>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8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8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8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82"/>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82"/>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82"/>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82"/>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82"/>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8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8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84"/>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84"/>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84"/>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8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85"/>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85"/>
          <p:cNvSpPr>
            <a:spLocks noGrp="1"/>
          </p:cNvSpPr>
          <p:nvPr>
            <p:ph type="pic" idx="2"/>
          </p:nvPr>
        </p:nvSpPr>
        <p:spPr>
          <a:xfrm>
            <a:off x="3887788" y="987425"/>
            <a:ext cx="462915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85"/>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8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8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8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86"/>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8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8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8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87"/>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87"/>
          <p:cNvSpPr txBox="1">
            <a:spLocks noGrp="1"/>
          </p:cNvSpPr>
          <p:nvPr>
            <p:ph type="body" idx="1"/>
          </p:nvPr>
        </p:nvSpPr>
        <p:spPr>
          <a:xfrm rot="5400000">
            <a:off x="604044" y="389732"/>
            <a:ext cx="5811838" cy="57626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8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8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8"/>
        <p:cNvGrpSpPr/>
        <p:nvPr/>
      </p:nvGrpSpPr>
      <p:grpSpPr>
        <a:xfrm>
          <a:off x="0" y="0"/>
          <a:ext cx="0" cy="0"/>
          <a:chOff x="0" y="0"/>
          <a:chExt cx="0" cy="0"/>
        </a:xfrm>
      </p:grpSpPr>
      <p:sp>
        <p:nvSpPr>
          <p:cNvPr id="89" name="Google Shape;89;p75"/>
          <p:cNvSpPr txBox="1">
            <a:spLocks noGrp="1"/>
          </p:cNvSpPr>
          <p:nvPr>
            <p:ph type="ctrTitle"/>
          </p:nvPr>
        </p:nvSpPr>
        <p:spPr>
          <a:xfrm>
            <a:off x="83406" y="764704"/>
            <a:ext cx="8964488" cy="14700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75"/>
          <p:cNvSpPr txBox="1">
            <a:spLocks noGrp="1"/>
          </p:cNvSpPr>
          <p:nvPr>
            <p:ph type="subTitle" idx="1"/>
          </p:nvPr>
        </p:nvSpPr>
        <p:spPr>
          <a:xfrm>
            <a:off x="83406" y="2420888"/>
            <a:ext cx="8964488" cy="1752600"/>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latin typeface="Source Sans Pro"/>
                <a:ea typeface="Source Sans Pro"/>
                <a:cs typeface="Source Sans Pro"/>
                <a:sym typeface="Source Sans Pro"/>
              </a:defRPr>
            </a:lvl1pPr>
            <a:lvl2pPr lvl="1" algn="ctr">
              <a:spcBef>
                <a:spcPts val="420"/>
              </a:spcBef>
              <a:spcAft>
                <a:spcPts val="0"/>
              </a:spcAft>
              <a:buClr>
                <a:srgbClr val="888888"/>
              </a:buClr>
              <a:buSzPts val="21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1"/>
        <p:cNvGrpSpPr/>
        <p:nvPr/>
      </p:nvGrpSpPr>
      <p:grpSpPr>
        <a:xfrm>
          <a:off x="0" y="0"/>
          <a:ext cx="0" cy="0"/>
          <a:chOff x="0" y="0"/>
          <a:chExt cx="0" cy="0"/>
        </a:xfrm>
      </p:grpSpPr>
      <p:sp>
        <p:nvSpPr>
          <p:cNvPr id="92" name="Google Shape;92;p76"/>
          <p:cNvSpPr txBox="1">
            <a:spLocks noGrp="1"/>
          </p:cNvSpPr>
          <p:nvPr>
            <p:ph type="ctrTitle"/>
          </p:nvPr>
        </p:nvSpPr>
        <p:spPr>
          <a:xfrm>
            <a:off x="279400" y="2130427"/>
            <a:ext cx="8572500" cy="14700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76"/>
          <p:cNvSpPr txBox="1">
            <a:spLocks noGrp="1"/>
          </p:cNvSpPr>
          <p:nvPr>
            <p:ph type="subTitle" idx="1"/>
          </p:nvPr>
        </p:nvSpPr>
        <p:spPr>
          <a:xfrm>
            <a:off x="279400" y="3886200"/>
            <a:ext cx="8572500" cy="1752600"/>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latin typeface="Source Sans Pro"/>
                <a:ea typeface="Source Sans Pro"/>
                <a:cs typeface="Source Sans Pro"/>
                <a:sym typeface="Source Sans Pro"/>
              </a:defRPr>
            </a:lvl1pPr>
            <a:lvl2pPr lvl="1" algn="ctr">
              <a:spcBef>
                <a:spcPts val="420"/>
              </a:spcBef>
              <a:spcAft>
                <a:spcPts val="0"/>
              </a:spcAft>
              <a:buClr>
                <a:srgbClr val="888888"/>
              </a:buClr>
              <a:buSzPts val="21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94" name="Google Shape;94;p76"/>
          <p:cNvSpPr txBox="1"/>
          <p:nvPr/>
        </p:nvSpPr>
        <p:spPr>
          <a:xfrm>
            <a:off x="1400175" y="657225"/>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5"/>
        <p:cNvGrpSpPr/>
        <p:nvPr/>
      </p:nvGrpSpPr>
      <p:grpSpPr>
        <a:xfrm>
          <a:off x="0" y="0"/>
          <a:ext cx="0" cy="0"/>
          <a:chOff x="0" y="0"/>
          <a:chExt cx="0" cy="0"/>
        </a:xfrm>
      </p:grpSpPr>
      <p:sp>
        <p:nvSpPr>
          <p:cNvPr id="96" name="Google Shape;96;p77"/>
          <p:cNvSpPr txBox="1">
            <a:spLocks noGrp="1"/>
          </p:cNvSpPr>
          <p:nvPr>
            <p:ph type="title"/>
          </p:nvPr>
        </p:nvSpPr>
        <p:spPr>
          <a:xfrm>
            <a:off x="355600" y="1257300"/>
            <a:ext cx="8458200" cy="7493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33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77"/>
          <p:cNvSpPr txBox="1">
            <a:spLocks noGrp="1"/>
          </p:cNvSpPr>
          <p:nvPr>
            <p:ph type="body" idx="1"/>
          </p:nvPr>
        </p:nvSpPr>
        <p:spPr>
          <a:xfrm>
            <a:off x="355600" y="2133600"/>
            <a:ext cx="8458200" cy="41656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a:latin typeface="Source Sans Pro"/>
                <a:ea typeface="Source Sans Pro"/>
                <a:cs typeface="Source Sans Pro"/>
                <a:sym typeface="Source Sans Pro"/>
              </a:defRPr>
            </a:lvl1pPr>
            <a:lvl2pPr marL="914400" lvl="1" indent="-361950" algn="l">
              <a:spcBef>
                <a:spcPts val="420"/>
              </a:spcBef>
              <a:spcAft>
                <a:spcPts val="0"/>
              </a:spcAft>
              <a:buClr>
                <a:schemeClr val="dk1"/>
              </a:buClr>
              <a:buSzPts val="2100"/>
              <a:buChar char="–"/>
              <a:defRPr>
                <a:latin typeface="Source Sans Pro"/>
                <a:ea typeface="Source Sans Pro"/>
                <a:cs typeface="Source Sans Pro"/>
                <a:sym typeface="Source Sans Pro"/>
              </a:defRPr>
            </a:lvl2pPr>
            <a:lvl3pPr marL="1371600" lvl="2" indent="-342900" algn="l">
              <a:spcBef>
                <a:spcPts val="360"/>
              </a:spcBef>
              <a:spcAft>
                <a:spcPts val="0"/>
              </a:spcAft>
              <a:buClr>
                <a:schemeClr val="dk1"/>
              </a:buClr>
              <a:buSzPts val="1800"/>
              <a:buChar char="•"/>
              <a:defRPr>
                <a:latin typeface="Source Sans Pro"/>
                <a:ea typeface="Source Sans Pro"/>
                <a:cs typeface="Source Sans Pro"/>
                <a:sym typeface="Source Sans Pro"/>
              </a:defRPr>
            </a:lvl3pPr>
            <a:lvl4pPr marL="1828800" lvl="3" indent="-323850" algn="l">
              <a:spcBef>
                <a:spcPts val="300"/>
              </a:spcBef>
              <a:spcAft>
                <a:spcPts val="0"/>
              </a:spcAft>
              <a:buClr>
                <a:schemeClr val="dk1"/>
              </a:buClr>
              <a:buSzPts val="1500"/>
              <a:buChar char="–"/>
              <a:defRPr>
                <a:latin typeface="Source Sans Pro"/>
                <a:ea typeface="Source Sans Pro"/>
                <a:cs typeface="Source Sans Pro"/>
                <a:sym typeface="Source Sans Pro"/>
              </a:defRPr>
            </a:lvl4pPr>
            <a:lvl5pPr marL="2286000" lvl="4" indent="-323850" algn="l">
              <a:spcBef>
                <a:spcPts val="300"/>
              </a:spcBef>
              <a:spcAft>
                <a:spcPts val="0"/>
              </a:spcAft>
              <a:buClr>
                <a:schemeClr val="dk1"/>
              </a:buClr>
              <a:buSzPts val="1500"/>
              <a:buChar char="»"/>
              <a:defRPr>
                <a:latin typeface="Source Sans Pro"/>
                <a:ea typeface="Source Sans Pro"/>
                <a:cs typeface="Source Sans Pro"/>
                <a:sym typeface="Source Sans Pro"/>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7"/>
        <p:cNvGrpSpPr/>
        <p:nvPr/>
      </p:nvGrpSpPr>
      <p:grpSpPr>
        <a:xfrm>
          <a:off x="0" y="0"/>
          <a:ext cx="0" cy="0"/>
          <a:chOff x="0" y="0"/>
          <a:chExt cx="0" cy="0"/>
        </a:xfrm>
      </p:grpSpPr>
      <p:sp>
        <p:nvSpPr>
          <p:cNvPr id="108" name="Google Shape;108;p89"/>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89"/>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10" name="Google Shape;110;p8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8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8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3"/>
        <p:cNvGrpSpPr/>
        <p:nvPr/>
      </p:nvGrpSpPr>
      <p:grpSpPr>
        <a:xfrm>
          <a:off x="0" y="0"/>
          <a:ext cx="0" cy="0"/>
          <a:chOff x="0" y="0"/>
          <a:chExt cx="0" cy="0"/>
        </a:xfrm>
      </p:grpSpPr>
      <p:sp>
        <p:nvSpPr>
          <p:cNvPr id="114" name="Google Shape;114;p9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9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16" name="Google Shape;116;p90"/>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17" name="Google Shape;117;p9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9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9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0"/>
        <p:cNvGrpSpPr/>
        <p:nvPr/>
      </p:nvGrpSpPr>
      <p:grpSpPr>
        <a:xfrm>
          <a:off x="0" y="0"/>
          <a:ext cx="0" cy="0"/>
          <a:chOff x="0" y="0"/>
          <a:chExt cx="0" cy="0"/>
        </a:xfrm>
      </p:grpSpPr>
      <p:sp>
        <p:nvSpPr>
          <p:cNvPr id="121" name="Google Shape;121;p9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9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23" name="Google Shape;123;p9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9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9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6"/>
        <p:cNvGrpSpPr/>
        <p:nvPr/>
      </p:nvGrpSpPr>
      <p:grpSpPr>
        <a:xfrm>
          <a:off x="0" y="0"/>
          <a:ext cx="0" cy="0"/>
          <a:chOff x="0" y="0"/>
          <a:chExt cx="0" cy="0"/>
        </a:xfrm>
      </p:grpSpPr>
      <p:sp>
        <p:nvSpPr>
          <p:cNvPr id="127" name="Google Shape;127;p92"/>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92"/>
          <p:cNvSpPr txBox="1">
            <a:spLocks noGrp="1"/>
          </p:cNvSpPr>
          <p:nvPr>
            <p:ph type="body" idx="1"/>
          </p:nvPr>
        </p:nvSpPr>
        <p:spPr>
          <a:xfrm rot="5400000">
            <a:off x="623093"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29" name="Google Shape;129;p9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9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9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2"/>
        <p:cNvGrpSpPr/>
        <p:nvPr/>
      </p:nvGrpSpPr>
      <p:grpSpPr>
        <a:xfrm>
          <a:off x="0" y="0"/>
          <a:ext cx="0" cy="0"/>
          <a:chOff x="0" y="0"/>
          <a:chExt cx="0" cy="0"/>
        </a:xfrm>
      </p:grpSpPr>
      <p:sp>
        <p:nvSpPr>
          <p:cNvPr id="133" name="Google Shape;133;p93"/>
          <p:cNvSpPr txBox="1">
            <a:spLocks noGrp="1"/>
          </p:cNvSpPr>
          <p:nvPr>
            <p:ph type="title"/>
          </p:nvPr>
        </p:nvSpPr>
        <p:spPr>
          <a:xfrm>
            <a:off x="355600" y="1257300"/>
            <a:ext cx="8458200" cy="7493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3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93"/>
          <p:cNvSpPr txBox="1">
            <a:spLocks noGrp="1"/>
          </p:cNvSpPr>
          <p:nvPr>
            <p:ph type="body" idx="1"/>
          </p:nvPr>
        </p:nvSpPr>
        <p:spPr>
          <a:xfrm>
            <a:off x="355600" y="2133600"/>
            <a:ext cx="8458200" cy="4165600"/>
          </a:xfrm>
          <a:prstGeom prst="rect">
            <a:avLst/>
          </a:prstGeom>
          <a:noFill/>
          <a:ln>
            <a:noFill/>
          </a:ln>
        </p:spPr>
        <p:txBody>
          <a:bodyPr spcFirstLastPara="1" wrap="square" lIns="91425" tIns="45700" rIns="91425" bIns="45700" anchor="t" anchorCtr="0">
            <a:normAutofit/>
          </a:bodyPr>
          <a:lstStyle>
            <a:lvl1pPr marL="457200" lvl="0" indent="-361950" algn="l">
              <a:lnSpc>
                <a:spcPct val="90000"/>
              </a:lnSpc>
              <a:spcBef>
                <a:spcPts val="750"/>
              </a:spcBef>
              <a:spcAft>
                <a:spcPts val="0"/>
              </a:spcAft>
              <a:buClr>
                <a:schemeClr val="dk1"/>
              </a:buClr>
              <a:buSzPts val="2100"/>
              <a:buChar char="•"/>
              <a:defRPr>
                <a:latin typeface="Source Sans Pro"/>
                <a:ea typeface="Source Sans Pro"/>
                <a:cs typeface="Source Sans Pro"/>
                <a:sym typeface="Source Sans Pro"/>
              </a:defRPr>
            </a:lvl1pPr>
            <a:lvl2pPr marL="914400" lvl="1" indent="-342900" algn="l">
              <a:lnSpc>
                <a:spcPct val="90000"/>
              </a:lnSpc>
              <a:spcBef>
                <a:spcPts val="375"/>
              </a:spcBef>
              <a:spcAft>
                <a:spcPts val="0"/>
              </a:spcAft>
              <a:buClr>
                <a:schemeClr val="dk1"/>
              </a:buClr>
              <a:buSzPts val="1800"/>
              <a:buChar char="•"/>
              <a:defRPr>
                <a:latin typeface="Source Sans Pro"/>
                <a:ea typeface="Source Sans Pro"/>
                <a:cs typeface="Source Sans Pro"/>
                <a:sym typeface="Source Sans Pro"/>
              </a:defRPr>
            </a:lvl2pPr>
            <a:lvl3pPr marL="1371600" lvl="2" indent="-323850" algn="l">
              <a:lnSpc>
                <a:spcPct val="90000"/>
              </a:lnSpc>
              <a:spcBef>
                <a:spcPts val="375"/>
              </a:spcBef>
              <a:spcAft>
                <a:spcPts val="0"/>
              </a:spcAft>
              <a:buClr>
                <a:schemeClr val="dk1"/>
              </a:buClr>
              <a:buSzPts val="1500"/>
              <a:buChar char="•"/>
              <a:defRPr>
                <a:latin typeface="Source Sans Pro"/>
                <a:ea typeface="Source Sans Pro"/>
                <a:cs typeface="Source Sans Pro"/>
                <a:sym typeface="Source Sans Pro"/>
              </a:defRPr>
            </a:lvl3pPr>
            <a:lvl4pPr marL="1828800" lvl="3" indent="-314325" algn="l">
              <a:lnSpc>
                <a:spcPct val="90000"/>
              </a:lnSpc>
              <a:spcBef>
                <a:spcPts val="375"/>
              </a:spcBef>
              <a:spcAft>
                <a:spcPts val="0"/>
              </a:spcAft>
              <a:buClr>
                <a:schemeClr val="dk1"/>
              </a:buClr>
              <a:buSzPts val="1350"/>
              <a:buChar char="•"/>
              <a:defRPr>
                <a:latin typeface="Source Sans Pro"/>
                <a:ea typeface="Source Sans Pro"/>
                <a:cs typeface="Source Sans Pro"/>
                <a:sym typeface="Source Sans Pro"/>
              </a:defRPr>
            </a:lvl4pPr>
            <a:lvl5pPr marL="2286000" lvl="4" indent="-314325" algn="l">
              <a:lnSpc>
                <a:spcPct val="90000"/>
              </a:lnSpc>
              <a:spcBef>
                <a:spcPts val="375"/>
              </a:spcBef>
              <a:spcAft>
                <a:spcPts val="0"/>
              </a:spcAft>
              <a:buClr>
                <a:schemeClr val="dk1"/>
              </a:buClr>
              <a:buSzPts val="1350"/>
              <a:buChar char="•"/>
              <a:defRPr>
                <a:latin typeface="Source Sans Pro"/>
                <a:ea typeface="Source Sans Pro"/>
                <a:cs typeface="Source Sans Pro"/>
                <a:sym typeface="Source Sans Pro"/>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5"/>
        <p:cNvGrpSpPr/>
        <p:nvPr/>
      </p:nvGrpSpPr>
      <p:grpSpPr>
        <a:xfrm>
          <a:off x="0" y="0"/>
          <a:ext cx="0" cy="0"/>
          <a:chOff x="0" y="0"/>
          <a:chExt cx="0" cy="0"/>
        </a:xfrm>
      </p:grpSpPr>
      <p:sp>
        <p:nvSpPr>
          <p:cNvPr id="136" name="Google Shape;136;p94"/>
          <p:cNvSpPr txBox="1">
            <a:spLocks noGrp="1"/>
          </p:cNvSpPr>
          <p:nvPr>
            <p:ph type="dt" idx="10"/>
          </p:nvPr>
        </p:nvSpPr>
        <p:spPr>
          <a:xfrm>
            <a:off x="457200" y="6356354"/>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94"/>
          <p:cNvSpPr txBox="1">
            <a:spLocks noGrp="1"/>
          </p:cNvSpPr>
          <p:nvPr>
            <p:ph type="ftr" idx="11"/>
          </p:nvPr>
        </p:nvSpPr>
        <p:spPr>
          <a:xfrm>
            <a:off x="3124200" y="6356354"/>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94"/>
          <p:cNvSpPr txBox="1">
            <a:spLocks noGrp="1"/>
          </p:cNvSpPr>
          <p:nvPr>
            <p:ph type="sldNum" idx="12"/>
          </p:nvPr>
        </p:nvSpPr>
        <p:spPr>
          <a:xfrm>
            <a:off x="6553200" y="6356354"/>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efault" type="tx">
  <p:cSld name="TITLE_AND_BODY">
    <p:spTree>
      <p:nvGrpSpPr>
        <p:cNvPr id="1" name="Shape 139"/>
        <p:cNvGrpSpPr/>
        <p:nvPr/>
      </p:nvGrpSpPr>
      <p:grpSpPr>
        <a:xfrm>
          <a:off x="0" y="0"/>
          <a:ext cx="0" cy="0"/>
          <a:chOff x="0" y="0"/>
          <a:chExt cx="0" cy="0"/>
        </a:xfrm>
      </p:grpSpPr>
      <p:sp>
        <p:nvSpPr>
          <p:cNvPr id="140" name="Google Shape;140;p95"/>
          <p:cNvSpPr txBox="1">
            <a:spLocks noGrp="1"/>
          </p:cNvSpPr>
          <p:nvPr>
            <p:ph type="title"/>
          </p:nvPr>
        </p:nvSpPr>
        <p:spPr>
          <a:xfrm>
            <a:off x="457200" y="92079"/>
            <a:ext cx="8229600" cy="1508125"/>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4425"/>
              <a:buFont typeface="Gill Sans"/>
              <a:buNone/>
              <a:defRPr sz="4425">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95"/>
          <p:cNvSpPr txBox="1">
            <a:spLocks noGrp="1"/>
          </p:cNvSpPr>
          <p:nvPr>
            <p:ph type="body" idx="1"/>
          </p:nvPr>
        </p:nvSpPr>
        <p:spPr>
          <a:xfrm>
            <a:off x="457200" y="1600200"/>
            <a:ext cx="8229600" cy="52578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2475"/>
              </a:spcBef>
              <a:spcAft>
                <a:spcPts val="0"/>
              </a:spcAft>
              <a:buClr>
                <a:schemeClr val="dk1"/>
              </a:buClr>
              <a:buSzPts val="2100"/>
              <a:buFont typeface="Gill Sans"/>
              <a:buNone/>
              <a:defRPr>
                <a:latin typeface="Gill Sans"/>
                <a:ea typeface="Gill Sans"/>
                <a:cs typeface="Gill Sans"/>
                <a:sym typeface="Gill Sans"/>
              </a:defRPr>
            </a:lvl1pPr>
            <a:lvl2pPr marL="914400" lvl="1" indent="-228600" algn="ctr">
              <a:lnSpc>
                <a:spcPct val="90000"/>
              </a:lnSpc>
              <a:spcBef>
                <a:spcPts val="2475"/>
              </a:spcBef>
              <a:spcAft>
                <a:spcPts val="0"/>
              </a:spcAft>
              <a:buClr>
                <a:schemeClr val="dk1"/>
              </a:buClr>
              <a:buSzPts val="1800"/>
              <a:buFont typeface="Gill Sans"/>
              <a:buNone/>
              <a:defRPr>
                <a:latin typeface="Gill Sans"/>
                <a:ea typeface="Gill Sans"/>
                <a:cs typeface="Gill Sans"/>
                <a:sym typeface="Gill Sans"/>
              </a:defRPr>
            </a:lvl2pPr>
            <a:lvl3pPr marL="1371600" lvl="2" indent="-228600" algn="ctr">
              <a:lnSpc>
                <a:spcPct val="90000"/>
              </a:lnSpc>
              <a:spcBef>
                <a:spcPts val="2475"/>
              </a:spcBef>
              <a:spcAft>
                <a:spcPts val="0"/>
              </a:spcAft>
              <a:buClr>
                <a:schemeClr val="dk1"/>
              </a:buClr>
              <a:buSzPts val="1500"/>
              <a:buFont typeface="Gill Sans"/>
              <a:buNone/>
              <a:defRPr>
                <a:latin typeface="Gill Sans"/>
                <a:ea typeface="Gill Sans"/>
                <a:cs typeface="Gill Sans"/>
                <a:sym typeface="Gill Sans"/>
              </a:defRPr>
            </a:lvl3pPr>
            <a:lvl4pPr marL="1828800" lvl="3" indent="-228600" algn="ctr">
              <a:lnSpc>
                <a:spcPct val="90000"/>
              </a:lnSpc>
              <a:spcBef>
                <a:spcPts val="2475"/>
              </a:spcBef>
              <a:spcAft>
                <a:spcPts val="0"/>
              </a:spcAft>
              <a:buClr>
                <a:schemeClr val="dk1"/>
              </a:buClr>
              <a:buSzPts val="1350"/>
              <a:buFont typeface="Gill Sans"/>
              <a:buNone/>
              <a:defRPr>
                <a:latin typeface="Gill Sans"/>
                <a:ea typeface="Gill Sans"/>
                <a:cs typeface="Gill Sans"/>
                <a:sym typeface="Gill Sans"/>
              </a:defRPr>
            </a:lvl4pPr>
            <a:lvl5pPr marL="2286000" lvl="4" indent="-228600" algn="ctr">
              <a:lnSpc>
                <a:spcPct val="90000"/>
              </a:lnSpc>
              <a:spcBef>
                <a:spcPts val="2475"/>
              </a:spcBef>
              <a:spcAft>
                <a:spcPts val="0"/>
              </a:spcAft>
              <a:buClr>
                <a:schemeClr val="dk1"/>
              </a:buClr>
              <a:buSzPts val="1350"/>
              <a:buFont typeface="Gill Sans"/>
              <a:buNone/>
              <a:defRPr>
                <a:latin typeface="Gill Sans"/>
                <a:ea typeface="Gill Sans"/>
                <a:cs typeface="Gill Sans"/>
                <a:sym typeface="Gill Sans"/>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42"/>
        <p:cNvGrpSpPr/>
        <p:nvPr/>
      </p:nvGrpSpPr>
      <p:grpSpPr>
        <a:xfrm>
          <a:off x="0" y="0"/>
          <a:ext cx="0" cy="0"/>
          <a:chOff x="0" y="0"/>
          <a:chExt cx="0" cy="0"/>
        </a:xfrm>
      </p:grpSpPr>
      <p:sp>
        <p:nvSpPr>
          <p:cNvPr id="143" name="Google Shape;143;p96"/>
          <p:cNvSpPr txBox="1">
            <a:spLocks noGrp="1"/>
          </p:cNvSpPr>
          <p:nvPr>
            <p:ph type="ctrTitle"/>
          </p:nvPr>
        </p:nvSpPr>
        <p:spPr>
          <a:xfrm>
            <a:off x="279400" y="2130427"/>
            <a:ext cx="8572500" cy="147002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96"/>
          <p:cNvSpPr txBox="1">
            <a:spLocks noGrp="1"/>
          </p:cNvSpPr>
          <p:nvPr>
            <p:ph type="subTitle" idx="1"/>
          </p:nvPr>
        </p:nvSpPr>
        <p:spPr>
          <a:xfrm>
            <a:off x="279400" y="3886200"/>
            <a:ext cx="8572500" cy="17526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rgbClr val="888888"/>
              </a:buClr>
              <a:buSzPts val="2100"/>
              <a:buNone/>
              <a:defRPr>
                <a:solidFill>
                  <a:srgbClr val="888888"/>
                </a:solidFill>
                <a:latin typeface="Source Sans Pro"/>
                <a:ea typeface="Source Sans Pro"/>
                <a:cs typeface="Source Sans Pro"/>
                <a:sym typeface="Source Sans Pro"/>
              </a:defRPr>
            </a:lvl1pPr>
            <a:lvl2pPr lvl="1" algn="ctr">
              <a:lnSpc>
                <a:spcPct val="90000"/>
              </a:lnSpc>
              <a:spcBef>
                <a:spcPts val="375"/>
              </a:spcBef>
              <a:spcAft>
                <a:spcPts val="0"/>
              </a:spcAft>
              <a:buClr>
                <a:srgbClr val="888888"/>
              </a:buClr>
              <a:buSzPts val="1800"/>
              <a:buNone/>
              <a:defRPr>
                <a:solidFill>
                  <a:srgbClr val="888888"/>
                </a:solidFill>
              </a:defRPr>
            </a:lvl2pPr>
            <a:lvl3pPr lvl="2" algn="ctr">
              <a:lnSpc>
                <a:spcPct val="90000"/>
              </a:lnSpc>
              <a:spcBef>
                <a:spcPts val="375"/>
              </a:spcBef>
              <a:spcAft>
                <a:spcPts val="0"/>
              </a:spcAft>
              <a:buClr>
                <a:srgbClr val="888888"/>
              </a:buClr>
              <a:buSzPts val="1500"/>
              <a:buNone/>
              <a:defRPr>
                <a:solidFill>
                  <a:srgbClr val="888888"/>
                </a:solidFill>
              </a:defRPr>
            </a:lvl3pPr>
            <a:lvl4pPr lvl="3" algn="ctr">
              <a:lnSpc>
                <a:spcPct val="90000"/>
              </a:lnSpc>
              <a:spcBef>
                <a:spcPts val="375"/>
              </a:spcBef>
              <a:spcAft>
                <a:spcPts val="0"/>
              </a:spcAft>
              <a:buClr>
                <a:srgbClr val="888888"/>
              </a:buClr>
              <a:buSzPts val="1350"/>
              <a:buNone/>
              <a:defRPr>
                <a:solidFill>
                  <a:srgbClr val="888888"/>
                </a:solidFill>
              </a:defRPr>
            </a:lvl4pPr>
            <a:lvl5pPr lvl="4" algn="ctr">
              <a:lnSpc>
                <a:spcPct val="90000"/>
              </a:lnSpc>
              <a:spcBef>
                <a:spcPts val="375"/>
              </a:spcBef>
              <a:spcAft>
                <a:spcPts val="0"/>
              </a:spcAft>
              <a:buClr>
                <a:srgbClr val="888888"/>
              </a:buClr>
              <a:buSzPts val="1350"/>
              <a:buNone/>
              <a:defRPr>
                <a:solidFill>
                  <a:srgbClr val="888888"/>
                </a:solidFill>
              </a:defRPr>
            </a:lvl5pPr>
            <a:lvl6pPr lvl="5" algn="ctr">
              <a:lnSpc>
                <a:spcPct val="90000"/>
              </a:lnSpc>
              <a:spcBef>
                <a:spcPts val="375"/>
              </a:spcBef>
              <a:spcAft>
                <a:spcPts val="0"/>
              </a:spcAft>
              <a:buClr>
                <a:srgbClr val="888888"/>
              </a:buClr>
              <a:buSzPts val="1350"/>
              <a:buNone/>
              <a:defRPr>
                <a:solidFill>
                  <a:srgbClr val="888888"/>
                </a:solidFill>
              </a:defRPr>
            </a:lvl6pPr>
            <a:lvl7pPr lvl="6" algn="ctr">
              <a:lnSpc>
                <a:spcPct val="90000"/>
              </a:lnSpc>
              <a:spcBef>
                <a:spcPts val="375"/>
              </a:spcBef>
              <a:spcAft>
                <a:spcPts val="0"/>
              </a:spcAft>
              <a:buClr>
                <a:srgbClr val="888888"/>
              </a:buClr>
              <a:buSzPts val="1350"/>
              <a:buNone/>
              <a:defRPr>
                <a:solidFill>
                  <a:srgbClr val="888888"/>
                </a:solidFill>
              </a:defRPr>
            </a:lvl7pPr>
            <a:lvl8pPr lvl="7" algn="ctr">
              <a:lnSpc>
                <a:spcPct val="90000"/>
              </a:lnSpc>
              <a:spcBef>
                <a:spcPts val="375"/>
              </a:spcBef>
              <a:spcAft>
                <a:spcPts val="0"/>
              </a:spcAft>
              <a:buClr>
                <a:srgbClr val="888888"/>
              </a:buClr>
              <a:buSzPts val="1350"/>
              <a:buNone/>
              <a:defRPr>
                <a:solidFill>
                  <a:srgbClr val="888888"/>
                </a:solidFill>
              </a:defRPr>
            </a:lvl8pPr>
            <a:lvl9pPr lvl="8" algn="ctr">
              <a:lnSpc>
                <a:spcPct val="90000"/>
              </a:lnSpc>
              <a:spcBef>
                <a:spcPts val="375"/>
              </a:spcBef>
              <a:spcAft>
                <a:spcPts val="0"/>
              </a:spcAft>
              <a:buClr>
                <a:srgbClr val="888888"/>
              </a:buClr>
              <a:buSzPts val="1350"/>
              <a:buNone/>
              <a:defRPr>
                <a:solidFill>
                  <a:srgbClr val="888888"/>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145"/>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Default">
  <p:cSld name="2_Default">
    <p:spTree>
      <p:nvGrpSpPr>
        <p:cNvPr id="1" name="Shape 146"/>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3_Default">
  <p:cSld name="3_Default">
    <p:spTree>
      <p:nvGrpSpPr>
        <p:cNvPr id="1" name="Shape 147"/>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48"/>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Picture with Caption">
  <p:cSld name="2_Picture with Caption">
    <p:spTree>
      <p:nvGrpSpPr>
        <p:cNvPr id="1" name="Shape 149"/>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_Picture with Caption">
  <p:cSld name="4_Picture with Caption">
    <p:spTree>
      <p:nvGrpSpPr>
        <p:cNvPr id="1" name="Shape 150"/>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_Picture with Caption">
  <p:cSld name="3_Picture with Caption">
    <p:spTree>
      <p:nvGrpSpPr>
        <p:cNvPr id="1" name="Shape 15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2"/>
        <p:cNvGrpSpPr/>
        <p:nvPr/>
      </p:nvGrpSpPr>
      <p:grpSpPr>
        <a:xfrm>
          <a:off x="0" y="0"/>
          <a:ext cx="0" cy="0"/>
          <a:chOff x="0" y="0"/>
          <a:chExt cx="0" cy="0"/>
        </a:xfrm>
      </p:grpSpPr>
      <p:sp>
        <p:nvSpPr>
          <p:cNvPr id="153" name="Google Shape;153;p10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p104"/>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104"/>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104"/>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jp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Shape 84"/>
        <p:cNvGrpSpPr/>
        <p:nvPr/>
      </p:nvGrpSpPr>
      <p:grpSpPr>
        <a:xfrm>
          <a:off x="0" y="0"/>
          <a:ext cx="0" cy="0"/>
          <a:chOff x="0" y="0"/>
          <a:chExt cx="0" cy="0"/>
        </a:xfrm>
      </p:grpSpPr>
      <p:pic>
        <p:nvPicPr>
          <p:cNvPr id="85" name="Google Shape;85;p74" descr="pixl ppt back generic 2015.jpg"/>
          <p:cNvPicPr preferRelativeResize="0"/>
          <p:nvPr/>
        </p:nvPicPr>
        <p:blipFill rotWithShape="1">
          <a:blip r:embed="rId5">
            <a:alphaModFix/>
          </a:blip>
          <a:srcRect/>
          <a:stretch/>
        </p:blipFill>
        <p:spPr>
          <a:xfrm>
            <a:off x="0" y="0"/>
            <a:ext cx="9144000" cy="6858000"/>
          </a:xfrm>
          <a:prstGeom prst="rect">
            <a:avLst/>
          </a:prstGeom>
          <a:noFill/>
          <a:ln>
            <a:noFill/>
          </a:ln>
        </p:spPr>
      </p:pic>
      <p:sp>
        <p:nvSpPr>
          <p:cNvPr id="86" name="Google Shape;86;p74"/>
          <p:cNvSpPr txBox="1">
            <a:spLocks noGrp="1"/>
          </p:cNvSpPr>
          <p:nvPr>
            <p:ph type="title"/>
          </p:nvPr>
        </p:nvSpPr>
        <p:spPr>
          <a:xfrm>
            <a:off x="27938" y="774701"/>
            <a:ext cx="9116061" cy="20828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7" name="Google Shape;87;p74"/>
          <p:cNvSpPr txBox="1">
            <a:spLocks noGrp="1"/>
          </p:cNvSpPr>
          <p:nvPr>
            <p:ph type="body" idx="1"/>
          </p:nvPr>
        </p:nvSpPr>
        <p:spPr>
          <a:xfrm>
            <a:off x="17429" y="2996952"/>
            <a:ext cx="9126570" cy="3456384"/>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spcBef>
                <a:spcPts val="42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8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0" name="Google Shape;100;p8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01" name="Google Shape;101;p8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8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8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rgbClr val="888888"/>
                </a:solidFill>
                <a:latin typeface="Calibri"/>
                <a:ea typeface="Calibri"/>
                <a:cs typeface="Calibri"/>
                <a:sym typeface="Calibri"/>
              </a:defRPr>
            </a:lvl1pPr>
            <a:lvl2pPr marL="0" marR="0" lvl="1" indent="0" algn="r" rtl="0">
              <a:spcBef>
                <a:spcPts val="0"/>
              </a:spcBef>
              <a:buNone/>
              <a:defRPr sz="900">
                <a:solidFill>
                  <a:srgbClr val="888888"/>
                </a:solidFill>
                <a:latin typeface="Calibri"/>
                <a:ea typeface="Calibri"/>
                <a:cs typeface="Calibri"/>
                <a:sym typeface="Calibri"/>
              </a:defRPr>
            </a:lvl2pPr>
            <a:lvl3pPr marL="0" marR="0" lvl="2" indent="0" algn="r" rtl="0">
              <a:spcBef>
                <a:spcPts val="0"/>
              </a:spcBef>
              <a:buNone/>
              <a:defRPr sz="900">
                <a:solidFill>
                  <a:srgbClr val="888888"/>
                </a:solidFill>
                <a:latin typeface="Calibri"/>
                <a:ea typeface="Calibri"/>
                <a:cs typeface="Calibri"/>
                <a:sym typeface="Calibri"/>
              </a:defRPr>
            </a:lvl3pPr>
            <a:lvl4pPr marL="0" marR="0" lvl="3" indent="0" algn="r" rtl="0">
              <a:spcBef>
                <a:spcPts val="0"/>
              </a:spcBef>
              <a:buNone/>
              <a:defRPr sz="900">
                <a:solidFill>
                  <a:srgbClr val="888888"/>
                </a:solidFill>
                <a:latin typeface="Calibri"/>
                <a:ea typeface="Calibri"/>
                <a:cs typeface="Calibri"/>
                <a:sym typeface="Calibri"/>
              </a:defRPr>
            </a:lvl4pPr>
            <a:lvl5pPr marL="0" marR="0" lvl="4" indent="0" algn="r" rtl="0">
              <a:spcBef>
                <a:spcPts val="0"/>
              </a:spcBef>
              <a:buNone/>
              <a:defRPr sz="900">
                <a:solidFill>
                  <a:srgbClr val="888888"/>
                </a:solidFill>
                <a:latin typeface="Calibri"/>
                <a:ea typeface="Calibri"/>
                <a:cs typeface="Calibri"/>
                <a:sym typeface="Calibri"/>
              </a:defRPr>
            </a:lvl5pPr>
            <a:lvl6pPr marL="0" marR="0" lvl="5" indent="0" algn="r" rtl="0">
              <a:spcBef>
                <a:spcPts val="0"/>
              </a:spcBef>
              <a:buNone/>
              <a:defRPr sz="900">
                <a:solidFill>
                  <a:srgbClr val="888888"/>
                </a:solidFill>
                <a:latin typeface="Calibri"/>
                <a:ea typeface="Calibri"/>
                <a:cs typeface="Calibri"/>
                <a:sym typeface="Calibri"/>
              </a:defRPr>
            </a:lvl6pPr>
            <a:lvl7pPr marL="0" marR="0" lvl="6" indent="0" algn="r" rtl="0">
              <a:spcBef>
                <a:spcPts val="0"/>
              </a:spcBef>
              <a:buNone/>
              <a:defRPr sz="900">
                <a:solidFill>
                  <a:srgbClr val="888888"/>
                </a:solidFill>
                <a:latin typeface="Calibri"/>
                <a:ea typeface="Calibri"/>
                <a:cs typeface="Calibri"/>
                <a:sym typeface="Calibri"/>
              </a:defRPr>
            </a:lvl7pPr>
            <a:lvl8pPr marL="0" marR="0" lvl="7" indent="0" algn="r" rtl="0">
              <a:spcBef>
                <a:spcPts val="0"/>
              </a:spcBef>
              <a:buNone/>
              <a:defRPr sz="900">
                <a:solidFill>
                  <a:srgbClr val="888888"/>
                </a:solidFill>
                <a:latin typeface="Calibri"/>
                <a:ea typeface="Calibri"/>
                <a:cs typeface="Calibri"/>
                <a:sym typeface="Calibri"/>
              </a:defRPr>
            </a:lvl8pPr>
            <a:lvl9pPr marL="0" marR="0" lvl="8" indent="0" algn="r" rtl="0">
              <a:spcBef>
                <a:spcPts val="0"/>
              </a:spcBef>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104" name="Google Shape;104;p88"/>
          <p:cNvPicPr preferRelativeResize="0"/>
          <p:nvPr/>
        </p:nvPicPr>
        <p:blipFill rotWithShape="1">
          <a:blip r:embed="rId18">
            <a:alphaModFix/>
          </a:blip>
          <a:srcRect/>
          <a:stretch/>
        </p:blipFill>
        <p:spPr>
          <a:xfrm>
            <a:off x="8091113" y="16872"/>
            <a:ext cx="1029761" cy="1020648"/>
          </a:xfrm>
          <a:prstGeom prst="rect">
            <a:avLst/>
          </a:prstGeom>
          <a:noFill/>
          <a:ln>
            <a:noFill/>
          </a:ln>
        </p:spPr>
      </p:pic>
      <p:pic>
        <p:nvPicPr>
          <p:cNvPr id="105" name="Google Shape;105;p88"/>
          <p:cNvPicPr preferRelativeResize="0"/>
          <p:nvPr/>
        </p:nvPicPr>
        <p:blipFill rotWithShape="1">
          <a:blip r:embed="rId19">
            <a:alphaModFix/>
          </a:blip>
          <a:srcRect/>
          <a:stretch/>
        </p:blipFill>
        <p:spPr>
          <a:xfrm>
            <a:off x="23126" y="16872"/>
            <a:ext cx="2530113" cy="831540"/>
          </a:xfrm>
          <a:prstGeom prst="rect">
            <a:avLst/>
          </a:prstGeom>
          <a:noFill/>
          <a:ln>
            <a:noFill/>
          </a:ln>
        </p:spPr>
      </p:pic>
      <p:sp>
        <p:nvSpPr>
          <p:cNvPr id="106" name="Google Shape;106;p88"/>
          <p:cNvSpPr/>
          <p:nvPr/>
        </p:nvSpPr>
        <p:spPr>
          <a:xfrm>
            <a:off x="0" y="6561058"/>
            <a:ext cx="9144000" cy="226407"/>
          </a:xfrm>
          <a:prstGeom prst="rect">
            <a:avLst/>
          </a:prstGeom>
          <a:solidFill>
            <a:schemeClr val="accent2"/>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900">
                <a:solidFill>
                  <a:schemeClr val="lt1"/>
                </a:solidFill>
                <a:latin typeface="Arial"/>
                <a:ea typeface="Arial"/>
                <a:cs typeface="Arial"/>
                <a:sym typeface="Arial"/>
              </a:rPr>
              <a:t>better hope – brighter future</a:t>
            </a:r>
            <a:endParaRPr sz="90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hyperlink" Target="http://www.pixl.org.uk/"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29.jpg"/><Relationship Id="rId5" Type="http://schemas.openxmlformats.org/officeDocument/2006/relationships/image" Target="../media/image28.png"/><Relationship Id="rId4" Type="http://schemas.openxmlformats.org/officeDocument/2006/relationships/hyperlink" Target="http://www.bbc.co.uk/education/clips/zw6kq6f"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4.jpg"/><Relationship Id="rId5" Type="http://schemas.openxmlformats.org/officeDocument/2006/relationships/image" Target="../media/image33.png"/><Relationship Id="rId4" Type="http://schemas.openxmlformats.org/officeDocument/2006/relationships/hyperlink" Target="https://pixl.huddle.net/workspace/20737335/files/"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pixl.huddle.net/workspace/20737335/files/" TargetMode="External"/><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7.xml"/><Relationship Id="rId1" Type="http://schemas.openxmlformats.org/officeDocument/2006/relationships/slideLayout" Target="../slideLayouts/slideLayout12.xml"/><Relationship Id="rId6" Type="http://schemas.openxmlformats.org/officeDocument/2006/relationships/image" Target="../media/image50.jpg"/><Relationship Id="rId5" Type="http://schemas.openxmlformats.org/officeDocument/2006/relationships/image" Target="../media/image49.jpg"/><Relationship Id="rId4" Type="http://schemas.openxmlformats.org/officeDocument/2006/relationships/image" Target="../media/image48.jpg"/></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8.xml"/><Relationship Id="rId1" Type="http://schemas.openxmlformats.org/officeDocument/2006/relationships/slideLayout" Target="../slideLayouts/slideLayout12.xml"/><Relationship Id="rId5" Type="http://schemas.openxmlformats.org/officeDocument/2006/relationships/image" Target="../media/image53.png"/><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image" Target="../media/image55.jpg"/></Relationships>
</file>

<file path=ppt/slides/_rels/slide60.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57.jpg"/></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1.xml"/><Relationship Id="rId1" Type="http://schemas.openxmlformats.org/officeDocument/2006/relationships/slideLayout" Target="../slideLayouts/slideLayout12.xml"/><Relationship Id="rId5" Type="http://schemas.openxmlformats.org/officeDocument/2006/relationships/image" Target="../media/image60.png"/><Relationship Id="rId4" Type="http://schemas.openxmlformats.org/officeDocument/2006/relationships/image" Target="../media/image59.png"/></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63.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63.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hyperlink" Target="http://kids.britannica.com/kids/assembly/view/87782"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4.xml"/><Relationship Id="rId1" Type="http://schemas.openxmlformats.org/officeDocument/2006/relationships/slideLayout" Target="../slideLayouts/slideLayout12.xml"/><Relationship Id="rId5" Type="http://schemas.openxmlformats.org/officeDocument/2006/relationships/image" Target="../media/image68.png"/><Relationship Id="rId4" Type="http://schemas.openxmlformats.org/officeDocument/2006/relationships/image" Target="../media/image67.png"/></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
          <p:cNvSpPr txBox="1"/>
          <p:nvPr/>
        </p:nvSpPr>
        <p:spPr>
          <a:xfrm>
            <a:off x="-108520" y="0"/>
            <a:ext cx="9252520" cy="75713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900" b="0" i="0" u="none" strike="noStrike" cap="none">
                <a:solidFill>
                  <a:srgbClr val="D8D8D8"/>
                </a:solidFill>
                <a:latin typeface="Calibri"/>
                <a:ea typeface="Calibri"/>
                <a:cs typeface="Calibri"/>
                <a:sym typeface="Calibri"/>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endParaRPr/>
          </a:p>
        </p:txBody>
      </p:sp>
      <p:pic>
        <p:nvPicPr>
          <p:cNvPr id="163" name="Google Shape;163;p1" descr="pixl-logo"/>
          <p:cNvPicPr preferRelativeResize="0"/>
          <p:nvPr/>
        </p:nvPicPr>
        <p:blipFill rotWithShape="1">
          <a:blip r:embed="rId3">
            <a:alphaModFix/>
          </a:blip>
          <a:srcRect/>
          <a:stretch/>
        </p:blipFill>
        <p:spPr>
          <a:xfrm>
            <a:off x="0" y="44624"/>
            <a:ext cx="1639040" cy="792088"/>
          </a:xfrm>
          <a:prstGeom prst="rect">
            <a:avLst/>
          </a:prstGeom>
          <a:noFill/>
          <a:ln w="9525" cap="flat" cmpd="sng">
            <a:solidFill>
              <a:srgbClr val="000000"/>
            </a:solidFill>
            <a:prstDash val="solid"/>
            <a:miter lim="800000"/>
            <a:headEnd type="none" w="sm" len="sm"/>
            <a:tailEnd type="none" w="sm" len="sm"/>
          </a:ln>
          <a:effectLst>
            <a:outerShdw dist="107763" dir="2700000" algn="ctr" rotWithShape="0">
              <a:srgbClr val="808080">
                <a:alpha val="49803"/>
              </a:srgbClr>
            </a:outerShdw>
          </a:effectLst>
        </p:spPr>
      </p:pic>
      <p:sp>
        <p:nvSpPr>
          <p:cNvPr id="164" name="Google Shape;164;p1"/>
          <p:cNvSpPr txBox="1"/>
          <p:nvPr/>
        </p:nvSpPr>
        <p:spPr>
          <a:xfrm>
            <a:off x="215516" y="5217942"/>
            <a:ext cx="8820979" cy="887304"/>
          </a:xfrm>
          <a:prstGeom prst="rect">
            <a:avLst/>
          </a:prstGeom>
          <a:solidFill>
            <a:srgbClr val="FFFFFF"/>
          </a:solidFill>
          <a:ln w="38100" cap="flat" cmpd="dbl">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000"/>
              <a:buFont typeface="Arial"/>
              <a:buNone/>
            </a:pPr>
            <a:r>
              <a:rPr lang="en-GB" sz="1000" b="0" i="0" u="none" strike="noStrike" cap="none">
                <a:solidFill>
                  <a:schemeClr val="dk1"/>
                </a:solidFill>
                <a:latin typeface="Arial"/>
                <a:ea typeface="Arial"/>
                <a:cs typeface="Arial"/>
                <a:sym typeface="Arial"/>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endParaRPr/>
          </a:p>
          <a:p>
            <a:pPr marL="0" marR="0" lvl="0" indent="0" algn="just" rtl="0">
              <a:lnSpc>
                <a:spcPct val="100000"/>
              </a:lnSpc>
              <a:spcBef>
                <a:spcPts val="0"/>
              </a:spcBef>
              <a:spcAft>
                <a:spcPts val="0"/>
              </a:spcAft>
              <a:buClr>
                <a:schemeClr val="dk1"/>
              </a:buClr>
              <a:buSzPts val="1000"/>
              <a:buFont typeface="Calibri"/>
              <a:buNone/>
            </a:pPr>
            <a:endParaRPr sz="10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000"/>
              <a:buFont typeface="Arial"/>
              <a:buNone/>
            </a:pPr>
            <a:r>
              <a:rPr lang="en-GB" sz="1000" b="0" i="0" u="none" strike="noStrike" cap="none">
                <a:solidFill>
                  <a:schemeClr val="dk1"/>
                </a:solidFill>
                <a:latin typeface="Arial"/>
                <a:ea typeface="Arial"/>
                <a:cs typeface="Arial"/>
                <a:sym typeface="Arial"/>
              </a:rPr>
              <a:t>All opinions and contributions are those of the authors. The contents of this resource are not connected with nor endorsed by any other company, organisation or institution.</a:t>
            </a:r>
            <a:endParaRPr sz="1800" b="0" i="0" u="none" strike="noStrike" cap="none">
              <a:solidFill>
                <a:schemeClr val="dk1"/>
              </a:solidFill>
              <a:latin typeface="Arial"/>
              <a:ea typeface="Arial"/>
              <a:cs typeface="Arial"/>
              <a:sym typeface="Arial"/>
            </a:endParaRPr>
          </a:p>
        </p:txBody>
      </p:sp>
      <p:sp>
        <p:nvSpPr>
          <p:cNvPr id="165" name="Google Shape;165;p1"/>
          <p:cNvSpPr txBox="1"/>
          <p:nvPr/>
        </p:nvSpPr>
        <p:spPr>
          <a:xfrm>
            <a:off x="827584" y="6237312"/>
            <a:ext cx="72728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0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www.pixl.org.uk</a:t>
            </a:r>
            <a:r>
              <a:rPr lang="en-GB" sz="1000">
                <a:solidFill>
                  <a:schemeClr val="dk1"/>
                </a:solidFill>
                <a:latin typeface="Calibri"/>
                <a:ea typeface="Calibri"/>
                <a:cs typeface="Calibri"/>
                <a:sym typeface="Calibri"/>
              </a:rPr>
              <a:t>					The PiXL Club Ltd, Company number 07321607</a:t>
            </a:r>
            <a:endParaRPr sz="1000">
              <a:solidFill>
                <a:schemeClr val="dk1"/>
              </a:solidFill>
              <a:latin typeface="Calibri"/>
              <a:ea typeface="Calibri"/>
              <a:cs typeface="Calibri"/>
              <a:sym typeface="Calibri"/>
            </a:endParaRPr>
          </a:p>
          <a:p>
            <a:pPr marL="0" marR="0" lvl="0" indent="0" algn="l" rtl="0">
              <a:spcBef>
                <a:spcPts val="0"/>
              </a:spcBef>
              <a:spcAft>
                <a:spcPts val="0"/>
              </a:spcAft>
              <a:buNone/>
            </a:pPr>
            <a:endParaRPr sz="1000">
              <a:solidFill>
                <a:schemeClr val="dk1"/>
              </a:solidFill>
              <a:latin typeface="Calibri"/>
              <a:ea typeface="Calibri"/>
              <a:cs typeface="Calibri"/>
              <a:sym typeface="Calibri"/>
            </a:endParaRPr>
          </a:p>
        </p:txBody>
      </p:sp>
      <p:sp>
        <p:nvSpPr>
          <p:cNvPr id="166" name="Google Shape;166;p1"/>
          <p:cNvSpPr txBox="1"/>
          <p:nvPr/>
        </p:nvSpPr>
        <p:spPr>
          <a:xfrm>
            <a:off x="2555775" y="4747322"/>
            <a:ext cx="381642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a:solidFill>
                  <a:schemeClr val="dk1"/>
                </a:solidFill>
                <a:latin typeface="Calibri"/>
                <a:ea typeface="Calibri"/>
                <a:cs typeface="Calibri"/>
                <a:sym typeface="Calibri"/>
              </a:rPr>
              <a:t>© Copyright The PiXL Club Ltd, 2017</a:t>
            </a:r>
            <a:endParaRPr/>
          </a:p>
        </p:txBody>
      </p:sp>
      <p:sp>
        <p:nvSpPr>
          <p:cNvPr id="167" name="Google Shape;167;p1"/>
          <p:cNvSpPr txBox="1"/>
          <p:nvPr/>
        </p:nvSpPr>
        <p:spPr>
          <a:xfrm>
            <a:off x="233952" y="881336"/>
            <a:ext cx="8496943" cy="4065728"/>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GB" sz="7200" b="1">
                <a:solidFill>
                  <a:schemeClr val="dk1"/>
                </a:solidFill>
                <a:latin typeface="Calibri"/>
                <a:ea typeface="Calibri"/>
                <a:cs typeface="Calibri"/>
                <a:sym typeface="Calibri"/>
              </a:rPr>
              <a:t>PiXL KnowIT!</a:t>
            </a:r>
            <a:endParaRPr/>
          </a:p>
          <a:p>
            <a:pPr marL="0" marR="0" lvl="0" indent="0" algn="ctr" rtl="0">
              <a:lnSpc>
                <a:spcPct val="115000"/>
              </a:lnSpc>
              <a:spcBef>
                <a:spcPts val="0"/>
              </a:spcBef>
              <a:spcAft>
                <a:spcPts val="0"/>
              </a:spcAft>
              <a:buNone/>
            </a:pPr>
            <a:r>
              <a:rPr lang="en-GB" sz="3600" b="1">
                <a:solidFill>
                  <a:schemeClr val="dk1"/>
                </a:solidFill>
                <a:latin typeface="Arial"/>
                <a:ea typeface="Arial"/>
                <a:cs typeface="Arial"/>
                <a:sym typeface="Arial"/>
              </a:rPr>
              <a:t>GCSE Biology</a:t>
            </a:r>
            <a:endParaRPr sz="1400">
              <a:solidFill>
                <a:schemeClr val="dk1"/>
              </a:solidFill>
              <a:latin typeface="Calibri"/>
              <a:ea typeface="Calibri"/>
              <a:cs typeface="Calibri"/>
              <a:sym typeface="Calibri"/>
            </a:endParaRPr>
          </a:p>
          <a:p>
            <a:pPr marL="0" marR="0" lvl="0" indent="0" algn="ctr" rtl="0">
              <a:spcBef>
                <a:spcPts val="0"/>
              </a:spcBef>
              <a:spcAft>
                <a:spcPts val="0"/>
              </a:spcAft>
              <a:buNone/>
            </a:pPr>
            <a:r>
              <a:rPr lang="en-GB" sz="1800">
                <a:solidFill>
                  <a:schemeClr val="dk1"/>
                </a:solidFill>
                <a:latin typeface="Calibri"/>
                <a:ea typeface="Calibri"/>
                <a:cs typeface="Calibri"/>
                <a:sym typeface="Calibri"/>
              </a:rPr>
              <a:t> </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r>
              <a:rPr lang="en-GB" sz="4400" b="1">
                <a:solidFill>
                  <a:schemeClr val="accent2"/>
                </a:solidFill>
                <a:latin typeface="Calibri"/>
                <a:ea typeface="Calibri"/>
                <a:cs typeface="Calibri"/>
                <a:sym typeface="Calibri"/>
              </a:rPr>
              <a:t>AQA Topic – Cell Biology</a:t>
            </a:r>
            <a:endParaRPr/>
          </a:p>
          <a:p>
            <a:pPr marL="0" marR="0" lvl="0" indent="0" algn="ctr" rtl="0">
              <a:spcBef>
                <a:spcPts val="0"/>
              </a:spcBef>
              <a:spcAft>
                <a:spcPts val="0"/>
              </a:spcAft>
              <a:buNone/>
            </a:pPr>
            <a:r>
              <a:rPr lang="en-GB" sz="1800">
                <a:solidFill>
                  <a:schemeClr val="dk1"/>
                </a:solidFill>
                <a:latin typeface="Calibri"/>
                <a:ea typeface="Calibri"/>
                <a:cs typeface="Calibri"/>
                <a:sym typeface="Calibri"/>
              </a:rPr>
              <a:t>  </a:t>
            </a:r>
            <a:endParaRPr/>
          </a:p>
          <a:p>
            <a:pPr marL="0" marR="0" lvl="0" indent="0" algn="ctr" rtl="0">
              <a:spcBef>
                <a:spcPts val="0"/>
              </a:spcBef>
              <a:spcAft>
                <a:spcPts val="0"/>
              </a:spcAft>
              <a:buNone/>
            </a:pPr>
            <a:r>
              <a:rPr lang="en-GB" sz="1800">
                <a:solidFill>
                  <a:schemeClr val="dk1"/>
                </a:solidFill>
                <a:latin typeface="Calibri"/>
                <a:ea typeface="Calibri"/>
                <a:cs typeface="Calibri"/>
                <a:sym typeface="Calibri"/>
              </a:rPr>
              <a:t> </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68" name="Google Shape;168;p1" descr="image001"/>
          <p:cNvPicPr preferRelativeResize="0"/>
          <p:nvPr/>
        </p:nvPicPr>
        <p:blipFill rotWithShape="1">
          <a:blip r:embed="rId5">
            <a:alphaModFix/>
          </a:blip>
          <a:srcRect/>
          <a:stretch/>
        </p:blipFill>
        <p:spPr>
          <a:xfrm>
            <a:off x="7565552" y="58096"/>
            <a:ext cx="1484057" cy="11047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
          <p:cNvSpPr txBox="1">
            <a:spLocks noGrp="1"/>
          </p:cNvSpPr>
          <p:nvPr>
            <p:ph type="ctrTitle"/>
          </p:nvPr>
        </p:nvSpPr>
        <p:spPr>
          <a:xfrm>
            <a:off x="2987824" y="35655"/>
            <a:ext cx="6156176" cy="1017081"/>
          </a:xfrm>
          <a:prstGeom prst="rect">
            <a:avLst/>
          </a:prstGeom>
          <a:noFill/>
          <a:ln>
            <a:noFill/>
          </a:ln>
        </p:spPr>
        <p:txBody>
          <a:bodyPr spcFirstLastPara="1" wrap="square" lIns="91425" tIns="45700" rIns="91425" bIns="45700" anchor="ctr" anchorCtr="0">
            <a:normAutofit fontScale="90000"/>
          </a:bodyPr>
          <a:lstStyle/>
          <a:p>
            <a:pPr marL="0" lvl="0" indent="0" algn="r" rtl="0">
              <a:spcBef>
                <a:spcPts val="0"/>
              </a:spcBef>
              <a:spcAft>
                <a:spcPts val="0"/>
              </a:spcAft>
              <a:buClr>
                <a:schemeClr val="accent6"/>
              </a:buClr>
              <a:buSzPct val="100000"/>
              <a:buFont typeface="Calibri"/>
              <a:buNone/>
            </a:pPr>
            <a:r>
              <a:rPr lang="en-GB" b="1">
                <a:solidFill>
                  <a:schemeClr val="accent6"/>
                </a:solidFill>
              </a:rPr>
              <a:t>Overview </a:t>
            </a:r>
            <a:br>
              <a:rPr lang="en-GB" b="1">
                <a:solidFill>
                  <a:schemeClr val="accent6"/>
                </a:solidFill>
              </a:rPr>
            </a:br>
            <a:r>
              <a:rPr lang="en-GB" b="1">
                <a:solidFill>
                  <a:schemeClr val="accent6"/>
                </a:solidFill>
              </a:rPr>
              <a:t> Cell Biology</a:t>
            </a:r>
            <a:endParaRPr/>
          </a:p>
        </p:txBody>
      </p:sp>
      <p:sp>
        <p:nvSpPr>
          <p:cNvPr id="174" name="Google Shape;174;p2"/>
          <p:cNvSpPr txBox="1">
            <a:spLocks noGrp="1"/>
          </p:cNvSpPr>
          <p:nvPr>
            <p:ph type="subTitle" idx="1"/>
          </p:nvPr>
        </p:nvSpPr>
        <p:spPr>
          <a:xfrm>
            <a:off x="179512" y="908720"/>
            <a:ext cx="4896544" cy="5472608"/>
          </a:xfrm>
          <a:prstGeom prst="rect">
            <a:avLst/>
          </a:prstGeom>
          <a:noFill/>
          <a:ln>
            <a:noFill/>
          </a:ln>
        </p:spPr>
        <p:txBody>
          <a:bodyPr spcFirstLastPara="1" wrap="square" lIns="91425" tIns="45700" rIns="91425" bIns="45700" anchor="t" anchorCtr="0">
            <a:normAutofit fontScale="92500"/>
          </a:bodyPr>
          <a:lstStyle/>
          <a:p>
            <a:pPr marL="0" lvl="0" indent="0" algn="l" rtl="0">
              <a:spcBef>
                <a:spcPts val="0"/>
              </a:spcBef>
              <a:spcAft>
                <a:spcPts val="0"/>
              </a:spcAft>
              <a:buClr>
                <a:schemeClr val="dk1"/>
              </a:buClr>
              <a:buSzPct val="100000"/>
              <a:buNone/>
            </a:pPr>
            <a:r>
              <a:rPr lang="en-GB" sz="3000" b="1">
                <a:solidFill>
                  <a:schemeClr val="dk1"/>
                </a:solidFill>
                <a:latin typeface="Calibri"/>
                <a:ea typeface="Calibri"/>
                <a:cs typeface="Calibri"/>
                <a:sym typeface="Calibri"/>
              </a:rPr>
              <a:t>Cell structure</a:t>
            </a:r>
            <a:endParaRPr/>
          </a:p>
          <a:p>
            <a:pPr marL="685800" lvl="1" indent="-342931" algn="l" rtl="0">
              <a:spcBef>
                <a:spcPts val="388"/>
              </a:spcBef>
              <a:spcAft>
                <a:spcPts val="0"/>
              </a:spcAft>
              <a:buClr>
                <a:schemeClr val="dk1"/>
              </a:buClr>
              <a:buSzPct val="100000"/>
              <a:buFont typeface="Arial"/>
              <a:buChar char="•"/>
            </a:pPr>
            <a:r>
              <a:rPr lang="en-GB">
                <a:solidFill>
                  <a:schemeClr val="dk1"/>
                </a:solidFill>
              </a:rPr>
              <a:t>Eukaryotes and prokaryotes</a:t>
            </a:r>
            <a:endParaRPr/>
          </a:p>
          <a:p>
            <a:pPr marL="685800" lvl="1" indent="-342931" algn="l" rtl="0">
              <a:spcBef>
                <a:spcPts val="388"/>
              </a:spcBef>
              <a:spcAft>
                <a:spcPts val="0"/>
              </a:spcAft>
              <a:buClr>
                <a:schemeClr val="dk1"/>
              </a:buClr>
              <a:buSzPct val="100000"/>
              <a:buFont typeface="Arial"/>
              <a:buChar char="•"/>
            </a:pPr>
            <a:r>
              <a:rPr lang="en-GB">
                <a:solidFill>
                  <a:schemeClr val="dk1"/>
                </a:solidFill>
              </a:rPr>
              <a:t>Animal and plant cells</a:t>
            </a:r>
            <a:endParaRPr/>
          </a:p>
          <a:p>
            <a:pPr marL="685800" lvl="1" indent="-342931" algn="l" rtl="0">
              <a:spcBef>
                <a:spcPts val="388"/>
              </a:spcBef>
              <a:spcAft>
                <a:spcPts val="0"/>
              </a:spcAft>
              <a:buClr>
                <a:schemeClr val="dk1"/>
              </a:buClr>
              <a:buSzPct val="100000"/>
              <a:buFont typeface="Arial"/>
              <a:buChar char="•"/>
            </a:pPr>
            <a:r>
              <a:rPr lang="en-GB">
                <a:solidFill>
                  <a:schemeClr val="dk1"/>
                </a:solidFill>
              </a:rPr>
              <a:t>Cell specialisation</a:t>
            </a:r>
            <a:endParaRPr/>
          </a:p>
          <a:p>
            <a:pPr marL="685800" lvl="1" indent="-342931" algn="l" rtl="0">
              <a:spcBef>
                <a:spcPts val="388"/>
              </a:spcBef>
              <a:spcAft>
                <a:spcPts val="0"/>
              </a:spcAft>
              <a:buClr>
                <a:schemeClr val="dk1"/>
              </a:buClr>
              <a:buSzPct val="100000"/>
              <a:buFont typeface="Arial"/>
              <a:buChar char="•"/>
            </a:pPr>
            <a:r>
              <a:rPr lang="en-GB">
                <a:solidFill>
                  <a:schemeClr val="dk1"/>
                </a:solidFill>
              </a:rPr>
              <a:t>Cell differentiation</a:t>
            </a:r>
            <a:endParaRPr/>
          </a:p>
          <a:p>
            <a:pPr marL="685800" lvl="1" indent="-342931" algn="l" rtl="0">
              <a:spcBef>
                <a:spcPts val="388"/>
              </a:spcBef>
              <a:spcAft>
                <a:spcPts val="0"/>
              </a:spcAft>
              <a:buClr>
                <a:schemeClr val="dk1"/>
              </a:buClr>
              <a:buSzPct val="100000"/>
              <a:buFont typeface="Arial"/>
              <a:buChar char="•"/>
            </a:pPr>
            <a:r>
              <a:rPr lang="en-GB">
                <a:solidFill>
                  <a:schemeClr val="dk1"/>
                </a:solidFill>
              </a:rPr>
              <a:t>Microscopy</a:t>
            </a:r>
            <a:endParaRPr/>
          </a:p>
          <a:p>
            <a:pPr marL="685800" lvl="1" indent="-342931" algn="l" rtl="0">
              <a:spcBef>
                <a:spcPts val="388"/>
              </a:spcBef>
              <a:spcAft>
                <a:spcPts val="0"/>
              </a:spcAft>
              <a:buClr>
                <a:schemeClr val="dk1"/>
              </a:buClr>
              <a:buSzPct val="100000"/>
              <a:buFont typeface="Arial"/>
              <a:buChar char="•"/>
            </a:pPr>
            <a:r>
              <a:rPr lang="en-GB">
                <a:solidFill>
                  <a:schemeClr val="dk1"/>
                </a:solidFill>
              </a:rPr>
              <a:t>Culturing microorganisms (biology only)</a:t>
            </a:r>
            <a:endParaRPr/>
          </a:p>
          <a:p>
            <a:pPr marL="0" lvl="0" indent="0" algn="l" rtl="0">
              <a:spcBef>
                <a:spcPts val="481"/>
              </a:spcBef>
              <a:spcAft>
                <a:spcPts val="0"/>
              </a:spcAft>
              <a:buClr>
                <a:schemeClr val="dk1"/>
              </a:buClr>
              <a:buSzPct val="100000"/>
              <a:buNone/>
            </a:pPr>
            <a:r>
              <a:rPr lang="en-GB" sz="2600" b="1">
                <a:solidFill>
                  <a:schemeClr val="dk1"/>
                </a:solidFill>
                <a:latin typeface="Calibri"/>
                <a:ea typeface="Calibri"/>
                <a:cs typeface="Calibri"/>
                <a:sym typeface="Calibri"/>
              </a:rPr>
              <a:t>Cell division</a:t>
            </a:r>
            <a:endParaRPr/>
          </a:p>
          <a:p>
            <a:pPr marL="685800" lvl="1" indent="-342931" algn="l" rtl="0">
              <a:spcBef>
                <a:spcPts val="351"/>
              </a:spcBef>
              <a:spcAft>
                <a:spcPts val="0"/>
              </a:spcAft>
              <a:buClr>
                <a:schemeClr val="dk1"/>
              </a:buClr>
              <a:buSzPct val="100000"/>
              <a:buFont typeface="Arial"/>
              <a:buChar char="•"/>
            </a:pPr>
            <a:r>
              <a:rPr lang="en-GB" sz="1900">
                <a:solidFill>
                  <a:schemeClr val="dk1"/>
                </a:solidFill>
              </a:rPr>
              <a:t>Chromosomes</a:t>
            </a:r>
            <a:endParaRPr/>
          </a:p>
          <a:p>
            <a:pPr marL="685800" lvl="1" indent="-342931" algn="l" rtl="0">
              <a:spcBef>
                <a:spcPts val="351"/>
              </a:spcBef>
              <a:spcAft>
                <a:spcPts val="0"/>
              </a:spcAft>
              <a:buClr>
                <a:schemeClr val="dk1"/>
              </a:buClr>
              <a:buSzPct val="100000"/>
              <a:buFont typeface="Arial"/>
              <a:buChar char="•"/>
            </a:pPr>
            <a:r>
              <a:rPr lang="en-GB" sz="1900">
                <a:solidFill>
                  <a:schemeClr val="dk1"/>
                </a:solidFill>
              </a:rPr>
              <a:t>Mitosis and the cell cycle</a:t>
            </a:r>
            <a:endParaRPr/>
          </a:p>
          <a:p>
            <a:pPr marL="685800" lvl="1" indent="-342931" algn="l" rtl="0">
              <a:spcBef>
                <a:spcPts val="351"/>
              </a:spcBef>
              <a:spcAft>
                <a:spcPts val="0"/>
              </a:spcAft>
              <a:buClr>
                <a:schemeClr val="dk1"/>
              </a:buClr>
              <a:buSzPct val="100000"/>
              <a:buFont typeface="Arial"/>
              <a:buChar char="•"/>
            </a:pPr>
            <a:r>
              <a:rPr lang="en-GB" sz="1900">
                <a:solidFill>
                  <a:schemeClr val="dk1"/>
                </a:solidFill>
              </a:rPr>
              <a:t>Stem cells</a:t>
            </a:r>
            <a:endParaRPr/>
          </a:p>
          <a:p>
            <a:pPr marL="0" lvl="0" indent="0" algn="l" rtl="0">
              <a:spcBef>
                <a:spcPts val="481"/>
              </a:spcBef>
              <a:spcAft>
                <a:spcPts val="0"/>
              </a:spcAft>
              <a:buClr>
                <a:schemeClr val="dk1"/>
              </a:buClr>
              <a:buSzPct val="100000"/>
              <a:buNone/>
            </a:pPr>
            <a:r>
              <a:rPr lang="en-GB" sz="2600" b="1">
                <a:solidFill>
                  <a:schemeClr val="dk1"/>
                </a:solidFill>
                <a:latin typeface="Calibri"/>
                <a:ea typeface="Calibri"/>
                <a:cs typeface="Calibri"/>
                <a:sym typeface="Calibri"/>
              </a:rPr>
              <a:t>Transport in cells</a:t>
            </a:r>
            <a:endParaRPr/>
          </a:p>
          <a:p>
            <a:pPr marL="685800" lvl="1" indent="-342931" algn="l" rtl="0">
              <a:spcBef>
                <a:spcPts val="351"/>
              </a:spcBef>
              <a:spcAft>
                <a:spcPts val="0"/>
              </a:spcAft>
              <a:buClr>
                <a:schemeClr val="dk1"/>
              </a:buClr>
              <a:buSzPct val="100000"/>
              <a:buFont typeface="Arial"/>
              <a:buChar char="•"/>
            </a:pPr>
            <a:r>
              <a:rPr lang="en-GB" sz="1900">
                <a:solidFill>
                  <a:schemeClr val="dk1"/>
                </a:solidFill>
              </a:rPr>
              <a:t>Diffusion</a:t>
            </a:r>
            <a:endParaRPr/>
          </a:p>
          <a:p>
            <a:pPr marL="685800" lvl="1" indent="-342931" algn="l" rtl="0">
              <a:spcBef>
                <a:spcPts val="351"/>
              </a:spcBef>
              <a:spcAft>
                <a:spcPts val="0"/>
              </a:spcAft>
              <a:buClr>
                <a:schemeClr val="dk1"/>
              </a:buClr>
              <a:buSzPct val="100000"/>
              <a:buFont typeface="Arial"/>
              <a:buChar char="•"/>
            </a:pPr>
            <a:r>
              <a:rPr lang="en-GB" sz="1900">
                <a:solidFill>
                  <a:schemeClr val="dk1"/>
                </a:solidFill>
              </a:rPr>
              <a:t>Osmosis</a:t>
            </a:r>
            <a:endParaRPr/>
          </a:p>
          <a:p>
            <a:pPr marL="685800" lvl="1" indent="-342931" algn="l" rtl="0">
              <a:spcBef>
                <a:spcPts val="351"/>
              </a:spcBef>
              <a:spcAft>
                <a:spcPts val="0"/>
              </a:spcAft>
              <a:buClr>
                <a:schemeClr val="dk1"/>
              </a:buClr>
              <a:buSzPct val="100000"/>
              <a:buFont typeface="Arial"/>
              <a:buChar char="•"/>
            </a:pPr>
            <a:r>
              <a:rPr lang="en-GB" sz="1900">
                <a:solidFill>
                  <a:schemeClr val="dk1"/>
                </a:solidFill>
              </a:rPr>
              <a:t>Active transport</a:t>
            </a:r>
            <a:endParaRPr/>
          </a:p>
          <a:p>
            <a:pPr marL="0" lvl="0" indent="0" algn="l" rtl="0">
              <a:spcBef>
                <a:spcPts val="444"/>
              </a:spcBef>
              <a:spcAft>
                <a:spcPts val="0"/>
              </a:spcAft>
              <a:buClr>
                <a:srgbClr val="888888"/>
              </a:buClr>
              <a:buSzPct val="100000"/>
              <a:buNone/>
            </a:pPr>
            <a:endParaRPr>
              <a:solidFill>
                <a:schemeClr val="dk1"/>
              </a:solidFill>
            </a:endParaRPr>
          </a:p>
          <a:p>
            <a:pPr marL="0" lvl="0" indent="0" algn="l" rtl="0">
              <a:spcBef>
                <a:spcPts val="444"/>
              </a:spcBef>
              <a:spcAft>
                <a:spcPts val="0"/>
              </a:spcAft>
              <a:buClr>
                <a:srgbClr val="888888"/>
              </a:buClr>
              <a:buSzPct val="100000"/>
              <a:buNone/>
            </a:pPr>
            <a:endParaRPr>
              <a:solidFill>
                <a:schemeClr val="dk1"/>
              </a:solidFill>
            </a:endParaRPr>
          </a:p>
          <a:p>
            <a:pPr marL="0" lvl="0" indent="0" algn="l" rtl="0">
              <a:spcBef>
                <a:spcPts val="444"/>
              </a:spcBef>
              <a:spcAft>
                <a:spcPts val="0"/>
              </a:spcAft>
              <a:buClr>
                <a:srgbClr val="888888"/>
              </a:buClr>
              <a:buSzPct val="100000"/>
              <a:buNone/>
            </a:pPr>
            <a:endParaRPr>
              <a:solidFill>
                <a:schemeClr val="dk1"/>
              </a:solidFill>
            </a:endParaRPr>
          </a:p>
          <a:p>
            <a:pPr marL="0" lvl="0" indent="0" algn="l" rtl="0">
              <a:spcBef>
                <a:spcPts val="444"/>
              </a:spcBef>
              <a:spcAft>
                <a:spcPts val="0"/>
              </a:spcAft>
              <a:buClr>
                <a:srgbClr val="888888"/>
              </a:buClr>
              <a:buSzPct val="100000"/>
              <a:buNone/>
            </a:pPr>
            <a:endParaRPr>
              <a:solidFill>
                <a:schemeClr val="dk1"/>
              </a:solidFill>
            </a:endParaRPr>
          </a:p>
          <a:p>
            <a:pPr marL="0" lvl="0" indent="0" algn="l" rtl="0">
              <a:spcBef>
                <a:spcPts val="444"/>
              </a:spcBef>
              <a:spcAft>
                <a:spcPts val="0"/>
              </a:spcAft>
              <a:buClr>
                <a:srgbClr val="888888"/>
              </a:buClr>
              <a:buSzPct val="100000"/>
              <a:buNone/>
            </a:pPr>
            <a:endParaRPr>
              <a:solidFill>
                <a:schemeClr val="dk1"/>
              </a:solidFill>
            </a:endParaRPr>
          </a:p>
          <a:p>
            <a:pPr marL="0" lvl="0" indent="0" algn="l" rtl="0">
              <a:spcBef>
                <a:spcPts val="444"/>
              </a:spcBef>
              <a:spcAft>
                <a:spcPts val="0"/>
              </a:spcAft>
              <a:buClr>
                <a:srgbClr val="888888"/>
              </a:buClr>
              <a:buSzPct val="100000"/>
              <a:buNone/>
            </a:pPr>
            <a:endParaRPr>
              <a:solidFill>
                <a:schemeClr val="dk1"/>
              </a:solidFill>
            </a:endParaRPr>
          </a:p>
          <a:p>
            <a:pPr marL="0" lvl="0" indent="0" algn="l" rtl="0">
              <a:spcBef>
                <a:spcPts val="444"/>
              </a:spcBef>
              <a:spcAft>
                <a:spcPts val="0"/>
              </a:spcAft>
              <a:buClr>
                <a:srgbClr val="888888"/>
              </a:buClr>
              <a:buSzPct val="100000"/>
              <a:buNone/>
            </a:pPr>
            <a:endParaRPr>
              <a:solidFill>
                <a:schemeClr val="dk1"/>
              </a:solidFill>
            </a:endParaRPr>
          </a:p>
          <a:p>
            <a:pPr marL="0" lvl="0" indent="0" algn="ctr" rtl="0">
              <a:spcBef>
                <a:spcPts val="444"/>
              </a:spcBef>
              <a:spcAft>
                <a:spcPts val="0"/>
              </a:spcAft>
              <a:buClr>
                <a:srgbClr val="888888"/>
              </a:buClr>
              <a:buSzPct val="100000"/>
              <a:buNone/>
            </a:pPr>
            <a:endParaRPr>
              <a:solidFill>
                <a:schemeClr val="dk1"/>
              </a:solidFill>
            </a:endParaRPr>
          </a:p>
        </p:txBody>
      </p:sp>
      <p:pic>
        <p:nvPicPr>
          <p:cNvPr id="175" name="Google Shape;175;p2"/>
          <p:cNvPicPr preferRelativeResize="0"/>
          <p:nvPr/>
        </p:nvPicPr>
        <p:blipFill rotWithShape="1">
          <a:blip r:embed="rId3">
            <a:alphaModFix/>
          </a:blip>
          <a:srcRect/>
          <a:stretch/>
        </p:blipFill>
        <p:spPr>
          <a:xfrm>
            <a:off x="5076056" y="1196752"/>
            <a:ext cx="3672408" cy="477542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182" name="Google Shape;182;p3"/>
          <p:cNvSpPr txBox="1"/>
          <p:nvPr/>
        </p:nvSpPr>
        <p:spPr>
          <a:xfrm>
            <a:off x="-22696" y="675435"/>
            <a:ext cx="4572000" cy="55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LearnIT!</a:t>
            </a:r>
            <a:endParaRPr/>
          </a:p>
          <a:p>
            <a:pPr marL="0" marR="0" lvl="0" indent="0" algn="l" rtl="0">
              <a:spcBef>
                <a:spcPts val="0"/>
              </a:spcBef>
              <a:spcAft>
                <a:spcPts val="0"/>
              </a:spcAft>
              <a:buNone/>
            </a:pPr>
            <a:r>
              <a:rPr lang="en-GB" sz="7200" b="1">
                <a:solidFill>
                  <a:schemeClr val="dk1"/>
                </a:solidFill>
                <a:latin typeface="Calibri"/>
                <a:ea typeface="Calibri"/>
                <a:cs typeface="Calibri"/>
                <a:sym typeface="Calibri"/>
              </a:rPr>
              <a:t>KnowIT!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Part 1 </a:t>
            </a:r>
            <a:endParaRPr/>
          </a:p>
          <a:p>
            <a:pPr marL="0" marR="0" lvl="0" indent="0" algn="l" rtl="0">
              <a:spcBef>
                <a:spcPts val="0"/>
              </a:spcBef>
              <a:spcAft>
                <a:spcPts val="0"/>
              </a:spcAft>
              <a:buNone/>
            </a:pPr>
            <a:endParaRPr sz="28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Eukaryotes and prokaryotes</a:t>
            </a:r>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Animal and plant cells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83" name="Google Shape;183;p3"/>
          <p:cNvPicPr preferRelativeResize="0"/>
          <p:nvPr/>
        </p:nvPicPr>
        <p:blipFill rotWithShape="1">
          <a:blip r:embed="rId3">
            <a:alphaModFix/>
          </a:blip>
          <a:srcRect/>
          <a:stretch/>
        </p:blipFill>
        <p:spPr>
          <a:xfrm>
            <a:off x="2642398" y="0"/>
            <a:ext cx="6538114" cy="65253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4"/>
          <p:cNvSpPr txBox="1">
            <a:spLocks noGrp="1"/>
          </p:cNvSpPr>
          <p:nvPr>
            <p:ph type="ctrTitle"/>
          </p:nvPr>
        </p:nvSpPr>
        <p:spPr>
          <a:xfrm>
            <a:off x="1619672" y="35655"/>
            <a:ext cx="7524328"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Cell structure part 1 - </a:t>
            </a:r>
            <a:r>
              <a:rPr lang="en-GB" sz="2400" b="1" i="0" u="none" strike="noStrike" cap="none">
                <a:solidFill>
                  <a:schemeClr val="accent6"/>
                </a:solidFill>
                <a:latin typeface="Calibri"/>
                <a:ea typeface="Calibri"/>
                <a:cs typeface="Calibri"/>
                <a:sym typeface="Calibri"/>
              </a:rPr>
              <a:t>Eukaryotes and prokaryotes</a:t>
            </a:r>
            <a:endParaRPr sz="2400" b="1">
              <a:solidFill>
                <a:schemeClr val="accent6"/>
              </a:solidFill>
            </a:endParaRPr>
          </a:p>
        </p:txBody>
      </p:sp>
      <p:sp>
        <p:nvSpPr>
          <p:cNvPr id="190" name="Google Shape;190;p4"/>
          <p:cNvSpPr txBox="1"/>
          <p:nvPr/>
        </p:nvSpPr>
        <p:spPr>
          <a:xfrm>
            <a:off x="460153" y="734992"/>
            <a:ext cx="84969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E36C09"/>
                </a:solidFill>
                <a:latin typeface="Calibri"/>
                <a:ea typeface="Calibri"/>
                <a:cs typeface="Calibri"/>
                <a:sym typeface="Calibri"/>
              </a:rPr>
              <a:t>All</a:t>
            </a:r>
            <a:r>
              <a:rPr lang="en-GB" sz="2400">
                <a:solidFill>
                  <a:srgbClr val="E36C09"/>
                </a:solidFill>
                <a:latin typeface="Calibri"/>
                <a:ea typeface="Calibri"/>
                <a:cs typeface="Calibri"/>
                <a:sym typeface="Calibri"/>
              </a:rPr>
              <a:t> </a:t>
            </a:r>
            <a:r>
              <a:rPr lang="en-GB" sz="2400">
                <a:solidFill>
                  <a:schemeClr val="dk1"/>
                </a:solidFill>
                <a:latin typeface="Calibri"/>
                <a:ea typeface="Calibri"/>
                <a:cs typeface="Calibri"/>
                <a:sym typeface="Calibri"/>
              </a:rPr>
              <a:t>living things are </a:t>
            </a:r>
            <a:r>
              <a:rPr lang="en-GB" sz="2400" b="1">
                <a:solidFill>
                  <a:srgbClr val="E36C09"/>
                </a:solidFill>
                <a:latin typeface="Calibri"/>
                <a:ea typeface="Calibri"/>
                <a:cs typeface="Calibri"/>
                <a:sym typeface="Calibri"/>
              </a:rPr>
              <a:t>made</a:t>
            </a:r>
            <a:r>
              <a:rPr lang="en-GB" sz="2400">
                <a:solidFill>
                  <a:srgbClr val="E36C09"/>
                </a:solidFill>
                <a:latin typeface="Calibri"/>
                <a:ea typeface="Calibri"/>
                <a:cs typeface="Calibri"/>
                <a:sym typeface="Calibri"/>
              </a:rPr>
              <a:t> </a:t>
            </a:r>
            <a:r>
              <a:rPr lang="en-GB" sz="2400">
                <a:solidFill>
                  <a:schemeClr val="dk1"/>
                </a:solidFill>
                <a:latin typeface="Calibri"/>
                <a:ea typeface="Calibri"/>
                <a:cs typeface="Calibri"/>
                <a:sym typeface="Calibri"/>
              </a:rPr>
              <a:t>of </a:t>
            </a:r>
            <a:r>
              <a:rPr lang="en-GB" sz="2400" b="1">
                <a:solidFill>
                  <a:srgbClr val="E36C09"/>
                </a:solidFill>
                <a:latin typeface="Calibri"/>
                <a:ea typeface="Calibri"/>
                <a:cs typeface="Calibri"/>
                <a:sym typeface="Calibri"/>
              </a:rPr>
              <a:t>cells</a:t>
            </a:r>
            <a:r>
              <a:rPr lang="en-GB" sz="2400">
                <a:solidFill>
                  <a:schemeClr val="dk1"/>
                </a:solidFill>
                <a:latin typeface="Calibri"/>
                <a:ea typeface="Calibri"/>
                <a:cs typeface="Calibri"/>
                <a:sym typeface="Calibri"/>
              </a:rPr>
              <a:t>, they are the </a:t>
            </a:r>
            <a:r>
              <a:rPr lang="en-GB" sz="2400" b="1">
                <a:solidFill>
                  <a:srgbClr val="E36C09"/>
                </a:solidFill>
                <a:latin typeface="Calibri"/>
                <a:ea typeface="Calibri"/>
                <a:cs typeface="Calibri"/>
                <a:sym typeface="Calibri"/>
              </a:rPr>
              <a:t>basic unit </a:t>
            </a:r>
            <a:r>
              <a:rPr lang="en-GB" sz="2400">
                <a:solidFill>
                  <a:schemeClr val="dk1"/>
                </a:solidFill>
                <a:latin typeface="Calibri"/>
                <a:ea typeface="Calibri"/>
                <a:cs typeface="Calibri"/>
                <a:sym typeface="Calibri"/>
              </a:rPr>
              <a:t>of all </a:t>
            </a:r>
            <a:r>
              <a:rPr lang="en-GB" sz="2400" b="1">
                <a:solidFill>
                  <a:srgbClr val="E36C09"/>
                </a:solidFill>
                <a:latin typeface="Calibri"/>
                <a:ea typeface="Calibri"/>
                <a:cs typeface="Calibri"/>
                <a:sym typeface="Calibri"/>
              </a:rPr>
              <a:t>life. </a:t>
            </a:r>
            <a:endParaRPr/>
          </a:p>
        </p:txBody>
      </p:sp>
      <p:sp>
        <p:nvSpPr>
          <p:cNvPr id="191" name="Google Shape;191;p4"/>
          <p:cNvSpPr txBox="1"/>
          <p:nvPr/>
        </p:nvSpPr>
        <p:spPr>
          <a:xfrm>
            <a:off x="-181401" y="1183898"/>
            <a:ext cx="5046028" cy="3170099"/>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rgbClr val="E36C09"/>
                </a:solidFill>
                <a:latin typeface="Calibri"/>
                <a:ea typeface="Calibri"/>
                <a:cs typeface="Calibri"/>
                <a:sym typeface="Calibri"/>
              </a:rPr>
              <a:t>Eukaryotic cells</a:t>
            </a:r>
            <a:endParaRPr/>
          </a:p>
          <a:p>
            <a:pPr marL="0" marR="0" lvl="0" indent="0" algn="ctr" rtl="0">
              <a:spcBef>
                <a:spcPts val="0"/>
              </a:spcBef>
              <a:spcAft>
                <a:spcPts val="0"/>
              </a:spcAft>
              <a:buNone/>
            </a:pPr>
            <a:endParaRPr sz="2800" b="1">
              <a:solidFill>
                <a:schemeClr val="dk1"/>
              </a:solidFill>
              <a:latin typeface="Calibri"/>
              <a:ea typeface="Calibri"/>
              <a:cs typeface="Calibri"/>
              <a:sym typeface="Calibri"/>
            </a:endParaRPr>
          </a:p>
          <a:p>
            <a:pPr marL="0" marR="0" lvl="0" indent="0" algn="ctr" rtl="0">
              <a:spcBef>
                <a:spcPts val="0"/>
              </a:spcBef>
              <a:spcAft>
                <a:spcPts val="0"/>
              </a:spcAft>
              <a:buNone/>
            </a:pPr>
            <a:endParaRPr sz="2800" b="1">
              <a:solidFill>
                <a:schemeClr val="dk1"/>
              </a:solidFill>
              <a:latin typeface="Calibri"/>
              <a:ea typeface="Calibri"/>
              <a:cs typeface="Calibri"/>
              <a:sym typeface="Calibri"/>
            </a:endParaRPr>
          </a:p>
          <a:p>
            <a:pPr marL="0" marR="0" lvl="0" indent="0" algn="ctr" rtl="0">
              <a:spcBef>
                <a:spcPts val="0"/>
              </a:spcBef>
              <a:spcAft>
                <a:spcPts val="0"/>
              </a:spcAft>
              <a:buNone/>
            </a:pPr>
            <a:endParaRPr sz="2800" b="1">
              <a:solidFill>
                <a:schemeClr val="dk1"/>
              </a:solidFill>
              <a:latin typeface="Calibri"/>
              <a:ea typeface="Calibri"/>
              <a:cs typeface="Calibri"/>
              <a:sym typeface="Calibri"/>
            </a:endParaRPr>
          </a:p>
          <a:p>
            <a:pPr marL="0" marR="0" lvl="0" indent="0" algn="ctr" rtl="0">
              <a:spcBef>
                <a:spcPts val="0"/>
              </a:spcBef>
              <a:spcAft>
                <a:spcPts val="0"/>
              </a:spcAft>
              <a:buNone/>
            </a:pPr>
            <a:endParaRPr sz="1200">
              <a:solidFill>
                <a:schemeClr val="dk1"/>
              </a:solidFill>
              <a:latin typeface="Calibri"/>
              <a:ea typeface="Calibri"/>
              <a:cs typeface="Calibri"/>
              <a:sym typeface="Calibri"/>
            </a:endParaRPr>
          </a:p>
          <a:p>
            <a:pPr marL="0" marR="0" lvl="0" indent="0" algn="ctr" rtl="0">
              <a:spcBef>
                <a:spcPts val="0"/>
              </a:spcBef>
              <a:spcAft>
                <a:spcPts val="0"/>
              </a:spcAft>
              <a:buNone/>
            </a:pPr>
            <a:r>
              <a:rPr lang="en-GB" sz="2000">
                <a:solidFill>
                  <a:schemeClr val="dk1"/>
                </a:solidFill>
                <a:latin typeface="Calibri"/>
                <a:ea typeface="Calibri"/>
                <a:cs typeface="Calibri"/>
                <a:sym typeface="Calibri"/>
              </a:rPr>
              <a:t>Have a cell membrane,</a:t>
            </a:r>
            <a:endParaRPr/>
          </a:p>
          <a:p>
            <a:pPr marL="0" marR="0" lvl="0" indent="0" algn="ctr" rtl="0">
              <a:spcBef>
                <a:spcPts val="0"/>
              </a:spcBef>
              <a:spcAft>
                <a:spcPts val="0"/>
              </a:spcAft>
              <a:buNone/>
            </a:pPr>
            <a:r>
              <a:rPr lang="en-GB" sz="2000">
                <a:solidFill>
                  <a:schemeClr val="dk1"/>
                </a:solidFill>
                <a:latin typeface="Calibri"/>
                <a:ea typeface="Calibri"/>
                <a:cs typeface="Calibri"/>
                <a:sym typeface="Calibri"/>
              </a:rPr>
              <a:t>cytoplasm and genetic material (DNA) enclosed in a nucleus. </a:t>
            </a:r>
            <a:endParaRPr/>
          </a:p>
          <a:p>
            <a:pPr marL="0" marR="0" lvl="0" indent="0" algn="ctr" rtl="0">
              <a:spcBef>
                <a:spcPts val="0"/>
              </a:spcBef>
              <a:spcAft>
                <a:spcPts val="0"/>
              </a:spcAft>
              <a:buNone/>
            </a:pPr>
            <a:r>
              <a:rPr lang="en-GB" sz="2000" b="1">
                <a:solidFill>
                  <a:srgbClr val="E36C09"/>
                </a:solidFill>
                <a:latin typeface="Calibri"/>
                <a:ea typeface="Calibri"/>
                <a:cs typeface="Calibri"/>
                <a:sym typeface="Calibri"/>
              </a:rPr>
              <a:t>Animal and plant cells are eukaryotic cells </a:t>
            </a:r>
            <a:endParaRPr/>
          </a:p>
        </p:txBody>
      </p:sp>
      <p:sp>
        <p:nvSpPr>
          <p:cNvPr id="192" name="Google Shape;192;p4"/>
          <p:cNvSpPr/>
          <p:nvPr/>
        </p:nvSpPr>
        <p:spPr>
          <a:xfrm>
            <a:off x="4864627" y="1234607"/>
            <a:ext cx="4259138" cy="3016210"/>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rgbClr val="E36C09"/>
                </a:solidFill>
                <a:latin typeface="Calibri"/>
                <a:ea typeface="Calibri"/>
                <a:cs typeface="Calibri"/>
                <a:sym typeface="Calibri"/>
              </a:rPr>
              <a:t>Prokaryotic cells</a:t>
            </a:r>
            <a:endParaRPr/>
          </a:p>
          <a:p>
            <a:pPr marL="0" marR="0" lvl="0" indent="0" algn="ctr" rtl="0">
              <a:spcBef>
                <a:spcPts val="0"/>
              </a:spcBef>
              <a:spcAft>
                <a:spcPts val="0"/>
              </a:spcAft>
              <a:buNone/>
            </a:pPr>
            <a:endParaRPr sz="2800" b="1">
              <a:solidFill>
                <a:schemeClr val="dk1"/>
              </a:solidFill>
              <a:latin typeface="Calibri"/>
              <a:ea typeface="Calibri"/>
              <a:cs typeface="Calibri"/>
              <a:sym typeface="Calibri"/>
            </a:endParaRPr>
          </a:p>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p>
            <a:pPr marL="0" marR="0" lvl="0" indent="0" algn="ctr" rtl="0">
              <a:spcBef>
                <a:spcPts val="0"/>
              </a:spcBef>
              <a:spcAft>
                <a:spcPts val="0"/>
              </a:spcAft>
              <a:buNone/>
            </a:pPr>
            <a:r>
              <a:rPr lang="en-GB" sz="2000">
                <a:solidFill>
                  <a:schemeClr val="dk1"/>
                </a:solidFill>
                <a:latin typeface="Calibri"/>
                <a:ea typeface="Calibri"/>
                <a:cs typeface="Calibri"/>
                <a:sym typeface="Calibri"/>
              </a:rPr>
              <a:t> These are </a:t>
            </a:r>
            <a:r>
              <a:rPr lang="en-GB" sz="2000" b="1">
                <a:solidFill>
                  <a:srgbClr val="E36C09"/>
                </a:solidFill>
                <a:latin typeface="Calibri"/>
                <a:ea typeface="Calibri"/>
                <a:cs typeface="Calibri"/>
                <a:sym typeface="Calibri"/>
              </a:rPr>
              <a:t>smaller</a:t>
            </a:r>
            <a:r>
              <a:rPr lang="en-GB" sz="2000">
                <a:solidFill>
                  <a:schemeClr val="dk1"/>
                </a:solidFill>
                <a:latin typeface="Calibri"/>
                <a:ea typeface="Calibri"/>
                <a:cs typeface="Calibri"/>
                <a:sym typeface="Calibri"/>
              </a:rPr>
              <a:t> than eukaryotic cells. The genetic material is not enclosed in a nucleus. The DNA is a single loop and there may be one or more rings of DNA called plasmids.</a:t>
            </a:r>
            <a:endParaRPr/>
          </a:p>
          <a:p>
            <a:pPr marL="0" marR="0" lvl="0" indent="0" algn="ctr" rtl="0">
              <a:spcBef>
                <a:spcPts val="0"/>
              </a:spcBef>
              <a:spcAft>
                <a:spcPts val="0"/>
              </a:spcAft>
              <a:buNone/>
            </a:pPr>
            <a:r>
              <a:rPr lang="en-GB" sz="2000" b="1">
                <a:solidFill>
                  <a:srgbClr val="E36C09"/>
                </a:solidFill>
                <a:latin typeface="Calibri"/>
                <a:ea typeface="Calibri"/>
                <a:cs typeface="Calibri"/>
                <a:sym typeface="Calibri"/>
              </a:rPr>
              <a:t>Bacterial cells are prokaryotic cells</a:t>
            </a:r>
            <a:endParaRPr/>
          </a:p>
        </p:txBody>
      </p:sp>
      <p:pic>
        <p:nvPicPr>
          <p:cNvPr id="193" name="Google Shape;193;p4"/>
          <p:cNvPicPr preferRelativeResize="0"/>
          <p:nvPr/>
        </p:nvPicPr>
        <p:blipFill rotWithShape="1">
          <a:blip r:embed="rId3">
            <a:alphaModFix/>
          </a:blip>
          <a:srcRect r="4694"/>
          <a:stretch/>
        </p:blipFill>
        <p:spPr>
          <a:xfrm>
            <a:off x="1187624" y="1645563"/>
            <a:ext cx="1876309" cy="1409604"/>
          </a:xfrm>
          <a:prstGeom prst="rect">
            <a:avLst/>
          </a:prstGeom>
          <a:noFill/>
          <a:ln>
            <a:noFill/>
          </a:ln>
        </p:spPr>
      </p:pic>
      <p:pic>
        <p:nvPicPr>
          <p:cNvPr id="194" name="Google Shape;194;p4"/>
          <p:cNvPicPr preferRelativeResize="0"/>
          <p:nvPr/>
        </p:nvPicPr>
        <p:blipFill rotWithShape="1">
          <a:blip r:embed="rId4">
            <a:alphaModFix/>
          </a:blip>
          <a:srcRect l="12326"/>
          <a:stretch/>
        </p:blipFill>
        <p:spPr>
          <a:xfrm rot="-5257188">
            <a:off x="6764464" y="1288701"/>
            <a:ext cx="781922" cy="1420124"/>
          </a:xfrm>
          <a:prstGeom prst="rect">
            <a:avLst/>
          </a:prstGeom>
          <a:noFill/>
          <a:ln>
            <a:noFill/>
          </a:ln>
        </p:spPr>
      </p:pic>
      <p:graphicFrame>
        <p:nvGraphicFramePr>
          <p:cNvPr id="195" name="Google Shape;195;p4"/>
          <p:cNvGraphicFramePr/>
          <p:nvPr/>
        </p:nvGraphicFramePr>
        <p:xfrm>
          <a:off x="3476281" y="4512559"/>
          <a:ext cx="3000000" cy="3000000"/>
        </p:xfrm>
        <a:graphic>
          <a:graphicData uri="http://schemas.openxmlformats.org/drawingml/2006/table">
            <a:tbl>
              <a:tblPr firstRow="1" bandRow="1">
                <a:noFill/>
                <a:tableStyleId>{7FB5C040-EF74-47EC-8CDE-39956F763B1A}</a:tableStyleId>
              </a:tblPr>
              <a:tblGrid>
                <a:gridCol w="1436050">
                  <a:extLst>
                    <a:ext uri="{9D8B030D-6E8A-4147-A177-3AD203B41FA5}">
                      <a16:colId xmlns:a16="http://schemas.microsoft.com/office/drawing/2014/main" val="20000"/>
                    </a:ext>
                  </a:extLst>
                </a:gridCol>
                <a:gridCol w="2592300">
                  <a:extLst>
                    <a:ext uri="{9D8B030D-6E8A-4147-A177-3AD203B41FA5}">
                      <a16:colId xmlns:a16="http://schemas.microsoft.com/office/drawing/2014/main" val="20001"/>
                    </a:ext>
                  </a:extLst>
                </a:gridCol>
                <a:gridCol w="158417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GB" sz="1800" u="none" strike="noStrike" cap="none"/>
                        <a:t>Prefix</a:t>
                      </a:r>
                      <a:endParaRPr/>
                    </a:p>
                  </a:txBody>
                  <a:tcPr marL="91450" marR="91450" marT="45725" marB="45725">
                    <a:solidFill>
                      <a:srgbClr val="E36C09"/>
                    </a:solidFill>
                  </a:tcPr>
                </a:tc>
                <a:tc>
                  <a:txBody>
                    <a:bodyPr/>
                    <a:lstStyle/>
                    <a:p>
                      <a:pPr marL="0" marR="0" lvl="0" indent="0" algn="l" rtl="0">
                        <a:spcBef>
                          <a:spcPts val="0"/>
                        </a:spcBef>
                        <a:spcAft>
                          <a:spcPts val="0"/>
                        </a:spcAft>
                        <a:buNone/>
                      </a:pPr>
                      <a:r>
                        <a:rPr lang="en-GB" sz="1800"/>
                        <a:t>Multiple </a:t>
                      </a:r>
                      <a:endParaRPr sz="1800"/>
                    </a:p>
                  </a:txBody>
                  <a:tcPr marL="91450" marR="91450" marT="45725" marB="45725">
                    <a:solidFill>
                      <a:srgbClr val="E36C09"/>
                    </a:solidFill>
                  </a:tcPr>
                </a:tc>
                <a:tc>
                  <a:txBody>
                    <a:bodyPr/>
                    <a:lstStyle/>
                    <a:p>
                      <a:pPr marL="0" marR="0" lvl="0" indent="0" algn="l" rtl="0">
                        <a:spcBef>
                          <a:spcPts val="0"/>
                        </a:spcBef>
                        <a:spcAft>
                          <a:spcPts val="0"/>
                        </a:spcAft>
                        <a:buNone/>
                      </a:pPr>
                      <a:r>
                        <a:rPr lang="en-GB" sz="1800"/>
                        <a:t>Standard form</a:t>
                      </a:r>
                      <a:endParaRPr/>
                    </a:p>
                  </a:txBody>
                  <a:tcPr marL="91450" marR="91450" marT="45725" marB="45725">
                    <a:solidFill>
                      <a:srgbClr val="E36C09"/>
                    </a:solidFill>
                  </a:tcPr>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GB" sz="2000" b="1"/>
                        <a:t>centi  (cm) </a:t>
                      </a:r>
                      <a:endParaRPr sz="2000" b="1"/>
                    </a:p>
                  </a:txBody>
                  <a:tcPr marL="91450" marR="91450" marT="45725" marB="45725"/>
                </a:tc>
                <a:tc>
                  <a:txBody>
                    <a:bodyPr/>
                    <a:lstStyle/>
                    <a:p>
                      <a:pPr marL="0" marR="0" lvl="0" indent="0" algn="ctr" rtl="0">
                        <a:spcBef>
                          <a:spcPts val="0"/>
                        </a:spcBef>
                        <a:spcAft>
                          <a:spcPts val="0"/>
                        </a:spcAft>
                        <a:buNone/>
                      </a:pPr>
                      <a:r>
                        <a:rPr lang="en-GB" sz="1900"/>
                        <a:t>1 cm = 0.01 m</a:t>
                      </a:r>
                      <a:endParaRPr/>
                    </a:p>
                  </a:txBody>
                  <a:tcPr marL="91450" marR="91450" marT="45725" marB="45725"/>
                </a:tc>
                <a:tc>
                  <a:txBody>
                    <a:bodyPr/>
                    <a:lstStyle/>
                    <a:p>
                      <a:pPr marL="0" marR="0" lvl="0" indent="0" algn="ctr" rtl="0">
                        <a:spcBef>
                          <a:spcPts val="0"/>
                        </a:spcBef>
                        <a:spcAft>
                          <a:spcPts val="0"/>
                        </a:spcAft>
                        <a:buNone/>
                      </a:pPr>
                      <a:r>
                        <a:rPr lang="en-GB" sz="2000"/>
                        <a:t>x 10 </a:t>
                      </a:r>
                      <a:r>
                        <a:rPr lang="en-GB" sz="2000" baseline="30000"/>
                        <a:t>-2</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GB" sz="2000" b="1"/>
                        <a:t>milli (mm)</a:t>
                      </a:r>
                      <a:endParaRPr/>
                    </a:p>
                  </a:txBody>
                  <a:tcPr marL="91450" marR="91450" marT="45725" marB="45725"/>
                </a:tc>
                <a:tc>
                  <a:txBody>
                    <a:bodyPr/>
                    <a:lstStyle/>
                    <a:p>
                      <a:pPr marL="0" marR="0" lvl="0" indent="0" algn="ctr" rtl="0">
                        <a:spcBef>
                          <a:spcPts val="0"/>
                        </a:spcBef>
                        <a:spcAft>
                          <a:spcPts val="0"/>
                        </a:spcAft>
                        <a:buNone/>
                      </a:pPr>
                      <a:r>
                        <a:rPr lang="en-GB" sz="1900"/>
                        <a:t>1 mm = 0.001 m</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Calibri"/>
                        <a:buNone/>
                      </a:pPr>
                      <a:r>
                        <a:rPr lang="en-GB" sz="2000"/>
                        <a:t>x 10 </a:t>
                      </a:r>
                      <a:r>
                        <a:rPr lang="en-GB" sz="2000" baseline="30000"/>
                        <a:t>-3</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GB" sz="2000" b="1"/>
                        <a:t>micro (𝛍m)</a:t>
                      </a:r>
                      <a:endParaRPr/>
                    </a:p>
                  </a:txBody>
                  <a:tcPr marL="91450" marR="91450" marT="45725" marB="45725"/>
                </a:tc>
                <a:tc>
                  <a:txBody>
                    <a:bodyPr/>
                    <a:lstStyle/>
                    <a:p>
                      <a:pPr marL="0" marR="0" lvl="0" indent="0" algn="ctr" rtl="0">
                        <a:spcBef>
                          <a:spcPts val="0"/>
                        </a:spcBef>
                        <a:spcAft>
                          <a:spcPts val="0"/>
                        </a:spcAft>
                        <a:buNone/>
                      </a:pPr>
                      <a:r>
                        <a:rPr lang="en-GB" sz="1900"/>
                        <a:t>1 </a:t>
                      </a:r>
                      <a:r>
                        <a:rPr lang="en-GB" sz="1900" b="0"/>
                        <a:t>𝛍m </a:t>
                      </a:r>
                      <a:r>
                        <a:rPr lang="en-GB" sz="1900" b="1"/>
                        <a:t>= </a:t>
                      </a:r>
                      <a:r>
                        <a:rPr lang="en-GB" sz="1900"/>
                        <a:t>0.000 001 m</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Calibri"/>
                        <a:buNone/>
                      </a:pPr>
                      <a:r>
                        <a:rPr lang="en-GB" sz="2000"/>
                        <a:t>x 10 </a:t>
                      </a:r>
                      <a:r>
                        <a:rPr lang="en-GB" sz="2000" baseline="30000"/>
                        <a:t>-6</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GB" sz="2000" b="1"/>
                        <a:t>nano (nm)</a:t>
                      </a:r>
                      <a:endParaRPr/>
                    </a:p>
                  </a:txBody>
                  <a:tcPr marL="91450" marR="91450" marT="45725" marB="45725"/>
                </a:tc>
                <a:tc>
                  <a:txBody>
                    <a:bodyPr/>
                    <a:lstStyle/>
                    <a:p>
                      <a:pPr marL="0" marR="0" lvl="0" indent="0" algn="ctr" rtl="0">
                        <a:spcBef>
                          <a:spcPts val="0"/>
                        </a:spcBef>
                        <a:spcAft>
                          <a:spcPts val="0"/>
                        </a:spcAft>
                        <a:buNone/>
                      </a:pPr>
                      <a:r>
                        <a:rPr lang="en-GB" sz="1900"/>
                        <a:t>1 nm = 0.000 000 001 m</a:t>
                      </a:r>
                      <a:endParaRPr sz="1900"/>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Calibri"/>
                        <a:buNone/>
                      </a:pPr>
                      <a:r>
                        <a:rPr lang="en-GB" sz="2000"/>
                        <a:t>x 10 </a:t>
                      </a:r>
                      <a:r>
                        <a:rPr lang="en-GB" sz="2000" baseline="30000"/>
                        <a:t>-9</a:t>
                      </a:r>
                      <a:endParaRPr/>
                    </a:p>
                  </a:txBody>
                  <a:tcPr marL="91450" marR="91450" marT="45725" marB="45725"/>
                </a:tc>
                <a:extLst>
                  <a:ext uri="{0D108BD9-81ED-4DB2-BD59-A6C34878D82A}">
                    <a16:rowId xmlns:a16="http://schemas.microsoft.com/office/drawing/2014/main" val="10004"/>
                  </a:ext>
                </a:extLst>
              </a:tr>
            </a:tbl>
          </a:graphicData>
        </a:graphic>
      </p:graphicFrame>
      <p:sp>
        <p:nvSpPr>
          <p:cNvPr id="196" name="Google Shape;196;p4"/>
          <p:cNvSpPr txBox="1"/>
          <p:nvPr/>
        </p:nvSpPr>
        <p:spPr>
          <a:xfrm>
            <a:off x="72007" y="4488338"/>
            <a:ext cx="3203849" cy="1938992"/>
          </a:xfrm>
          <a:prstGeom prst="rect">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Prefixes are used in science to make very small numbers more manageable. You need to learn the ones in the table and be able to convert to and from standard form.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5"/>
          <p:cNvSpPr txBox="1">
            <a:spLocks noGrp="1"/>
          </p:cNvSpPr>
          <p:nvPr>
            <p:ph type="ctrTitle"/>
          </p:nvPr>
        </p:nvSpPr>
        <p:spPr>
          <a:xfrm>
            <a:off x="539552" y="35655"/>
            <a:ext cx="8604448" cy="513025"/>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Cell structure part 1 - </a:t>
            </a:r>
            <a:r>
              <a:rPr lang="en-GB" sz="2400" b="1" i="0" u="none" strike="noStrike" cap="none">
                <a:solidFill>
                  <a:schemeClr val="accent6"/>
                </a:solidFill>
                <a:latin typeface="Calibri"/>
                <a:ea typeface="Calibri"/>
                <a:cs typeface="Calibri"/>
                <a:sym typeface="Calibri"/>
              </a:rPr>
              <a:t>Animal, plant cells and bacterial cells </a:t>
            </a:r>
            <a:endParaRPr sz="2400" b="1">
              <a:solidFill>
                <a:schemeClr val="accent6"/>
              </a:solidFill>
            </a:endParaRPr>
          </a:p>
        </p:txBody>
      </p:sp>
      <p:sp>
        <p:nvSpPr>
          <p:cNvPr id="203" name="Google Shape;203;p5"/>
          <p:cNvSpPr/>
          <p:nvPr/>
        </p:nvSpPr>
        <p:spPr>
          <a:xfrm>
            <a:off x="6804248" y="908720"/>
            <a:ext cx="2144746" cy="2308324"/>
          </a:xfrm>
          <a:prstGeom prst="rect">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dk1"/>
                </a:solidFill>
                <a:latin typeface="Calibri"/>
                <a:ea typeface="Calibri"/>
                <a:cs typeface="Calibri"/>
                <a:sym typeface="Calibri"/>
              </a:rPr>
              <a:t>You will need to know the differences between plant, animal and bacterial cells.</a:t>
            </a:r>
            <a:endParaRPr/>
          </a:p>
        </p:txBody>
      </p:sp>
      <p:sp>
        <p:nvSpPr>
          <p:cNvPr id="204" name="Google Shape;204;p5"/>
          <p:cNvSpPr/>
          <p:nvPr/>
        </p:nvSpPr>
        <p:spPr>
          <a:xfrm>
            <a:off x="6804248" y="4429891"/>
            <a:ext cx="2144746" cy="1938992"/>
          </a:xfrm>
          <a:prstGeom prst="rect">
            <a:avLst/>
          </a:prstGeom>
          <a:solidFill>
            <a:schemeClr val="accent6"/>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lt1"/>
                </a:solidFill>
                <a:latin typeface="Calibri"/>
                <a:ea typeface="Calibri"/>
                <a:cs typeface="Calibri"/>
                <a:sym typeface="Calibri"/>
              </a:rPr>
              <a:t>Bacterial cells are much smaller than plant and animal cells.</a:t>
            </a:r>
            <a:endParaRPr/>
          </a:p>
        </p:txBody>
      </p:sp>
      <p:pic>
        <p:nvPicPr>
          <p:cNvPr id="205" name="Google Shape;205;p5"/>
          <p:cNvPicPr preferRelativeResize="0"/>
          <p:nvPr/>
        </p:nvPicPr>
        <p:blipFill rotWithShape="1">
          <a:blip r:embed="rId3">
            <a:alphaModFix/>
          </a:blip>
          <a:srcRect/>
          <a:stretch/>
        </p:blipFill>
        <p:spPr>
          <a:xfrm>
            <a:off x="941891" y="692696"/>
            <a:ext cx="5389158" cy="2776685"/>
          </a:xfrm>
          <a:prstGeom prst="rect">
            <a:avLst/>
          </a:prstGeom>
          <a:noFill/>
          <a:ln>
            <a:noFill/>
          </a:ln>
        </p:spPr>
      </p:pic>
      <p:pic>
        <p:nvPicPr>
          <p:cNvPr id="206" name="Google Shape;206;p5"/>
          <p:cNvPicPr preferRelativeResize="0"/>
          <p:nvPr/>
        </p:nvPicPr>
        <p:blipFill rotWithShape="1">
          <a:blip r:embed="rId4">
            <a:alphaModFix/>
          </a:blip>
          <a:srcRect/>
          <a:stretch/>
        </p:blipFill>
        <p:spPr>
          <a:xfrm>
            <a:off x="1043608" y="3366846"/>
            <a:ext cx="4797070" cy="30020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6"/>
          <p:cNvSpPr txBox="1">
            <a:spLocks noGrp="1"/>
          </p:cNvSpPr>
          <p:nvPr>
            <p:ph type="ctrTitle"/>
          </p:nvPr>
        </p:nvSpPr>
        <p:spPr>
          <a:xfrm>
            <a:off x="611560" y="35655"/>
            <a:ext cx="8532440"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Cell structure part 1 - </a:t>
            </a:r>
            <a:r>
              <a:rPr lang="en-GB" sz="2400" b="1" i="0" u="none" strike="noStrike" cap="none">
                <a:solidFill>
                  <a:schemeClr val="accent6"/>
                </a:solidFill>
                <a:latin typeface="Calibri"/>
                <a:ea typeface="Calibri"/>
                <a:cs typeface="Calibri"/>
                <a:sym typeface="Calibri"/>
              </a:rPr>
              <a:t>Animal, plant cells and bacterial cells </a:t>
            </a:r>
            <a:endParaRPr sz="2400" b="1">
              <a:solidFill>
                <a:schemeClr val="accent6"/>
              </a:solidFill>
            </a:endParaRPr>
          </a:p>
        </p:txBody>
      </p:sp>
      <p:graphicFrame>
        <p:nvGraphicFramePr>
          <p:cNvPr id="212" name="Google Shape;212;p6"/>
          <p:cNvGraphicFramePr/>
          <p:nvPr/>
        </p:nvGraphicFramePr>
        <p:xfrm>
          <a:off x="179512" y="836712"/>
          <a:ext cx="3000000" cy="3000000"/>
        </p:xfrm>
        <a:graphic>
          <a:graphicData uri="http://schemas.openxmlformats.org/drawingml/2006/table">
            <a:tbl>
              <a:tblPr>
                <a:noFill/>
                <a:tableStyleId>{7FB5C040-EF74-47EC-8CDE-39956F763B1A}</a:tableStyleId>
              </a:tblPr>
              <a:tblGrid>
                <a:gridCol w="1920300">
                  <a:extLst>
                    <a:ext uri="{9D8B030D-6E8A-4147-A177-3AD203B41FA5}">
                      <a16:colId xmlns:a16="http://schemas.microsoft.com/office/drawing/2014/main" val="20000"/>
                    </a:ext>
                  </a:extLst>
                </a:gridCol>
                <a:gridCol w="4776450">
                  <a:extLst>
                    <a:ext uri="{9D8B030D-6E8A-4147-A177-3AD203B41FA5}">
                      <a16:colId xmlns:a16="http://schemas.microsoft.com/office/drawing/2014/main" val="20001"/>
                    </a:ext>
                  </a:extLst>
                </a:gridCol>
                <a:gridCol w="720075">
                  <a:extLst>
                    <a:ext uri="{9D8B030D-6E8A-4147-A177-3AD203B41FA5}">
                      <a16:colId xmlns:a16="http://schemas.microsoft.com/office/drawing/2014/main" val="20002"/>
                    </a:ext>
                  </a:extLst>
                </a:gridCol>
                <a:gridCol w="720075">
                  <a:extLst>
                    <a:ext uri="{9D8B030D-6E8A-4147-A177-3AD203B41FA5}">
                      <a16:colId xmlns:a16="http://schemas.microsoft.com/office/drawing/2014/main" val="20003"/>
                    </a:ext>
                  </a:extLst>
                </a:gridCol>
                <a:gridCol w="720075">
                  <a:extLst>
                    <a:ext uri="{9D8B030D-6E8A-4147-A177-3AD203B41FA5}">
                      <a16:colId xmlns:a16="http://schemas.microsoft.com/office/drawing/2014/main" val="20004"/>
                    </a:ext>
                  </a:extLst>
                </a:gridCol>
              </a:tblGrid>
              <a:tr h="304825">
                <a:tc>
                  <a:txBody>
                    <a:bodyPr/>
                    <a:lstStyle/>
                    <a:p>
                      <a:pPr marL="0" marR="0" lvl="0" indent="0" algn="ctr" rtl="0">
                        <a:spcBef>
                          <a:spcPts val="0"/>
                        </a:spcBef>
                        <a:spcAft>
                          <a:spcPts val="0"/>
                        </a:spcAft>
                        <a:buNone/>
                      </a:pPr>
                      <a:r>
                        <a:rPr lang="en-GB" sz="1400" b="1">
                          <a:solidFill>
                            <a:schemeClr val="dk1"/>
                          </a:solidFill>
                          <a:latin typeface="Calibri"/>
                          <a:ea typeface="Calibri"/>
                          <a:cs typeface="Calibri"/>
                          <a:sym typeface="Calibri"/>
                        </a:rPr>
                        <a:t>Cell part</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400" b="1">
                          <a:solidFill>
                            <a:schemeClr val="dk1"/>
                          </a:solidFill>
                          <a:latin typeface="Calibri"/>
                          <a:ea typeface="Calibri"/>
                          <a:cs typeface="Calibri"/>
                          <a:sym typeface="Calibri"/>
                        </a:rPr>
                        <a:t>Function</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Animal</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Plant</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Bacteria</a:t>
                      </a:r>
                      <a:endParaRPr/>
                    </a:p>
                  </a:txBody>
                  <a:tcPr marL="91450" marR="91450" marT="45725" marB="45725" anchor="ctr">
                    <a:solidFill>
                      <a:srgbClr val="FABF8E"/>
                    </a:solidFill>
                  </a:tcPr>
                </a:tc>
                <a:extLst>
                  <a:ext uri="{0D108BD9-81ED-4DB2-BD59-A6C34878D82A}">
                    <a16:rowId xmlns:a16="http://schemas.microsoft.com/office/drawing/2014/main" val="10000"/>
                  </a:ext>
                </a:extLst>
              </a:tr>
              <a:tr h="591650">
                <a:tc>
                  <a:txBody>
                    <a:bodyPr/>
                    <a:lstStyle/>
                    <a:p>
                      <a:pPr marL="0" marR="0" lvl="0" indent="0" algn="ctr" rtl="0">
                        <a:spcBef>
                          <a:spcPts val="0"/>
                        </a:spcBef>
                        <a:spcAft>
                          <a:spcPts val="0"/>
                        </a:spcAft>
                        <a:buNone/>
                      </a:pPr>
                      <a:r>
                        <a:rPr lang="en-GB" sz="1800" b="1">
                          <a:latin typeface="Calibri"/>
                          <a:ea typeface="Calibri"/>
                          <a:cs typeface="Calibri"/>
                          <a:sym typeface="Calibri"/>
                        </a:rPr>
                        <a:t>Nucleus</a:t>
                      </a:r>
                      <a:endParaRPr sz="18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Contains genetic material, which controls the activities of the cell</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Calibri"/>
                        <a:buNone/>
                      </a:pPr>
                      <a:endParaRPr sz="20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1"/>
                  </a:ext>
                </a:extLst>
              </a:tr>
              <a:tr h="591650">
                <a:tc>
                  <a:txBody>
                    <a:bodyPr/>
                    <a:lstStyle/>
                    <a:p>
                      <a:pPr marL="0" marR="0" lvl="0" indent="0" algn="ctr" rtl="0">
                        <a:spcBef>
                          <a:spcPts val="0"/>
                        </a:spcBef>
                        <a:spcAft>
                          <a:spcPts val="0"/>
                        </a:spcAft>
                        <a:buNone/>
                      </a:pPr>
                      <a:r>
                        <a:rPr lang="en-GB" sz="1800" b="1">
                          <a:latin typeface="Calibri"/>
                          <a:ea typeface="Calibri"/>
                          <a:cs typeface="Calibri"/>
                          <a:sym typeface="Calibri"/>
                        </a:rPr>
                        <a:t>Cytoplasm</a:t>
                      </a:r>
                      <a:endParaRPr sz="18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Most chemical processes take place here, controlled by enzymes</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Calibri"/>
                        <a:buNone/>
                      </a:pPr>
                      <a:r>
                        <a:rPr lang="en-GB" sz="2000" b="1" i="0" u="none" strike="noStrike" cap="none">
                          <a:solidFill>
                            <a:srgbClr val="00000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02"/>
                  </a:ext>
                </a:extLst>
              </a:tr>
              <a:tr h="591650">
                <a:tc>
                  <a:txBody>
                    <a:bodyPr/>
                    <a:lstStyle/>
                    <a:p>
                      <a:pPr marL="0" marR="0" lvl="0" indent="0" algn="ctr" rtl="0">
                        <a:spcBef>
                          <a:spcPts val="0"/>
                        </a:spcBef>
                        <a:spcAft>
                          <a:spcPts val="0"/>
                        </a:spcAft>
                        <a:buNone/>
                      </a:pPr>
                      <a:r>
                        <a:rPr lang="en-GB" sz="1800" b="1">
                          <a:latin typeface="Calibri"/>
                          <a:ea typeface="Calibri"/>
                          <a:cs typeface="Calibri"/>
                          <a:sym typeface="Calibri"/>
                        </a:rPr>
                        <a:t>Cell membrane</a:t>
                      </a:r>
                      <a:endParaRPr sz="18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Controls the movement of substances into and out of the cell</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Calibri"/>
                        <a:buNone/>
                      </a:pPr>
                      <a:r>
                        <a:rPr lang="en-GB" sz="2000" b="1" i="0" u="none" strike="noStrike" cap="none">
                          <a:solidFill>
                            <a:srgbClr val="00000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03"/>
                  </a:ext>
                </a:extLst>
              </a:tr>
              <a:tr h="396275">
                <a:tc>
                  <a:txBody>
                    <a:bodyPr/>
                    <a:lstStyle/>
                    <a:p>
                      <a:pPr marL="0" marR="0" lvl="0" indent="0" algn="ctr" rtl="0">
                        <a:spcBef>
                          <a:spcPts val="0"/>
                        </a:spcBef>
                        <a:spcAft>
                          <a:spcPts val="0"/>
                        </a:spcAft>
                        <a:buNone/>
                      </a:pPr>
                      <a:r>
                        <a:rPr lang="en-GB" sz="1800" b="1">
                          <a:latin typeface="Calibri"/>
                          <a:ea typeface="Calibri"/>
                          <a:cs typeface="Calibri"/>
                          <a:sym typeface="Calibri"/>
                        </a:rPr>
                        <a:t>Mitochondria</a:t>
                      </a:r>
                      <a:endParaRPr sz="18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Most energy is released by respiration here</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Calibri"/>
                        <a:buNone/>
                      </a:pPr>
                      <a:endParaRPr sz="20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4"/>
                  </a:ext>
                </a:extLst>
              </a:tr>
              <a:tr h="396275">
                <a:tc>
                  <a:txBody>
                    <a:bodyPr/>
                    <a:lstStyle/>
                    <a:p>
                      <a:pPr marL="0" marR="0" lvl="0" indent="0" algn="ctr" rtl="0">
                        <a:spcBef>
                          <a:spcPts val="0"/>
                        </a:spcBef>
                        <a:spcAft>
                          <a:spcPts val="0"/>
                        </a:spcAft>
                        <a:buNone/>
                      </a:pPr>
                      <a:r>
                        <a:rPr lang="en-GB" sz="1800" b="1">
                          <a:latin typeface="Calibri"/>
                          <a:ea typeface="Calibri"/>
                          <a:cs typeface="Calibri"/>
                          <a:sym typeface="Calibri"/>
                        </a:rPr>
                        <a:t>Ribosomes</a:t>
                      </a:r>
                      <a:endParaRPr sz="18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Protein synthesis happens here</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Calibri"/>
                        <a:buNone/>
                      </a:pPr>
                      <a:endParaRPr sz="20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5"/>
                  </a:ext>
                </a:extLst>
              </a:tr>
              <a:tr h="591650">
                <a:tc>
                  <a:txBody>
                    <a:bodyPr/>
                    <a:lstStyle/>
                    <a:p>
                      <a:pPr marL="0" marR="0" lvl="0" indent="0" algn="ctr" rtl="0">
                        <a:spcBef>
                          <a:spcPts val="0"/>
                        </a:spcBef>
                        <a:spcAft>
                          <a:spcPts val="0"/>
                        </a:spcAft>
                        <a:buNone/>
                      </a:pPr>
                      <a:r>
                        <a:rPr lang="en-GB" sz="1800" b="1">
                          <a:solidFill>
                            <a:schemeClr val="dk1"/>
                          </a:solidFill>
                          <a:latin typeface="Calibri"/>
                          <a:ea typeface="Calibri"/>
                          <a:cs typeface="Calibri"/>
                          <a:sym typeface="Calibri"/>
                        </a:rPr>
                        <a:t>Cell wall</a:t>
                      </a:r>
                      <a:endParaRPr/>
                    </a:p>
                  </a:txBody>
                  <a:tcPr marL="91450" marR="91450" marT="45725" marB="45725" anchor="ctr"/>
                </a:tc>
                <a:tc>
                  <a:txBody>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Strengthens the cell – made of cellulose (not bacteria) (algal cells also have a cell wall)</a:t>
                      </a:r>
                      <a:endParaRPr/>
                    </a:p>
                  </a:txBody>
                  <a:tcPr marL="91450" marR="91450" marT="45725" marB="45725" anchor="ctr"/>
                </a:tc>
                <a:tc>
                  <a:txBody>
                    <a:bodyPr/>
                    <a:lstStyle/>
                    <a:p>
                      <a:pPr marL="0" marR="0" lvl="0" indent="0" algn="ctr" rtl="0">
                        <a:spcBef>
                          <a:spcPts val="0"/>
                        </a:spcBef>
                        <a:spcAft>
                          <a:spcPts val="0"/>
                        </a:spcAft>
                        <a:buNone/>
                      </a:pPr>
                      <a:endParaRPr sz="12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Calibri"/>
                        <a:buNone/>
                      </a:pPr>
                      <a:r>
                        <a:rPr lang="en-GB" sz="2000" b="1" i="0" u="none" strike="noStrike" cap="none">
                          <a:solidFill>
                            <a:srgbClr val="00000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06"/>
                  </a:ext>
                </a:extLst>
              </a:tr>
              <a:tr h="591650">
                <a:tc>
                  <a:txBody>
                    <a:bodyPr/>
                    <a:lstStyle/>
                    <a:p>
                      <a:pPr marL="0" marR="0" lvl="0" indent="0" algn="ctr" rtl="0">
                        <a:spcBef>
                          <a:spcPts val="0"/>
                        </a:spcBef>
                        <a:spcAft>
                          <a:spcPts val="0"/>
                        </a:spcAft>
                        <a:buNone/>
                      </a:pPr>
                      <a:r>
                        <a:rPr lang="en-GB" sz="1800" b="1">
                          <a:solidFill>
                            <a:schemeClr val="dk1"/>
                          </a:solidFill>
                          <a:latin typeface="Calibri"/>
                          <a:ea typeface="Calibri"/>
                          <a:cs typeface="Calibri"/>
                          <a:sym typeface="Calibri"/>
                        </a:rPr>
                        <a:t>Chloroplasts</a:t>
                      </a:r>
                      <a:endParaRPr/>
                    </a:p>
                  </a:txBody>
                  <a:tcPr marL="91450" marR="91450" marT="45725" marB="45725" anchor="ctr"/>
                </a:tc>
                <a:tc>
                  <a:txBody>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Contain chlorophyll, absorbs light energy for photosynthesis</a:t>
                      </a:r>
                      <a:endParaRPr/>
                    </a:p>
                  </a:txBody>
                  <a:tcPr marL="91450" marR="91450" marT="45725" marB="45725" anchor="ctr"/>
                </a:tc>
                <a:tc>
                  <a:txBody>
                    <a:bodyPr/>
                    <a:lstStyle/>
                    <a:p>
                      <a:pPr marL="0" marR="0" lvl="0" indent="0" algn="ctr" rtl="0">
                        <a:spcBef>
                          <a:spcPts val="0"/>
                        </a:spcBef>
                        <a:spcAft>
                          <a:spcPts val="0"/>
                        </a:spcAft>
                        <a:buNone/>
                      </a:pPr>
                      <a:endParaRPr sz="12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Calibri"/>
                        <a:buNone/>
                      </a:pPr>
                      <a:r>
                        <a:rPr lang="en-GB" sz="2000" b="1" i="0" u="none" strike="noStrike" cap="none">
                          <a:solidFill>
                            <a:srgbClr val="00000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Calibri"/>
                        <a:buNone/>
                      </a:pPr>
                      <a:endParaRPr sz="20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7"/>
                  </a:ext>
                </a:extLst>
              </a:tr>
              <a:tr h="648000">
                <a:tc>
                  <a:txBody>
                    <a:bodyPr/>
                    <a:lstStyle/>
                    <a:p>
                      <a:pPr marL="0" marR="0" lvl="0" indent="0" algn="ctr" rtl="0">
                        <a:spcBef>
                          <a:spcPts val="0"/>
                        </a:spcBef>
                        <a:spcAft>
                          <a:spcPts val="0"/>
                        </a:spcAft>
                        <a:buNone/>
                      </a:pPr>
                      <a:r>
                        <a:rPr lang="en-GB" sz="1800" b="1">
                          <a:solidFill>
                            <a:schemeClr val="dk1"/>
                          </a:solidFill>
                          <a:latin typeface="Calibri"/>
                          <a:ea typeface="Calibri"/>
                          <a:cs typeface="Calibri"/>
                          <a:sym typeface="Calibri"/>
                        </a:rPr>
                        <a:t>Permanent vacuole</a:t>
                      </a:r>
                      <a:endParaRPr/>
                    </a:p>
                  </a:txBody>
                  <a:tcPr marL="91450" marR="91450" marT="45725" marB="45725" anchor="ctr"/>
                </a:tc>
                <a:tc>
                  <a:txBody>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Filled with cell sap to help keep the cell turgid</a:t>
                      </a:r>
                      <a:endParaRPr/>
                    </a:p>
                  </a:txBody>
                  <a:tcPr marL="91450" marR="91450" marT="45725" marB="45725" anchor="ctr"/>
                </a:tc>
                <a:tc>
                  <a:txBody>
                    <a:bodyPr/>
                    <a:lstStyle/>
                    <a:p>
                      <a:pPr marL="0" marR="0" lvl="0" indent="0" algn="ctr" rtl="0">
                        <a:spcBef>
                          <a:spcPts val="0"/>
                        </a:spcBef>
                        <a:spcAft>
                          <a:spcPts val="0"/>
                        </a:spcAft>
                        <a:buNone/>
                      </a:pPr>
                      <a:endParaRPr sz="12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Calibri"/>
                        <a:buNone/>
                      </a:pPr>
                      <a:r>
                        <a:rPr lang="en-GB" sz="2000" b="1" i="0" u="none" strike="noStrike" cap="none">
                          <a:solidFill>
                            <a:srgbClr val="00000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2000"/>
                        <a:buFont typeface="Calibri"/>
                        <a:buNone/>
                      </a:pPr>
                      <a:endParaRPr sz="20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8"/>
                  </a:ext>
                </a:extLst>
              </a:tr>
              <a:tr h="396275">
                <a:tc>
                  <a:txBody>
                    <a:bodyPr/>
                    <a:lstStyle/>
                    <a:p>
                      <a:pPr marL="0" marR="0" lvl="0" indent="0" algn="ctr" rtl="0">
                        <a:spcBef>
                          <a:spcPts val="0"/>
                        </a:spcBef>
                        <a:spcAft>
                          <a:spcPts val="0"/>
                        </a:spcAft>
                        <a:buNone/>
                      </a:pPr>
                      <a:r>
                        <a:rPr lang="en-GB" sz="1800" b="1">
                          <a:solidFill>
                            <a:schemeClr val="dk1"/>
                          </a:solidFill>
                          <a:latin typeface="Calibri"/>
                          <a:ea typeface="Calibri"/>
                          <a:cs typeface="Calibri"/>
                          <a:sym typeface="Calibri"/>
                        </a:rPr>
                        <a:t>Bacterial DNA</a:t>
                      </a:r>
                      <a:endParaRPr/>
                    </a:p>
                  </a:txBody>
                  <a:tcPr marL="91450" marR="91450" marT="45725" marB="45725" anchor="ctr"/>
                </a:tc>
                <a:tc>
                  <a:txBody>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Loop of DNA NOT found in a nucleus</a:t>
                      </a: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2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20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Calibri"/>
                        <a:buNone/>
                      </a:pPr>
                      <a:r>
                        <a:rPr lang="en-GB" sz="2000" b="1" i="0" u="none" strike="noStrike" cap="none">
                          <a:solidFill>
                            <a:srgbClr val="00000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09"/>
                  </a:ext>
                </a:extLst>
              </a:tr>
              <a:tr h="591650">
                <a:tc>
                  <a:txBody>
                    <a:bodyPr/>
                    <a:lstStyle/>
                    <a:p>
                      <a:pPr marL="0" marR="0" lvl="0" indent="0" algn="ctr" rtl="0">
                        <a:spcBef>
                          <a:spcPts val="0"/>
                        </a:spcBef>
                        <a:spcAft>
                          <a:spcPts val="0"/>
                        </a:spcAft>
                        <a:buNone/>
                      </a:pPr>
                      <a:r>
                        <a:rPr lang="en-GB" sz="1800" b="1">
                          <a:solidFill>
                            <a:schemeClr val="dk1"/>
                          </a:solidFill>
                          <a:latin typeface="Calibri"/>
                          <a:ea typeface="Calibri"/>
                          <a:cs typeface="Calibri"/>
                          <a:sym typeface="Calibri"/>
                        </a:rPr>
                        <a:t>Plasmid (DNA)</a:t>
                      </a: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Small ring of DNA often used as a vector in genetic modification</a:t>
                      </a: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2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20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000"/>
                        <a:buFont typeface="Calibri"/>
                        <a:buNone/>
                      </a:pPr>
                      <a:r>
                        <a:rPr lang="en-GB" sz="2000" b="1" i="0" u="none" strike="noStrike" cap="none">
                          <a:solidFill>
                            <a:srgbClr val="00000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7"/>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19" name="Google Shape;219;p7"/>
          <p:cNvSpPr txBox="1"/>
          <p:nvPr/>
        </p:nvSpPr>
        <p:spPr>
          <a:xfrm>
            <a:off x="0" y="980728"/>
            <a:ext cx="4716016" cy="4955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QuestionIT!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Part 1 </a:t>
            </a:r>
            <a:endParaRPr/>
          </a:p>
          <a:p>
            <a:pPr marL="0" marR="0" lvl="0" indent="0" algn="l" rtl="0">
              <a:spcBef>
                <a:spcPts val="0"/>
              </a:spcBef>
              <a:spcAft>
                <a:spcPts val="0"/>
              </a:spcAft>
              <a:buNone/>
            </a:pPr>
            <a:endParaRPr sz="28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Eukaryotes and prokaryotes</a:t>
            </a:r>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Animal and plant cells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0" name="Google Shape;220;p7"/>
          <p:cNvPicPr preferRelativeResize="0"/>
          <p:nvPr/>
        </p:nvPicPr>
        <p:blipFill rotWithShape="1">
          <a:blip r:embed="rId3">
            <a:alphaModFix/>
          </a:blip>
          <a:srcRect/>
          <a:stretch/>
        </p:blipFill>
        <p:spPr>
          <a:xfrm>
            <a:off x="4211960" y="886544"/>
            <a:ext cx="4914900" cy="5638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8"/>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1 – </a:t>
            </a:r>
            <a:r>
              <a:rPr lang="en-GB" sz="2400" b="1" i="0" u="none" strike="noStrike" cap="none">
                <a:solidFill>
                  <a:schemeClr val="dk1"/>
                </a:solidFill>
                <a:latin typeface="Calibri"/>
                <a:ea typeface="Calibri"/>
                <a:cs typeface="Calibri"/>
                <a:sym typeface="Calibri"/>
              </a:rPr>
              <a:t>QuestionIT</a:t>
            </a:r>
            <a:endParaRPr/>
          </a:p>
        </p:txBody>
      </p:sp>
      <p:sp>
        <p:nvSpPr>
          <p:cNvPr id="226" name="Google Shape;226;p8"/>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27" name="Google Shape;227;p8"/>
          <p:cNvSpPr txBox="1"/>
          <p:nvPr/>
        </p:nvSpPr>
        <p:spPr>
          <a:xfrm>
            <a:off x="149087" y="697936"/>
            <a:ext cx="8915400" cy="532453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 Where is the genetic material in a prokaryotic cell?</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2. Where is the genetic material in a eukaryotic cell?</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3. Copy and complete the table.</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4. Why do scientists use prefixes?</a:t>
            </a:r>
            <a:endParaRPr sz="1800">
              <a:solidFill>
                <a:schemeClr val="dk1"/>
              </a:solidFill>
              <a:latin typeface="Calibri"/>
              <a:ea typeface="Calibri"/>
              <a:cs typeface="Calibri"/>
              <a:sym typeface="Calibri"/>
            </a:endParaRPr>
          </a:p>
          <a:p>
            <a:pPr marL="342900" marR="0" lvl="0" indent="-24130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graphicFrame>
        <p:nvGraphicFramePr>
          <p:cNvPr id="228" name="Google Shape;228;p8"/>
          <p:cNvGraphicFramePr/>
          <p:nvPr/>
        </p:nvGraphicFramePr>
        <p:xfrm>
          <a:off x="914400" y="2714708"/>
          <a:ext cx="3000000" cy="3000000"/>
        </p:xfrm>
        <a:graphic>
          <a:graphicData uri="http://schemas.openxmlformats.org/drawingml/2006/table">
            <a:tbl>
              <a:tblPr firstRow="1" bandRow="1">
                <a:noFill/>
                <a:tableStyleId>{7FB5C040-EF74-47EC-8CDE-39956F763B1A}</a:tableStyleId>
              </a:tblPr>
              <a:tblGrid>
                <a:gridCol w="1772525">
                  <a:extLst>
                    <a:ext uri="{9D8B030D-6E8A-4147-A177-3AD203B41FA5}">
                      <a16:colId xmlns:a16="http://schemas.microsoft.com/office/drawing/2014/main" val="20000"/>
                    </a:ext>
                  </a:extLst>
                </a:gridCol>
                <a:gridCol w="3199675">
                  <a:extLst>
                    <a:ext uri="{9D8B030D-6E8A-4147-A177-3AD203B41FA5}">
                      <a16:colId xmlns:a16="http://schemas.microsoft.com/office/drawing/2014/main" val="20001"/>
                    </a:ext>
                  </a:extLst>
                </a:gridCol>
                <a:gridCol w="1955350">
                  <a:extLst>
                    <a:ext uri="{9D8B030D-6E8A-4147-A177-3AD203B41FA5}">
                      <a16:colId xmlns:a16="http://schemas.microsoft.com/office/drawing/2014/main" val="20002"/>
                    </a:ext>
                  </a:extLst>
                </a:gridCol>
              </a:tblGrid>
              <a:tr h="304675">
                <a:tc>
                  <a:txBody>
                    <a:bodyPr/>
                    <a:lstStyle/>
                    <a:p>
                      <a:pPr marL="0" marR="0" lvl="0" indent="0" algn="ctr" rtl="0">
                        <a:spcBef>
                          <a:spcPts val="0"/>
                        </a:spcBef>
                        <a:spcAft>
                          <a:spcPts val="0"/>
                        </a:spcAft>
                        <a:buNone/>
                      </a:pPr>
                      <a:r>
                        <a:rPr lang="en-GB" sz="2000"/>
                        <a:t>Prefix</a:t>
                      </a:r>
                      <a:endParaRPr/>
                    </a:p>
                  </a:txBody>
                  <a:tcPr marL="91450" marR="91450" marT="45725" marB="45725">
                    <a:solidFill>
                      <a:srgbClr val="E36C09"/>
                    </a:solidFill>
                  </a:tcPr>
                </a:tc>
                <a:tc>
                  <a:txBody>
                    <a:bodyPr/>
                    <a:lstStyle/>
                    <a:p>
                      <a:pPr marL="0" marR="0" lvl="0" indent="0" algn="ctr" rtl="0">
                        <a:spcBef>
                          <a:spcPts val="0"/>
                        </a:spcBef>
                        <a:spcAft>
                          <a:spcPts val="0"/>
                        </a:spcAft>
                        <a:buNone/>
                      </a:pPr>
                      <a:r>
                        <a:rPr lang="en-GB" sz="2000"/>
                        <a:t>Multiple </a:t>
                      </a:r>
                      <a:endParaRPr sz="2000"/>
                    </a:p>
                  </a:txBody>
                  <a:tcPr marL="91450" marR="91450" marT="45725" marB="45725">
                    <a:solidFill>
                      <a:srgbClr val="E36C09"/>
                    </a:solidFill>
                  </a:tcPr>
                </a:tc>
                <a:tc>
                  <a:txBody>
                    <a:bodyPr/>
                    <a:lstStyle/>
                    <a:p>
                      <a:pPr marL="0" marR="0" lvl="0" indent="0" algn="ctr" rtl="0">
                        <a:spcBef>
                          <a:spcPts val="0"/>
                        </a:spcBef>
                        <a:spcAft>
                          <a:spcPts val="0"/>
                        </a:spcAft>
                        <a:buNone/>
                      </a:pPr>
                      <a:r>
                        <a:rPr lang="en-GB" sz="2000"/>
                        <a:t>Standard form</a:t>
                      </a:r>
                      <a:endParaRPr/>
                    </a:p>
                  </a:txBody>
                  <a:tcPr marL="91450" marR="91450" marT="45725" marB="45725">
                    <a:solidFill>
                      <a:srgbClr val="E36C09"/>
                    </a:solidFill>
                  </a:tcPr>
                </a:tc>
                <a:extLst>
                  <a:ext uri="{0D108BD9-81ED-4DB2-BD59-A6C34878D82A}">
                    <a16:rowId xmlns:a16="http://schemas.microsoft.com/office/drawing/2014/main" val="10000"/>
                  </a:ext>
                </a:extLst>
              </a:tr>
              <a:tr h="335125">
                <a:tc>
                  <a:txBody>
                    <a:bodyPr/>
                    <a:lstStyle/>
                    <a:p>
                      <a:pPr marL="0" marR="0" lvl="0" indent="0" algn="ctr" rtl="0">
                        <a:spcBef>
                          <a:spcPts val="0"/>
                        </a:spcBef>
                        <a:spcAft>
                          <a:spcPts val="0"/>
                        </a:spcAft>
                        <a:buNone/>
                      </a:pPr>
                      <a:r>
                        <a:rPr lang="en-GB" sz="2400" b="1"/>
                        <a:t>centi  (cm) </a:t>
                      </a:r>
                      <a:endParaRPr sz="2400" b="1"/>
                    </a:p>
                  </a:txBody>
                  <a:tcPr marL="91450" marR="91450" marT="45725" marB="45725"/>
                </a:tc>
                <a:tc>
                  <a:txBody>
                    <a:bodyPr/>
                    <a:lstStyle/>
                    <a:p>
                      <a:pPr marL="0" marR="0" lvl="0" indent="0" algn="ctr" rtl="0">
                        <a:spcBef>
                          <a:spcPts val="0"/>
                        </a:spcBef>
                        <a:spcAft>
                          <a:spcPts val="0"/>
                        </a:spcAft>
                        <a:buNone/>
                      </a:pPr>
                      <a:endParaRPr sz="2400"/>
                    </a:p>
                  </a:txBody>
                  <a:tcPr marL="91450" marR="91450" marT="45725" marB="45725"/>
                </a:tc>
                <a:tc>
                  <a:txBody>
                    <a:bodyPr/>
                    <a:lstStyle/>
                    <a:p>
                      <a:pPr marL="0" marR="0" lvl="0" indent="0" algn="ctr" rtl="0">
                        <a:spcBef>
                          <a:spcPts val="0"/>
                        </a:spcBef>
                        <a:spcAft>
                          <a:spcPts val="0"/>
                        </a:spcAft>
                        <a:buNone/>
                      </a:pPr>
                      <a:r>
                        <a:rPr lang="en-GB" sz="2400"/>
                        <a:t>x 10 </a:t>
                      </a:r>
                      <a:r>
                        <a:rPr lang="en-GB" sz="2400" baseline="30000"/>
                        <a:t>-2</a:t>
                      </a:r>
                      <a:endParaRPr/>
                    </a:p>
                  </a:txBody>
                  <a:tcPr marL="91450" marR="91450" marT="45725" marB="45725"/>
                </a:tc>
                <a:extLst>
                  <a:ext uri="{0D108BD9-81ED-4DB2-BD59-A6C34878D82A}">
                    <a16:rowId xmlns:a16="http://schemas.microsoft.com/office/drawing/2014/main" val="10001"/>
                  </a:ext>
                </a:extLst>
              </a:tr>
              <a:tr h="335125">
                <a:tc>
                  <a:txBody>
                    <a:bodyPr/>
                    <a:lstStyle/>
                    <a:p>
                      <a:pPr marL="0" marR="0" lvl="0" indent="0" algn="ctr" rtl="0">
                        <a:spcBef>
                          <a:spcPts val="0"/>
                        </a:spcBef>
                        <a:spcAft>
                          <a:spcPts val="0"/>
                        </a:spcAft>
                        <a:buNone/>
                      </a:pPr>
                      <a:endParaRPr sz="2400" b="1"/>
                    </a:p>
                  </a:txBody>
                  <a:tcPr marL="91450" marR="91450" marT="45725" marB="45725"/>
                </a:tc>
                <a:tc>
                  <a:txBody>
                    <a:bodyPr/>
                    <a:lstStyle/>
                    <a:p>
                      <a:pPr marL="0" marR="0" lvl="0" indent="0" algn="ctr" rtl="0">
                        <a:spcBef>
                          <a:spcPts val="0"/>
                        </a:spcBef>
                        <a:spcAft>
                          <a:spcPts val="0"/>
                        </a:spcAft>
                        <a:buNone/>
                      </a:pPr>
                      <a:r>
                        <a:rPr lang="en-GB" sz="2400"/>
                        <a:t>1 mm = 0.001 m</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Calibri"/>
                        <a:buNone/>
                      </a:pPr>
                      <a:r>
                        <a:rPr lang="en-GB" sz="2400"/>
                        <a:t>x 10 </a:t>
                      </a:r>
                      <a:r>
                        <a:rPr lang="en-GB" sz="2400" baseline="30000"/>
                        <a:t>-3</a:t>
                      </a:r>
                      <a:endParaRPr/>
                    </a:p>
                  </a:txBody>
                  <a:tcPr marL="91450" marR="91450" marT="45725" marB="45725"/>
                </a:tc>
                <a:extLst>
                  <a:ext uri="{0D108BD9-81ED-4DB2-BD59-A6C34878D82A}">
                    <a16:rowId xmlns:a16="http://schemas.microsoft.com/office/drawing/2014/main" val="10002"/>
                  </a:ext>
                </a:extLst>
              </a:tr>
              <a:tr h="335125">
                <a:tc>
                  <a:txBody>
                    <a:bodyPr/>
                    <a:lstStyle/>
                    <a:p>
                      <a:pPr marL="0" marR="0" lvl="0" indent="0" algn="ctr" rtl="0">
                        <a:spcBef>
                          <a:spcPts val="0"/>
                        </a:spcBef>
                        <a:spcAft>
                          <a:spcPts val="0"/>
                        </a:spcAft>
                        <a:buNone/>
                      </a:pPr>
                      <a:r>
                        <a:rPr lang="en-GB" sz="2400" b="1"/>
                        <a:t>micro (𝛍m)</a:t>
                      </a:r>
                      <a:endParaRPr/>
                    </a:p>
                  </a:txBody>
                  <a:tcPr marL="91450" marR="91450" marT="45725" marB="45725"/>
                </a:tc>
                <a:tc>
                  <a:txBody>
                    <a:bodyPr/>
                    <a:lstStyle/>
                    <a:p>
                      <a:pPr marL="0" marR="0" lvl="0" indent="0" algn="ctr" rtl="0">
                        <a:spcBef>
                          <a:spcPts val="0"/>
                        </a:spcBef>
                        <a:spcAft>
                          <a:spcPts val="0"/>
                        </a:spcAft>
                        <a:buNone/>
                      </a:pPr>
                      <a:r>
                        <a:rPr lang="en-GB" sz="2400"/>
                        <a:t>1 </a:t>
                      </a:r>
                      <a:r>
                        <a:rPr lang="en-GB" sz="2400" b="0"/>
                        <a:t>𝛍m </a:t>
                      </a:r>
                      <a:r>
                        <a:rPr lang="en-GB" sz="2400" b="1"/>
                        <a:t>= </a:t>
                      </a:r>
                      <a:r>
                        <a:rPr lang="en-GB" sz="2400"/>
                        <a:t>0.000 001 m</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Calibri"/>
                        <a:buNone/>
                      </a:pPr>
                      <a:endParaRPr sz="2400" baseline="30000"/>
                    </a:p>
                  </a:txBody>
                  <a:tcPr marL="91450" marR="91450" marT="45725" marB="45725"/>
                </a:tc>
                <a:extLst>
                  <a:ext uri="{0D108BD9-81ED-4DB2-BD59-A6C34878D82A}">
                    <a16:rowId xmlns:a16="http://schemas.microsoft.com/office/drawing/2014/main" val="10003"/>
                  </a:ext>
                </a:extLst>
              </a:tr>
              <a:tr h="424075">
                <a:tc>
                  <a:txBody>
                    <a:bodyPr/>
                    <a:lstStyle/>
                    <a:p>
                      <a:pPr marL="0" marR="0" lvl="0" indent="0" algn="ctr" rtl="0">
                        <a:spcBef>
                          <a:spcPts val="0"/>
                        </a:spcBef>
                        <a:spcAft>
                          <a:spcPts val="0"/>
                        </a:spcAft>
                        <a:buNone/>
                      </a:pPr>
                      <a:r>
                        <a:rPr lang="en-GB" sz="2400" b="1"/>
                        <a:t>nano (nm)</a:t>
                      </a:r>
                      <a:endParaRPr/>
                    </a:p>
                  </a:txBody>
                  <a:tcPr marL="91450" marR="91450" marT="45725" marB="45725"/>
                </a:tc>
                <a:tc>
                  <a:txBody>
                    <a:bodyPr/>
                    <a:lstStyle/>
                    <a:p>
                      <a:pPr marL="0" marR="0" lvl="0" indent="0" algn="ctr" rtl="0">
                        <a:spcBef>
                          <a:spcPts val="0"/>
                        </a:spcBef>
                        <a:spcAft>
                          <a:spcPts val="0"/>
                        </a:spcAft>
                        <a:buNone/>
                      </a:pPr>
                      <a:endParaRPr sz="2400"/>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Calibri"/>
                        <a:buNone/>
                      </a:pPr>
                      <a:r>
                        <a:rPr lang="en-GB" sz="2400"/>
                        <a:t>x 10 </a:t>
                      </a:r>
                      <a:r>
                        <a:rPr lang="en-GB" sz="2400" baseline="30000"/>
                        <a:t>-9</a:t>
                      </a: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9"/>
          <p:cNvSpPr txBox="1">
            <a:spLocks noGrp="1"/>
          </p:cNvSpPr>
          <p:nvPr>
            <p:ph type="ctrTitle"/>
          </p:nvPr>
        </p:nvSpPr>
        <p:spPr>
          <a:xfrm>
            <a:off x="1353855" y="-169381"/>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1 – </a:t>
            </a:r>
            <a:r>
              <a:rPr lang="en-GB" sz="2400" b="1" i="0" u="none" strike="noStrike" cap="none">
                <a:solidFill>
                  <a:schemeClr val="dk1"/>
                </a:solidFill>
                <a:latin typeface="Calibri"/>
                <a:ea typeface="Calibri"/>
                <a:cs typeface="Calibri"/>
                <a:sym typeface="Calibri"/>
              </a:rPr>
              <a:t>QuestionIT</a:t>
            </a:r>
            <a:endParaRPr/>
          </a:p>
        </p:txBody>
      </p:sp>
      <p:sp>
        <p:nvSpPr>
          <p:cNvPr id="234" name="Google Shape;234;p9"/>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35" name="Google Shape;235;p9"/>
          <p:cNvSpPr txBox="1"/>
          <p:nvPr/>
        </p:nvSpPr>
        <p:spPr>
          <a:xfrm>
            <a:off x="132043" y="658529"/>
            <a:ext cx="9180921" cy="144655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5. Name the structures </a:t>
            </a:r>
            <a:r>
              <a:rPr lang="en-GB" sz="2400" b="1">
                <a:solidFill>
                  <a:schemeClr val="dk1"/>
                </a:solidFill>
                <a:latin typeface="Calibri"/>
                <a:ea typeface="Calibri"/>
                <a:cs typeface="Calibri"/>
                <a:sym typeface="Calibri"/>
              </a:rPr>
              <a:t>A to L </a:t>
            </a:r>
            <a:r>
              <a:rPr lang="en-GB" sz="2400">
                <a:solidFill>
                  <a:schemeClr val="dk1"/>
                </a:solidFill>
                <a:latin typeface="Calibri"/>
                <a:ea typeface="Calibri"/>
                <a:cs typeface="Calibri"/>
                <a:sym typeface="Calibri"/>
              </a:rPr>
              <a:t>on the diagrams below and label cells 1, 2 and 3.</a:t>
            </a:r>
            <a:endParaRPr sz="1800">
              <a:solidFill>
                <a:schemeClr val="dk1"/>
              </a:solidFill>
              <a:latin typeface="Calibri"/>
              <a:ea typeface="Calibri"/>
              <a:cs typeface="Calibri"/>
              <a:sym typeface="Calibri"/>
            </a:endParaRPr>
          </a:p>
          <a:p>
            <a:pPr marL="342900" marR="0" lvl="0" indent="-24130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pic>
        <p:nvPicPr>
          <p:cNvPr id="236" name="Google Shape;236;p9"/>
          <p:cNvPicPr preferRelativeResize="0"/>
          <p:nvPr/>
        </p:nvPicPr>
        <p:blipFill rotWithShape="1">
          <a:blip r:embed="rId3">
            <a:alphaModFix/>
          </a:blip>
          <a:srcRect/>
          <a:stretch/>
        </p:blipFill>
        <p:spPr>
          <a:xfrm>
            <a:off x="1559014" y="1344524"/>
            <a:ext cx="6095546" cy="5220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0"/>
          <p:cNvSpPr txBox="1">
            <a:spLocks noGrp="1"/>
          </p:cNvSpPr>
          <p:nvPr>
            <p:ph type="ctrTitle"/>
          </p:nvPr>
        </p:nvSpPr>
        <p:spPr>
          <a:xfrm>
            <a:off x="1331640" y="-94579"/>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1 – </a:t>
            </a:r>
            <a:r>
              <a:rPr lang="en-GB" sz="2400" b="1" i="0" u="none" strike="noStrike" cap="none">
                <a:solidFill>
                  <a:schemeClr val="dk1"/>
                </a:solidFill>
                <a:latin typeface="Calibri"/>
                <a:ea typeface="Calibri"/>
                <a:cs typeface="Calibri"/>
                <a:sym typeface="Calibri"/>
              </a:rPr>
              <a:t>QuestionIT</a:t>
            </a:r>
            <a:endParaRPr/>
          </a:p>
        </p:txBody>
      </p:sp>
      <p:sp>
        <p:nvSpPr>
          <p:cNvPr id="242" name="Google Shape;242;p10"/>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43" name="Google Shape;243;p10"/>
          <p:cNvSpPr txBox="1"/>
          <p:nvPr/>
        </p:nvSpPr>
        <p:spPr>
          <a:xfrm>
            <a:off x="0" y="530122"/>
            <a:ext cx="9332843" cy="89255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6. Copy and complete the table and tick the correct column for each one.</a:t>
            </a:r>
            <a:endParaRPr sz="1800">
              <a:solidFill>
                <a:schemeClr val="dk1"/>
              </a:solidFill>
              <a:latin typeface="Calibri"/>
              <a:ea typeface="Calibri"/>
              <a:cs typeface="Calibri"/>
              <a:sym typeface="Calibri"/>
            </a:endParaRPr>
          </a:p>
          <a:p>
            <a:pPr marL="342900" marR="0" lvl="0" indent="-24130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
        <p:nvSpPr>
          <p:cNvPr id="244" name="Google Shape;244;p10"/>
          <p:cNvSpPr txBox="1"/>
          <p:nvPr/>
        </p:nvSpPr>
        <p:spPr>
          <a:xfrm>
            <a:off x="1639957" y="187849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245" name="Google Shape;245;p10"/>
          <p:cNvGraphicFramePr/>
          <p:nvPr/>
        </p:nvGraphicFramePr>
        <p:xfrm>
          <a:off x="105774" y="1091250"/>
          <a:ext cx="3000000" cy="3000000"/>
        </p:xfrm>
        <a:graphic>
          <a:graphicData uri="http://schemas.openxmlformats.org/drawingml/2006/table">
            <a:tbl>
              <a:tblPr>
                <a:noFill/>
                <a:tableStyleId>{7FB5C040-EF74-47EC-8CDE-39956F763B1A}</a:tableStyleId>
              </a:tblPr>
              <a:tblGrid>
                <a:gridCol w="1830300">
                  <a:extLst>
                    <a:ext uri="{9D8B030D-6E8A-4147-A177-3AD203B41FA5}">
                      <a16:colId xmlns:a16="http://schemas.microsoft.com/office/drawing/2014/main" val="20000"/>
                    </a:ext>
                  </a:extLst>
                </a:gridCol>
                <a:gridCol w="5074575">
                  <a:extLst>
                    <a:ext uri="{9D8B030D-6E8A-4147-A177-3AD203B41FA5}">
                      <a16:colId xmlns:a16="http://schemas.microsoft.com/office/drawing/2014/main" val="20001"/>
                    </a:ext>
                  </a:extLst>
                </a:gridCol>
                <a:gridCol w="675850">
                  <a:extLst>
                    <a:ext uri="{9D8B030D-6E8A-4147-A177-3AD203B41FA5}">
                      <a16:colId xmlns:a16="http://schemas.microsoft.com/office/drawing/2014/main" val="20002"/>
                    </a:ext>
                  </a:extLst>
                </a:gridCol>
                <a:gridCol w="606275">
                  <a:extLst>
                    <a:ext uri="{9D8B030D-6E8A-4147-A177-3AD203B41FA5}">
                      <a16:colId xmlns:a16="http://schemas.microsoft.com/office/drawing/2014/main" val="20003"/>
                    </a:ext>
                  </a:extLst>
                </a:gridCol>
                <a:gridCol w="745425">
                  <a:extLst>
                    <a:ext uri="{9D8B030D-6E8A-4147-A177-3AD203B41FA5}">
                      <a16:colId xmlns:a16="http://schemas.microsoft.com/office/drawing/2014/main" val="20004"/>
                    </a:ext>
                  </a:extLst>
                </a:gridCol>
              </a:tblGrid>
              <a:tr h="304875">
                <a:tc>
                  <a:txBody>
                    <a:bodyPr/>
                    <a:lstStyle/>
                    <a:p>
                      <a:pPr marL="0" marR="0" lvl="0" indent="0" algn="ctr" rtl="0">
                        <a:spcBef>
                          <a:spcPts val="0"/>
                        </a:spcBef>
                        <a:spcAft>
                          <a:spcPts val="0"/>
                        </a:spcAft>
                        <a:buNone/>
                      </a:pPr>
                      <a:r>
                        <a:rPr lang="en-GB" sz="1600" b="1">
                          <a:solidFill>
                            <a:schemeClr val="dk1"/>
                          </a:solidFill>
                          <a:latin typeface="Calibri"/>
                          <a:ea typeface="Calibri"/>
                          <a:cs typeface="Calibri"/>
                          <a:sym typeface="Calibri"/>
                        </a:rPr>
                        <a:t>Cell part</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600" b="1">
                          <a:solidFill>
                            <a:schemeClr val="dk1"/>
                          </a:solidFill>
                          <a:latin typeface="Calibri"/>
                          <a:ea typeface="Calibri"/>
                          <a:cs typeface="Calibri"/>
                          <a:sym typeface="Calibri"/>
                        </a:rPr>
                        <a:t>Function</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Animal</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Plant</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Bacteria</a:t>
                      </a:r>
                      <a:endParaRPr/>
                    </a:p>
                  </a:txBody>
                  <a:tcPr marL="91450" marR="91450" marT="45725" marB="45725" anchor="ctr">
                    <a:solidFill>
                      <a:srgbClr val="FABF8E"/>
                    </a:solidFill>
                  </a:tcPr>
                </a:tc>
                <a:extLst>
                  <a:ext uri="{0D108BD9-81ED-4DB2-BD59-A6C34878D82A}">
                    <a16:rowId xmlns:a16="http://schemas.microsoft.com/office/drawing/2014/main" val="10000"/>
                  </a:ext>
                </a:extLst>
              </a:tr>
              <a:tr h="495475">
                <a:tc>
                  <a:txBody>
                    <a:bodyPr/>
                    <a:lstStyle/>
                    <a:p>
                      <a:pPr marL="0" marR="0" lvl="0" indent="0" algn="ctr" rtl="0">
                        <a:spcBef>
                          <a:spcPts val="0"/>
                        </a:spcBef>
                        <a:spcAft>
                          <a:spcPts val="0"/>
                        </a:spcAft>
                        <a:buNone/>
                      </a:pP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Contains genetic material, which controls the activities of the cell</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1"/>
                  </a:ext>
                </a:extLst>
              </a:tr>
              <a:tr h="495475">
                <a:tc>
                  <a:txBody>
                    <a:bodyPr/>
                    <a:lstStyle/>
                    <a:p>
                      <a:pPr marL="0" marR="0" lvl="0" indent="0" algn="ctr" rtl="0">
                        <a:spcBef>
                          <a:spcPts val="0"/>
                        </a:spcBef>
                        <a:spcAft>
                          <a:spcPts val="0"/>
                        </a:spcAft>
                        <a:buNone/>
                      </a:pPr>
                      <a:r>
                        <a:rPr lang="en-GB" sz="1600" b="1">
                          <a:latin typeface="Calibri"/>
                          <a:ea typeface="Calibri"/>
                          <a:cs typeface="Calibri"/>
                          <a:sym typeface="Calibri"/>
                        </a:rPr>
                        <a:t>Cytoplasm</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2"/>
                  </a:ext>
                </a:extLst>
              </a:tr>
              <a:tr h="495475">
                <a:tc>
                  <a:txBody>
                    <a:bodyPr/>
                    <a:lstStyle/>
                    <a:p>
                      <a:pPr marL="0" marR="0" lvl="0" indent="0" algn="ctr" rtl="0">
                        <a:spcBef>
                          <a:spcPts val="0"/>
                        </a:spcBef>
                        <a:spcAft>
                          <a:spcPts val="0"/>
                        </a:spcAft>
                        <a:buNone/>
                      </a:pP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Controls the movement of substances into and out of the cell</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3"/>
                  </a:ext>
                </a:extLst>
              </a:tr>
              <a:tr h="495475">
                <a:tc>
                  <a:txBody>
                    <a:bodyPr/>
                    <a:lstStyle/>
                    <a:p>
                      <a:pPr marL="0" marR="0" lvl="0" indent="0" algn="ctr" rtl="0">
                        <a:spcBef>
                          <a:spcPts val="0"/>
                        </a:spcBef>
                        <a:spcAft>
                          <a:spcPts val="0"/>
                        </a:spcAft>
                        <a:buNone/>
                      </a:pP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Most energy is released by respiration here</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4"/>
                  </a:ext>
                </a:extLst>
              </a:tr>
              <a:tr h="495475">
                <a:tc>
                  <a:txBody>
                    <a:bodyPr/>
                    <a:lstStyle/>
                    <a:p>
                      <a:pPr marL="0" marR="0" lvl="0" indent="0" algn="ctr" rtl="0">
                        <a:spcBef>
                          <a:spcPts val="0"/>
                        </a:spcBef>
                        <a:spcAft>
                          <a:spcPts val="0"/>
                        </a:spcAft>
                        <a:buNone/>
                      </a:pPr>
                      <a:r>
                        <a:rPr lang="en-GB" sz="1600" b="1">
                          <a:latin typeface="Calibri"/>
                          <a:ea typeface="Calibri"/>
                          <a:cs typeface="Calibri"/>
                          <a:sym typeface="Calibri"/>
                        </a:rPr>
                        <a:t>Ribosomes</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latin typeface="Calibri"/>
                          <a:ea typeface="Calibri"/>
                          <a:cs typeface="Calibri"/>
                          <a:sym typeface="Calibri"/>
                        </a:rPr>
                        <a:t>Protein synthesis happens here</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5"/>
                  </a:ext>
                </a:extLst>
              </a:tr>
              <a:tr h="495475">
                <a:tc>
                  <a:txBody>
                    <a:bodyPr/>
                    <a:lstStyle/>
                    <a:p>
                      <a:pPr marL="0" marR="0" lvl="0" indent="0" algn="ctr" rtl="0">
                        <a:spcBef>
                          <a:spcPts val="0"/>
                        </a:spcBef>
                        <a:spcAft>
                          <a:spcPts val="0"/>
                        </a:spcAft>
                        <a:buNone/>
                      </a:pP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Strengthens the cell – made of cellulose </a:t>
                      </a:r>
                      <a:endParaRPr/>
                    </a:p>
                  </a:txBody>
                  <a:tcPr marL="91450" marR="91450" marT="45725" marB="45725" anchor="ctr"/>
                </a:tc>
                <a:tc>
                  <a:txBody>
                    <a:bodyPr/>
                    <a:lstStyle/>
                    <a:p>
                      <a:pPr marL="0" marR="0" lvl="0" indent="0" algn="ctr" rtl="0">
                        <a:spcBef>
                          <a:spcPts val="0"/>
                        </a:spcBef>
                        <a:spcAft>
                          <a:spcPts val="0"/>
                        </a:spcAft>
                        <a:buNone/>
                      </a:pPr>
                      <a:endParaRPr sz="11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6"/>
                  </a:ext>
                </a:extLst>
              </a:tr>
              <a:tr h="495475">
                <a:tc>
                  <a:txBody>
                    <a:bodyPr/>
                    <a:lstStyle/>
                    <a:p>
                      <a:pPr marL="0" marR="0" lvl="0" indent="0" algn="ctr" rtl="0">
                        <a:spcBef>
                          <a:spcPts val="0"/>
                        </a:spcBef>
                        <a:spcAft>
                          <a:spcPts val="0"/>
                        </a:spcAft>
                        <a:buNone/>
                      </a:pPr>
                      <a:r>
                        <a:rPr lang="en-GB" sz="1600" b="1">
                          <a:solidFill>
                            <a:schemeClr val="dk1"/>
                          </a:solidFill>
                          <a:latin typeface="Calibri"/>
                          <a:ea typeface="Calibri"/>
                          <a:cs typeface="Calibri"/>
                          <a:sym typeface="Calibri"/>
                        </a:rPr>
                        <a:t>Chloroplasts</a:t>
                      </a:r>
                      <a:endParaRPr/>
                    </a:p>
                  </a:txBody>
                  <a:tcPr marL="91450" marR="91450" marT="45725" marB="45725" anchor="ctr"/>
                </a:tc>
                <a:tc>
                  <a:txBody>
                    <a:bodyPr/>
                    <a:lstStyle/>
                    <a:p>
                      <a:pPr marL="0" marR="0" lvl="0" indent="0" algn="l" rtl="0">
                        <a:spcBef>
                          <a:spcPts val="0"/>
                        </a:spcBef>
                        <a:spcAft>
                          <a:spcPts val="0"/>
                        </a:spcAft>
                        <a:buNone/>
                      </a:pP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1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7"/>
                  </a:ext>
                </a:extLst>
              </a:tr>
              <a:tr h="495475">
                <a:tc>
                  <a:txBody>
                    <a:bodyPr/>
                    <a:lstStyle/>
                    <a:p>
                      <a:pPr marL="0" marR="0" lvl="0" indent="0" algn="ctr" rtl="0">
                        <a:spcBef>
                          <a:spcPts val="0"/>
                        </a:spcBef>
                        <a:spcAft>
                          <a:spcPts val="0"/>
                        </a:spcAft>
                        <a:buNone/>
                      </a:pP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Filled with cell sap to help keep the cell turgid</a:t>
                      </a:r>
                      <a:endParaRPr/>
                    </a:p>
                  </a:txBody>
                  <a:tcPr marL="91450" marR="91450" marT="45725" marB="45725" anchor="ctr"/>
                </a:tc>
                <a:tc>
                  <a:txBody>
                    <a:bodyPr/>
                    <a:lstStyle/>
                    <a:p>
                      <a:pPr marL="0" marR="0" lvl="0" indent="0" algn="ctr" rtl="0">
                        <a:spcBef>
                          <a:spcPts val="0"/>
                        </a:spcBef>
                        <a:spcAft>
                          <a:spcPts val="0"/>
                        </a:spcAft>
                        <a:buNone/>
                      </a:pPr>
                      <a:endParaRPr sz="11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8"/>
                  </a:ext>
                </a:extLst>
              </a:tr>
              <a:tr h="495475">
                <a:tc>
                  <a:txBody>
                    <a:bodyPr/>
                    <a:lstStyle/>
                    <a:p>
                      <a:pPr marL="0" marR="0" lvl="0" indent="0" algn="ctr" rtl="0">
                        <a:spcBef>
                          <a:spcPts val="0"/>
                        </a:spcBef>
                        <a:spcAft>
                          <a:spcPts val="0"/>
                        </a:spcAft>
                        <a:buNone/>
                      </a:pP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Loop of DNA NOT found in a nucleus</a:t>
                      </a: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1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9"/>
                  </a:ext>
                </a:extLst>
              </a:tr>
              <a:tr h="495475">
                <a:tc>
                  <a:txBody>
                    <a:bodyPr/>
                    <a:lstStyle/>
                    <a:p>
                      <a:pPr marL="0" marR="0" lvl="0" indent="0" algn="ctr" rtl="0">
                        <a:spcBef>
                          <a:spcPts val="0"/>
                        </a:spcBef>
                        <a:spcAft>
                          <a:spcPts val="0"/>
                        </a:spcAft>
                        <a:buNone/>
                      </a:pPr>
                      <a:r>
                        <a:rPr lang="en-GB" sz="1600" b="1">
                          <a:solidFill>
                            <a:schemeClr val="dk1"/>
                          </a:solidFill>
                          <a:latin typeface="Calibri"/>
                          <a:ea typeface="Calibri"/>
                          <a:cs typeface="Calibri"/>
                          <a:sym typeface="Calibri"/>
                        </a:rPr>
                        <a:t>Plasmid (DNA)</a:t>
                      </a: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endParaRPr sz="14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1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000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1"/>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52" name="Google Shape;252;p11"/>
          <p:cNvSpPr txBox="1"/>
          <p:nvPr/>
        </p:nvSpPr>
        <p:spPr>
          <a:xfrm>
            <a:off x="0" y="980728"/>
            <a:ext cx="4716016" cy="4955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AnswerIT!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Part 1 </a:t>
            </a:r>
            <a:endParaRPr/>
          </a:p>
          <a:p>
            <a:pPr marL="0" marR="0" lvl="0" indent="0" algn="l" rtl="0">
              <a:spcBef>
                <a:spcPts val="0"/>
              </a:spcBef>
              <a:spcAft>
                <a:spcPts val="0"/>
              </a:spcAft>
              <a:buNone/>
            </a:pPr>
            <a:endParaRPr sz="28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Eukaryotes and prokaryotes</a:t>
            </a:r>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Animal and plant cells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53" name="Google Shape;253;p11"/>
          <p:cNvPicPr preferRelativeResize="0"/>
          <p:nvPr/>
        </p:nvPicPr>
        <p:blipFill rotWithShape="1">
          <a:blip r:embed="rId3">
            <a:alphaModFix/>
          </a:blip>
          <a:srcRect/>
          <a:stretch/>
        </p:blipFill>
        <p:spPr>
          <a:xfrm>
            <a:off x="4139952" y="704918"/>
            <a:ext cx="4824536" cy="5257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2"/>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a:solidFill>
                  <a:schemeClr val="dk1"/>
                </a:solidFill>
                <a:latin typeface="Calibri"/>
                <a:ea typeface="Calibri"/>
                <a:cs typeface="Calibri"/>
                <a:sym typeface="Calibri"/>
              </a:rPr>
              <a:t>AnswerIT</a:t>
            </a:r>
            <a:endParaRPr sz="2400" b="1" i="0" u="none" strike="noStrike" cap="none">
              <a:solidFill>
                <a:schemeClr val="dk1"/>
              </a:solidFill>
              <a:latin typeface="Calibri"/>
              <a:ea typeface="Calibri"/>
              <a:cs typeface="Calibri"/>
              <a:sym typeface="Calibri"/>
            </a:endParaRPr>
          </a:p>
        </p:txBody>
      </p:sp>
      <p:sp>
        <p:nvSpPr>
          <p:cNvPr id="259" name="Google Shape;259;p12"/>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60" name="Google Shape;260;p12"/>
          <p:cNvSpPr txBox="1"/>
          <p:nvPr/>
        </p:nvSpPr>
        <p:spPr>
          <a:xfrm>
            <a:off x="149087" y="661123"/>
            <a:ext cx="8915400" cy="6186309"/>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Where is the genetic material in a prokaryotic cell?</a:t>
            </a:r>
            <a:endParaRPr/>
          </a:p>
          <a:p>
            <a:pPr marL="0" marR="0" lvl="0" indent="0" algn="l" rtl="0">
              <a:lnSpc>
                <a:spcPct val="150000"/>
              </a:lnSpc>
              <a:spcBef>
                <a:spcPts val="0"/>
              </a:spcBef>
              <a:spcAft>
                <a:spcPts val="0"/>
              </a:spcAft>
              <a:buNone/>
            </a:pPr>
            <a:r>
              <a:rPr lang="en-GB" sz="2400" b="1">
                <a:solidFill>
                  <a:srgbClr val="00B050"/>
                </a:solidFill>
                <a:latin typeface="Calibri"/>
                <a:ea typeface="Calibri"/>
                <a:cs typeface="Calibri"/>
                <a:sym typeface="Calibri"/>
              </a:rPr>
              <a:t>In a bacterial DNA loop and there may be one or more plasmid rings.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2. Where is the genetic material in a eukaryotic cell?</a:t>
            </a:r>
            <a:endParaRPr/>
          </a:p>
          <a:p>
            <a:pPr marL="0" marR="0" lvl="0" indent="0" algn="l" rtl="0">
              <a:lnSpc>
                <a:spcPct val="150000"/>
              </a:lnSpc>
              <a:spcBef>
                <a:spcPts val="0"/>
              </a:spcBef>
              <a:spcAft>
                <a:spcPts val="0"/>
              </a:spcAft>
              <a:buNone/>
            </a:pPr>
            <a:r>
              <a:rPr lang="en-GB" sz="2400" b="1">
                <a:solidFill>
                  <a:srgbClr val="00B050"/>
                </a:solidFill>
                <a:latin typeface="Calibri"/>
                <a:ea typeface="Calibri"/>
                <a:cs typeface="Calibri"/>
                <a:sym typeface="Calibri"/>
              </a:rPr>
              <a:t>The DNA is in chromosomes enclosed in a nucleus. </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3. Copy and complete the table.</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1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4. Why do scientists use prefixes?</a:t>
            </a:r>
            <a:endParaRPr sz="16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GB" sz="2400" b="1">
                <a:solidFill>
                  <a:srgbClr val="00B050"/>
                </a:solidFill>
                <a:latin typeface="Calibri"/>
                <a:ea typeface="Calibri"/>
                <a:cs typeface="Calibri"/>
                <a:sym typeface="Calibri"/>
              </a:rPr>
              <a:t>To make very small numbers more manageable</a:t>
            </a:r>
            <a:endParaRPr sz="2000">
              <a:solidFill>
                <a:srgbClr val="00B050"/>
              </a:solidFill>
              <a:latin typeface="Calibri"/>
              <a:ea typeface="Calibri"/>
              <a:cs typeface="Calibri"/>
              <a:sym typeface="Calibri"/>
            </a:endParaRPr>
          </a:p>
        </p:txBody>
      </p:sp>
      <p:graphicFrame>
        <p:nvGraphicFramePr>
          <p:cNvPr id="261" name="Google Shape;261;p12"/>
          <p:cNvGraphicFramePr/>
          <p:nvPr/>
        </p:nvGraphicFramePr>
        <p:xfrm>
          <a:off x="1331640" y="3458288"/>
          <a:ext cx="3000000" cy="3000000"/>
        </p:xfrm>
        <a:graphic>
          <a:graphicData uri="http://schemas.openxmlformats.org/drawingml/2006/table">
            <a:tbl>
              <a:tblPr firstRow="1" bandRow="1">
                <a:noFill/>
                <a:tableStyleId>{7FB5C040-EF74-47EC-8CDE-39956F763B1A}</a:tableStyleId>
              </a:tblPr>
              <a:tblGrid>
                <a:gridCol w="1436050">
                  <a:extLst>
                    <a:ext uri="{9D8B030D-6E8A-4147-A177-3AD203B41FA5}">
                      <a16:colId xmlns:a16="http://schemas.microsoft.com/office/drawing/2014/main" val="20000"/>
                    </a:ext>
                  </a:extLst>
                </a:gridCol>
                <a:gridCol w="2580650">
                  <a:extLst>
                    <a:ext uri="{9D8B030D-6E8A-4147-A177-3AD203B41FA5}">
                      <a16:colId xmlns:a16="http://schemas.microsoft.com/office/drawing/2014/main" val="20001"/>
                    </a:ext>
                  </a:extLst>
                </a:gridCol>
                <a:gridCol w="15958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GB" sz="1800"/>
                        <a:t>Prefix</a:t>
                      </a:r>
                      <a:endParaRPr/>
                    </a:p>
                  </a:txBody>
                  <a:tcPr marL="91450" marR="91450" marT="45725" marB="45725">
                    <a:solidFill>
                      <a:srgbClr val="E36C09"/>
                    </a:solidFill>
                  </a:tcPr>
                </a:tc>
                <a:tc>
                  <a:txBody>
                    <a:bodyPr/>
                    <a:lstStyle/>
                    <a:p>
                      <a:pPr marL="0" marR="0" lvl="0" indent="0" algn="l" rtl="0">
                        <a:spcBef>
                          <a:spcPts val="0"/>
                        </a:spcBef>
                        <a:spcAft>
                          <a:spcPts val="0"/>
                        </a:spcAft>
                        <a:buNone/>
                      </a:pPr>
                      <a:r>
                        <a:rPr lang="en-GB" sz="1800"/>
                        <a:t>Multiple </a:t>
                      </a:r>
                      <a:endParaRPr sz="1800"/>
                    </a:p>
                  </a:txBody>
                  <a:tcPr marL="91450" marR="91450" marT="45725" marB="45725">
                    <a:solidFill>
                      <a:srgbClr val="E36C09"/>
                    </a:solidFill>
                  </a:tcPr>
                </a:tc>
                <a:tc>
                  <a:txBody>
                    <a:bodyPr/>
                    <a:lstStyle/>
                    <a:p>
                      <a:pPr marL="0" marR="0" lvl="0" indent="0" algn="l" rtl="0">
                        <a:spcBef>
                          <a:spcPts val="0"/>
                        </a:spcBef>
                        <a:spcAft>
                          <a:spcPts val="0"/>
                        </a:spcAft>
                        <a:buNone/>
                      </a:pPr>
                      <a:r>
                        <a:rPr lang="en-GB" sz="1800"/>
                        <a:t>Standard form</a:t>
                      </a:r>
                      <a:endParaRPr/>
                    </a:p>
                  </a:txBody>
                  <a:tcPr marL="91450" marR="91450" marT="45725" marB="45725">
                    <a:solidFill>
                      <a:srgbClr val="E36C09"/>
                    </a:solidFill>
                  </a:tcPr>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GB" sz="2000" b="1"/>
                        <a:t>centi  (cm) </a:t>
                      </a:r>
                      <a:endParaRPr sz="2000" b="1"/>
                    </a:p>
                  </a:txBody>
                  <a:tcPr marL="91450" marR="91450" marT="45725" marB="45725"/>
                </a:tc>
                <a:tc>
                  <a:txBody>
                    <a:bodyPr/>
                    <a:lstStyle/>
                    <a:p>
                      <a:pPr marL="0" marR="0" lvl="0" indent="0" algn="ctr" rtl="0">
                        <a:spcBef>
                          <a:spcPts val="0"/>
                        </a:spcBef>
                        <a:spcAft>
                          <a:spcPts val="0"/>
                        </a:spcAft>
                        <a:buNone/>
                      </a:pPr>
                      <a:r>
                        <a:rPr lang="en-GB" sz="1900" b="1">
                          <a:solidFill>
                            <a:srgbClr val="00B050"/>
                          </a:solidFill>
                        </a:rPr>
                        <a:t>1 cm = 0.01 m</a:t>
                      </a:r>
                      <a:endParaRPr/>
                    </a:p>
                  </a:txBody>
                  <a:tcPr marL="91450" marR="91450" marT="45725" marB="45725"/>
                </a:tc>
                <a:tc>
                  <a:txBody>
                    <a:bodyPr/>
                    <a:lstStyle/>
                    <a:p>
                      <a:pPr marL="0" marR="0" lvl="0" indent="0" algn="ctr" rtl="0">
                        <a:spcBef>
                          <a:spcPts val="0"/>
                        </a:spcBef>
                        <a:spcAft>
                          <a:spcPts val="0"/>
                        </a:spcAft>
                        <a:buNone/>
                      </a:pPr>
                      <a:r>
                        <a:rPr lang="en-GB" sz="2000"/>
                        <a:t>x 10 </a:t>
                      </a:r>
                      <a:r>
                        <a:rPr lang="en-GB" sz="2000" baseline="30000"/>
                        <a:t>-2</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GB" sz="2000" b="1">
                          <a:solidFill>
                            <a:srgbClr val="00B050"/>
                          </a:solidFill>
                        </a:rPr>
                        <a:t>milli (mm)</a:t>
                      </a:r>
                      <a:endParaRPr/>
                    </a:p>
                  </a:txBody>
                  <a:tcPr marL="91450" marR="91450" marT="45725" marB="45725"/>
                </a:tc>
                <a:tc>
                  <a:txBody>
                    <a:bodyPr/>
                    <a:lstStyle/>
                    <a:p>
                      <a:pPr marL="0" marR="0" lvl="0" indent="0" algn="ctr" rtl="0">
                        <a:spcBef>
                          <a:spcPts val="0"/>
                        </a:spcBef>
                        <a:spcAft>
                          <a:spcPts val="0"/>
                        </a:spcAft>
                        <a:buNone/>
                      </a:pPr>
                      <a:r>
                        <a:rPr lang="en-GB" sz="1900"/>
                        <a:t>1 mm = 0.001 m</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Calibri"/>
                        <a:buNone/>
                      </a:pPr>
                      <a:r>
                        <a:rPr lang="en-GB" sz="2000"/>
                        <a:t>x 10 </a:t>
                      </a:r>
                      <a:r>
                        <a:rPr lang="en-GB" sz="2000" baseline="30000"/>
                        <a:t>-3</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GB" sz="2000" b="1"/>
                        <a:t>micro (𝛍m)</a:t>
                      </a:r>
                      <a:endParaRPr/>
                    </a:p>
                  </a:txBody>
                  <a:tcPr marL="91450" marR="91450" marT="45725" marB="45725"/>
                </a:tc>
                <a:tc>
                  <a:txBody>
                    <a:bodyPr/>
                    <a:lstStyle/>
                    <a:p>
                      <a:pPr marL="0" marR="0" lvl="0" indent="0" algn="ctr" rtl="0">
                        <a:spcBef>
                          <a:spcPts val="0"/>
                        </a:spcBef>
                        <a:spcAft>
                          <a:spcPts val="0"/>
                        </a:spcAft>
                        <a:buNone/>
                      </a:pPr>
                      <a:r>
                        <a:rPr lang="en-GB" sz="1900"/>
                        <a:t>1 </a:t>
                      </a:r>
                      <a:r>
                        <a:rPr lang="en-GB" sz="1900" b="0"/>
                        <a:t>𝛍m </a:t>
                      </a:r>
                      <a:r>
                        <a:rPr lang="en-GB" sz="1900" b="1"/>
                        <a:t>= </a:t>
                      </a:r>
                      <a:r>
                        <a:rPr lang="en-GB" sz="1900"/>
                        <a:t>0.000 001 m</a:t>
                      </a:r>
                      <a:endParaRPr/>
                    </a:p>
                  </a:txBody>
                  <a:tcPr marL="91450" marR="91450" marT="45725" marB="45725"/>
                </a:tc>
                <a:tc>
                  <a:txBody>
                    <a:bodyPr/>
                    <a:lstStyle/>
                    <a:p>
                      <a:pPr marL="0" marR="0" lvl="0" indent="0" algn="ctr" rtl="0">
                        <a:lnSpc>
                          <a:spcPct val="100000"/>
                        </a:lnSpc>
                        <a:spcBef>
                          <a:spcPts val="0"/>
                        </a:spcBef>
                        <a:spcAft>
                          <a:spcPts val="0"/>
                        </a:spcAft>
                        <a:buClr>
                          <a:srgbClr val="00B050"/>
                        </a:buClr>
                        <a:buSzPts val="2000"/>
                        <a:buFont typeface="Calibri"/>
                        <a:buNone/>
                      </a:pPr>
                      <a:r>
                        <a:rPr lang="en-GB" sz="2000" b="1">
                          <a:solidFill>
                            <a:srgbClr val="00B050"/>
                          </a:solidFill>
                        </a:rPr>
                        <a:t>x 10 </a:t>
                      </a:r>
                      <a:r>
                        <a:rPr lang="en-GB" sz="2000" b="1" baseline="30000">
                          <a:solidFill>
                            <a:srgbClr val="00B050"/>
                          </a:solidFill>
                        </a:rPr>
                        <a:t>-6</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GB" sz="2000" b="1"/>
                        <a:t>nano (nm)</a:t>
                      </a:r>
                      <a:endParaRPr/>
                    </a:p>
                  </a:txBody>
                  <a:tcPr marL="91450" marR="91450" marT="45725" marB="45725"/>
                </a:tc>
                <a:tc>
                  <a:txBody>
                    <a:bodyPr/>
                    <a:lstStyle/>
                    <a:p>
                      <a:pPr marL="0" marR="0" lvl="0" indent="0" algn="ctr" rtl="0">
                        <a:spcBef>
                          <a:spcPts val="0"/>
                        </a:spcBef>
                        <a:spcAft>
                          <a:spcPts val="0"/>
                        </a:spcAft>
                        <a:buNone/>
                      </a:pPr>
                      <a:r>
                        <a:rPr lang="en-GB" sz="1900" b="1">
                          <a:solidFill>
                            <a:srgbClr val="00B050"/>
                          </a:solidFill>
                        </a:rPr>
                        <a:t>1 nm = 0.000 000 001 m</a:t>
                      </a:r>
                      <a:endParaRPr sz="1900" b="1">
                        <a:solidFill>
                          <a:srgbClr val="00B050"/>
                        </a:solidFill>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Calibri"/>
                        <a:buNone/>
                      </a:pPr>
                      <a:r>
                        <a:rPr lang="en-GB" sz="2000"/>
                        <a:t>x 10 </a:t>
                      </a:r>
                      <a:r>
                        <a:rPr lang="en-GB" sz="2000" baseline="30000"/>
                        <a:t>-9</a:t>
                      </a: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3"/>
          <p:cNvSpPr txBox="1">
            <a:spLocks noGrp="1"/>
          </p:cNvSpPr>
          <p:nvPr>
            <p:ph type="ctrTitle"/>
          </p:nvPr>
        </p:nvSpPr>
        <p:spPr>
          <a:xfrm>
            <a:off x="1353855" y="-169381"/>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a:solidFill>
                  <a:schemeClr val="dk1"/>
                </a:solidFill>
                <a:latin typeface="Calibri"/>
                <a:ea typeface="Calibri"/>
                <a:cs typeface="Calibri"/>
                <a:sym typeface="Calibri"/>
              </a:rPr>
              <a:t>AnswerIT</a:t>
            </a:r>
            <a:endParaRPr sz="2400" b="1" i="0" u="none" strike="noStrike" cap="none">
              <a:solidFill>
                <a:schemeClr val="dk1"/>
              </a:solidFill>
              <a:latin typeface="Calibri"/>
              <a:ea typeface="Calibri"/>
              <a:cs typeface="Calibri"/>
              <a:sym typeface="Calibri"/>
            </a:endParaRPr>
          </a:p>
        </p:txBody>
      </p:sp>
      <p:sp>
        <p:nvSpPr>
          <p:cNvPr id="267" name="Google Shape;267;p13"/>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68" name="Google Shape;268;p13"/>
          <p:cNvSpPr txBox="1"/>
          <p:nvPr/>
        </p:nvSpPr>
        <p:spPr>
          <a:xfrm>
            <a:off x="0" y="582329"/>
            <a:ext cx="9180921" cy="89255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5. </a:t>
            </a:r>
            <a:r>
              <a:rPr lang="en-GB" sz="2000">
                <a:solidFill>
                  <a:schemeClr val="dk1"/>
                </a:solidFill>
                <a:latin typeface="Calibri"/>
                <a:ea typeface="Calibri"/>
                <a:cs typeface="Calibri"/>
                <a:sym typeface="Calibri"/>
              </a:rPr>
              <a:t>Name the structures </a:t>
            </a:r>
            <a:r>
              <a:rPr lang="en-GB" sz="2000" b="1">
                <a:solidFill>
                  <a:schemeClr val="dk1"/>
                </a:solidFill>
                <a:latin typeface="Calibri"/>
                <a:ea typeface="Calibri"/>
                <a:cs typeface="Calibri"/>
                <a:sym typeface="Calibri"/>
              </a:rPr>
              <a:t>A to L </a:t>
            </a:r>
            <a:r>
              <a:rPr lang="en-GB" sz="2000">
                <a:solidFill>
                  <a:schemeClr val="dk1"/>
                </a:solidFill>
                <a:latin typeface="Calibri"/>
                <a:ea typeface="Calibri"/>
                <a:cs typeface="Calibri"/>
                <a:sym typeface="Calibri"/>
              </a:rPr>
              <a:t>on the diagrams below and label cells 1, 2 and 3.</a:t>
            </a:r>
            <a:endParaRPr sz="1600">
              <a:solidFill>
                <a:schemeClr val="dk1"/>
              </a:solidFill>
              <a:latin typeface="Calibri"/>
              <a:ea typeface="Calibri"/>
              <a:cs typeface="Calibri"/>
              <a:sym typeface="Calibri"/>
            </a:endParaRPr>
          </a:p>
          <a:p>
            <a:pPr marL="342900" marR="0" lvl="0" indent="-24130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pic>
        <p:nvPicPr>
          <p:cNvPr id="269" name="Google Shape;269;p13"/>
          <p:cNvPicPr preferRelativeResize="0"/>
          <p:nvPr/>
        </p:nvPicPr>
        <p:blipFill rotWithShape="1">
          <a:blip r:embed="rId3">
            <a:alphaModFix/>
          </a:blip>
          <a:srcRect/>
          <a:stretch/>
        </p:blipFill>
        <p:spPr>
          <a:xfrm>
            <a:off x="899592" y="1124744"/>
            <a:ext cx="6800817" cy="5400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4"/>
          <p:cNvSpPr txBox="1">
            <a:spLocks noGrp="1"/>
          </p:cNvSpPr>
          <p:nvPr>
            <p:ph type="ctrTitle"/>
          </p:nvPr>
        </p:nvSpPr>
        <p:spPr>
          <a:xfrm>
            <a:off x="1353855" y="-169381"/>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a:solidFill>
                  <a:schemeClr val="dk1"/>
                </a:solidFill>
                <a:latin typeface="Calibri"/>
                <a:ea typeface="Calibri"/>
                <a:cs typeface="Calibri"/>
                <a:sym typeface="Calibri"/>
              </a:rPr>
              <a:t>AnswerIT</a:t>
            </a:r>
            <a:endParaRPr sz="2400" b="1" i="0" u="none" strike="noStrike" cap="none">
              <a:solidFill>
                <a:schemeClr val="dk1"/>
              </a:solidFill>
              <a:latin typeface="Calibri"/>
              <a:ea typeface="Calibri"/>
              <a:cs typeface="Calibri"/>
              <a:sym typeface="Calibri"/>
            </a:endParaRPr>
          </a:p>
        </p:txBody>
      </p:sp>
      <p:sp>
        <p:nvSpPr>
          <p:cNvPr id="275" name="Google Shape;275;p14"/>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76" name="Google Shape;276;p14"/>
          <p:cNvSpPr txBox="1"/>
          <p:nvPr/>
        </p:nvSpPr>
        <p:spPr>
          <a:xfrm>
            <a:off x="0" y="671015"/>
            <a:ext cx="9332843" cy="89255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6. Copy and complete the table and tick the correct column for each one.</a:t>
            </a:r>
            <a:endParaRPr sz="1800">
              <a:solidFill>
                <a:schemeClr val="dk1"/>
              </a:solidFill>
              <a:latin typeface="Calibri"/>
              <a:ea typeface="Calibri"/>
              <a:cs typeface="Calibri"/>
              <a:sym typeface="Calibri"/>
            </a:endParaRPr>
          </a:p>
          <a:p>
            <a:pPr marL="342900" marR="0" lvl="0" indent="-24130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
        <p:nvSpPr>
          <p:cNvPr id="277" name="Google Shape;277;p14"/>
          <p:cNvSpPr txBox="1"/>
          <p:nvPr/>
        </p:nvSpPr>
        <p:spPr>
          <a:xfrm>
            <a:off x="1639957" y="187849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278" name="Google Shape;278;p14"/>
          <p:cNvGraphicFramePr/>
          <p:nvPr/>
        </p:nvGraphicFramePr>
        <p:xfrm>
          <a:off x="149087" y="1266567"/>
          <a:ext cx="3000000" cy="3000000"/>
        </p:xfrm>
        <a:graphic>
          <a:graphicData uri="http://schemas.openxmlformats.org/drawingml/2006/table">
            <a:tbl>
              <a:tblPr>
                <a:noFill/>
                <a:tableStyleId>{7FB5C040-EF74-47EC-8CDE-39956F763B1A}</a:tableStyleId>
              </a:tblPr>
              <a:tblGrid>
                <a:gridCol w="1920300">
                  <a:extLst>
                    <a:ext uri="{9D8B030D-6E8A-4147-A177-3AD203B41FA5}">
                      <a16:colId xmlns:a16="http://schemas.microsoft.com/office/drawing/2014/main" val="20000"/>
                    </a:ext>
                  </a:extLst>
                </a:gridCol>
                <a:gridCol w="4776450">
                  <a:extLst>
                    <a:ext uri="{9D8B030D-6E8A-4147-A177-3AD203B41FA5}">
                      <a16:colId xmlns:a16="http://schemas.microsoft.com/office/drawing/2014/main" val="20001"/>
                    </a:ext>
                  </a:extLst>
                </a:gridCol>
                <a:gridCol w="720075">
                  <a:extLst>
                    <a:ext uri="{9D8B030D-6E8A-4147-A177-3AD203B41FA5}">
                      <a16:colId xmlns:a16="http://schemas.microsoft.com/office/drawing/2014/main" val="20002"/>
                    </a:ext>
                  </a:extLst>
                </a:gridCol>
                <a:gridCol w="720075">
                  <a:extLst>
                    <a:ext uri="{9D8B030D-6E8A-4147-A177-3AD203B41FA5}">
                      <a16:colId xmlns:a16="http://schemas.microsoft.com/office/drawing/2014/main" val="20003"/>
                    </a:ext>
                  </a:extLst>
                </a:gridCol>
                <a:gridCol w="720075">
                  <a:extLst>
                    <a:ext uri="{9D8B030D-6E8A-4147-A177-3AD203B41FA5}">
                      <a16:colId xmlns:a16="http://schemas.microsoft.com/office/drawing/2014/main" val="20004"/>
                    </a:ext>
                  </a:extLst>
                </a:gridCol>
              </a:tblGrid>
              <a:tr h="304850">
                <a:tc>
                  <a:txBody>
                    <a:bodyPr/>
                    <a:lstStyle/>
                    <a:p>
                      <a:pPr marL="0" marR="0" lvl="0" indent="0" algn="ctr" rtl="0">
                        <a:spcBef>
                          <a:spcPts val="0"/>
                        </a:spcBef>
                        <a:spcAft>
                          <a:spcPts val="0"/>
                        </a:spcAft>
                        <a:buNone/>
                      </a:pPr>
                      <a:r>
                        <a:rPr lang="en-GB" sz="1400" b="1">
                          <a:solidFill>
                            <a:schemeClr val="dk1"/>
                          </a:solidFill>
                          <a:latin typeface="Calibri"/>
                          <a:ea typeface="Calibri"/>
                          <a:cs typeface="Calibri"/>
                          <a:sym typeface="Calibri"/>
                        </a:rPr>
                        <a:t>Cell part</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400" b="1">
                          <a:solidFill>
                            <a:schemeClr val="dk1"/>
                          </a:solidFill>
                          <a:latin typeface="Calibri"/>
                          <a:ea typeface="Calibri"/>
                          <a:cs typeface="Calibri"/>
                          <a:sym typeface="Calibri"/>
                        </a:rPr>
                        <a:t>Function</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Animal</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Plant</a:t>
                      </a:r>
                      <a:endParaRPr/>
                    </a:p>
                  </a:txBody>
                  <a:tcPr marL="91450" marR="91450" marT="45725" marB="45725" anchor="ctr">
                    <a:solidFill>
                      <a:srgbClr val="FABF8E"/>
                    </a:solidFill>
                  </a:tcPr>
                </a:tc>
                <a:tc>
                  <a:txBody>
                    <a:bodyPr/>
                    <a:lstStyle/>
                    <a:p>
                      <a:pPr marL="0" marR="0" lvl="0" indent="0" algn="ctr" rtl="0">
                        <a:spcBef>
                          <a:spcPts val="0"/>
                        </a:spcBef>
                        <a:spcAft>
                          <a:spcPts val="0"/>
                        </a:spcAft>
                        <a:buNone/>
                      </a:pPr>
                      <a:r>
                        <a:rPr lang="en-GB" sz="1200" b="1">
                          <a:solidFill>
                            <a:schemeClr val="dk1"/>
                          </a:solidFill>
                          <a:latin typeface="Calibri"/>
                          <a:ea typeface="Calibri"/>
                          <a:cs typeface="Calibri"/>
                          <a:sym typeface="Calibri"/>
                        </a:rPr>
                        <a:t>Bacteria</a:t>
                      </a:r>
                      <a:endParaRPr/>
                    </a:p>
                  </a:txBody>
                  <a:tcPr marL="91450" marR="91450" marT="45725" marB="45725" anchor="ctr">
                    <a:solidFill>
                      <a:srgbClr val="FABF8E"/>
                    </a:solidFill>
                  </a:tcPr>
                </a:tc>
                <a:extLst>
                  <a:ext uri="{0D108BD9-81ED-4DB2-BD59-A6C34878D82A}">
                    <a16:rowId xmlns:a16="http://schemas.microsoft.com/office/drawing/2014/main" val="10000"/>
                  </a:ext>
                </a:extLst>
              </a:tr>
              <a:tr h="544150">
                <a:tc>
                  <a:txBody>
                    <a:bodyPr/>
                    <a:lstStyle/>
                    <a:p>
                      <a:pPr marL="0" marR="0" lvl="0" indent="0" algn="ctr" rtl="0">
                        <a:spcBef>
                          <a:spcPts val="0"/>
                        </a:spcBef>
                        <a:spcAft>
                          <a:spcPts val="0"/>
                        </a:spcAft>
                        <a:buNone/>
                      </a:pPr>
                      <a:r>
                        <a:rPr lang="en-GB" sz="1600" b="1">
                          <a:solidFill>
                            <a:srgbClr val="00B050"/>
                          </a:solidFill>
                          <a:latin typeface="Calibri"/>
                          <a:ea typeface="Calibri"/>
                          <a:cs typeface="Calibri"/>
                          <a:sym typeface="Calibri"/>
                        </a:rPr>
                        <a:t>Nucleus</a:t>
                      </a:r>
                      <a:endParaRPr/>
                    </a:p>
                  </a:txBody>
                  <a:tcPr marL="91450" marR="91450" marT="45725" marB="45725" anchor="ctr"/>
                </a:tc>
                <a:tc>
                  <a:txBody>
                    <a:bodyPr/>
                    <a:lstStyle/>
                    <a:p>
                      <a:pPr marL="0" marR="0" lvl="0" indent="0" algn="l" rtl="0">
                        <a:spcBef>
                          <a:spcPts val="0"/>
                        </a:spcBef>
                        <a:spcAft>
                          <a:spcPts val="0"/>
                        </a:spcAft>
                        <a:buNone/>
                      </a:pPr>
                      <a:r>
                        <a:rPr lang="en-GB" sz="1400" b="1">
                          <a:latin typeface="Calibri"/>
                          <a:ea typeface="Calibri"/>
                          <a:cs typeface="Calibri"/>
                          <a:sym typeface="Calibri"/>
                        </a:rPr>
                        <a:t>Contains genetic material, which controls the activities of the cell</a:t>
                      </a:r>
                      <a:endParaRPr sz="14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B05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1"/>
                  </a:ext>
                </a:extLst>
              </a:tr>
              <a:tr h="544150">
                <a:tc>
                  <a:txBody>
                    <a:bodyPr/>
                    <a:lstStyle/>
                    <a:p>
                      <a:pPr marL="0" marR="0" lvl="0" indent="0" algn="ctr" rtl="0">
                        <a:spcBef>
                          <a:spcPts val="0"/>
                        </a:spcBef>
                        <a:spcAft>
                          <a:spcPts val="0"/>
                        </a:spcAft>
                        <a:buNone/>
                      </a:pPr>
                      <a:r>
                        <a:rPr lang="en-GB" sz="1600" b="1">
                          <a:latin typeface="Calibri"/>
                          <a:ea typeface="Calibri"/>
                          <a:cs typeface="Calibri"/>
                          <a:sym typeface="Calibri"/>
                        </a:rPr>
                        <a:t>Cytoplasm</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400" b="1">
                          <a:solidFill>
                            <a:srgbClr val="00B050"/>
                          </a:solidFill>
                          <a:latin typeface="Calibri"/>
                          <a:ea typeface="Calibri"/>
                          <a:cs typeface="Calibri"/>
                          <a:sym typeface="Calibri"/>
                        </a:rPr>
                        <a:t>Most chemical processes take place here, controlled by enzymes</a:t>
                      </a:r>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rgbClr val="00B050"/>
                        </a:buClr>
                        <a:buSzPts val="1800"/>
                        <a:buFont typeface="Calibri"/>
                        <a:buNone/>
                      </a:pPr>
                      <a:r>
                        <a:rPr lang="en-GB" sz="1800" b="1" i="0" u="none" strike="noStrike" cap="none">
                          <a:solidFill>
                            <a:srgbClr val="00B05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02"/>
                  </a:ext>
                </a:extLst>
              </a:tr>
              <a:tr h="544150">
                <a:tc>
                  <a:txBody>
                    <a:bodyPr/>
                    <a:lstStyle/>
                    <a:p>
                      <a:pPr marL="0" marR="0" lvl="0" indent="0" algn="ctr" rtl="0">
                        <a:spcBef>
                          <a:spcPts val="0"/>
                        </a:spcBef>
                        <a:spcAft>
                          <a:spcPts val="0"/>
                        </a:spcAft>
                        <a:buNone/>
                      </a:pPr>
                      <a:r>
                        <a:rPr lang="en-GB" sz="1600" b="1">
                          <a:solidFill>
                            <a:srgbClr val="00B050"/>
                          </a:solidFill>
                          <a:latin typeface="Calibri"/>
                          <a:ea typeface="Calibri"/>
                          <a:cs typeface="Calibri"/>
                          <a:sym typeface="Calibri"/>
                        </a:rPr>
                        <a:t>Cell membrane</a:t>
                      </a:r>
                      <a:endParaRPr/>
                    </a:p>
                  </a:txBody>
                  <a:tcPr marL="91450" marR="91450" marT="45725" marB="45725" anchor="ctr"/>
                </a:tc>
                <a:tc>
                  <a:txBody>
                    <a:bodyPr/>
                    <a:lstStyle/>
                    <a:p>
                      <a:pPr marL="0" marR="0" lvl="0" indent="0" algn="l" rtl="0">
                        <a:spcBef>
                          <a:spcPts val="0"/>
                        </a:spcBef>
                        <a:spcAft>
                          <a:spcPts val="0"/>
                        </a:spcAft>
                        <a:buNone/>
                      </a:pPr>
                      <a:r>
                        <a:rPr lang="en-GB" sz="1400" b="1">
                          <a:latin typeface="Calibri"/>
                          <a:ea typeface="Calibri"/>
                          <a:cs typeface="Calibri"/>
                          <a:sym typeface="Calibri"/>
                        </a:rPr>
                        <a:t>Controls the movement of substances into and out of the cell</a:t>
                      </a:r>
                      <a:endParaRPr sz="14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rgbClr val="00B050"/>
                        </a:buClr>
                        <a:buSzPts val="1800"/>
                        <a:buFont typeface="Calibri"/>
                        <a:buNone/>
                      </a:pPr>
                      <a:r>
                        <a:rPr lang="en-GB" sz="1800" b="1" i="0" u="none" strike="noStrike" cap="none">
                          <a:solidFill>
                            <a:srgbClr val="00B05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03"/>
                  </a:ext>
                </a:extLst>
              </a:tr>
              <a:tr h="365825">
                <a:tc>
                  <a:txBody>
                    <a:bodyPr/>
                    <a:lstStyle/>
                    <a:p>
                      <a:pPr marL="0" marR="0" lvl="0" indent="0" algn="ctr" rtl="0">
                        <a:spcBef>
                          <a:spcPts val="0"/>
                        </a:spcBef>
                        <a:spcAft>
                          <a:spcPts val="0"/>
                        </a:spcAft>
                        <a:buNone/>
                      </a:pPr>
                      <a:r>
                        <a:rPr lang="en-GB" sz="1600" b="1">
                          <a:solidFill>
                            <a:srgbClr val="00B050"/>
                          </a:solidFill>
                          <a:latin typeface="Calibri"/>
                          <a:ea typeface="Calibri"/>
                          <a:cs typeface="Calibri"/>
                          <a:sym typeface="Calibri"/>
                        </a:rPr>
                        <a:t>Mitochondria</a:t>
                      </a:r>
                      <a:endParaRPr/>
                    </a:p>
                  </a:txBody>
                  <a:tcPr marL="91450" marR="91450" marT="45725" marB="45725" anchor="ctr"/>
                </a:tc>
                <a:tc>
                  <a:txBody>
                    <a:bodyPr/>
                    <a:lstStyle/>
                    <a:p>
                      <a:pPr marL="0" marR="0" lvl="0" indent="0" algn="l" rtl="0">
                        <a:spcBef>
                          <a:spcPts val="0"/>
                        </a:spcBef>
                        <a:spcAft>
                          <a:spcPts val="0"/>
                        </a:spcAft>
                        <a:buNone/>
                      </a:pPr>
                      <a:r>
                        <a:rPr lang="en-GB" sz="1400" b="1">
                          <a:latin typeface="Calibri"/>
                          <a:ea typeface="Calibri"/>
                          <a:cs typeface="Calibri"/>
                          <a:sym typeface="Calibri"/>
                        </a:rPr>
                        <a:t>Most energy is released by respiration here</a:t>
                      </a:r>
                      <a:endParaRPr sz="14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B05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4"/>
                  </a:ext>
                </a:extLst>
              </a:tr>
              <a:tr h="365825">
                <a:tc>
                  <a:txBody>
                    <a:bodyPr/>
                    <a:lstStyle/>
                    <a:p>
                      <a:pPr marL="0" marR="0" lvl="0" indent="0" algn="ctr" rtl="0">
                        <a:spcBef>
                          <a:spcPts val="0"/>
                        </a:spcBef>
                        <a:spcAft>
                          <a:spcPts val="0"/>
                        </a:spcAft>
                        <a:buNone/>
                      </a:pPr>
                      <a:r>
                        <a:rPr lang="en-GB" sz="1600" b="1">
                          <a:latin typeface="Calibri"/>
                          <a:ea typeface="Calibri"/>
                          <a:cs typeface="Calibri"/>
                          <a:sym typeface="Calibri"/>
                        </a:rPr>
                        <a:t>Ribosomes</a:t>
                      </a:r>
                      <a:endParaRPr sz="16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400" b="1">
                          <a:latin typeface="Calibri"/>
                          <a:ea typeface="Calibri"/>
                          <a:cs typeface="Calibri"/>
                          <a:sym typeface="Calibri"/>
                        </a:rPr>
                        <a:t>Protein synthesis happens here</a:t>
                      </a:r>
                      <a:endParaRPr sz="1400" b="1">
                        <a:solidFill>
                          <a:srgbClr val="FFFFFF"/>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B05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5"/>
                  </a:ext>
                </a:extLst>
              </a:tr>
              <a:tr h="544150">
                <a:tc>
                  <a:txBody>
                    <a:bodyPr/>
                    <a:lstStyle/>
                    <a:p>
                      <a:pPr marL="0" marR="0" lvl="0" indent="0" algn="ctr" rtl="0">
                        <a:spcBef>
                          <a:spcPts val="0"/>
                        </a:spcBef>
                        <a:spcAft>
                          <a:spcPts val="0"/>
                        </a:spcAft>
                        <a:buNone/>
                      </a:pPr>
                      <a:r>
                        <a:rPr lang="en-GB" sz="1600" b="1">
                          <a:solidFill>
                            <a:srgbClr val="00B050"/>
                          </a:solidFill>
                          <a:latin typeface="Calibri"/>
                          <a:ea typeface="Calibri"/>
                          <a:cs typeface="Calibri"/>
                          <a:sym typeface="Calibri"/>
                        </a:rPr>
                        <a:t>Cell wall</a:t>
                      </a:r>
                      <a:endParaRPr/>
                    </a:p>
                  </a:txBody>
                  <a:tcPr marL="91450" marR="91450" marT="45725" marB="45725" anchor="ctr"/>
                </a:tc>
                <a:tc>
                  <a:txBody>
                    <a:bodyPr/>
                    <a:lstStyle/>
                    <a:p>
                      <a:pPr marL="0" marR="0" lvl="0" indent="0" algn="l" rtl="0">
                        <a:spcBef>
                          <a:spcPts val="0"/>
                        </a:spcBef>
                        <a:spcAft>
                          <a:spcPts val="0"/>
                        </a:spcAft>
                        <a:buNone/>
                      </a:pPr>
                      <a:r>
                        <a:rPr lang="en-GB" sz="1400" b="1">
                          <a:solidFill>
                            <a:schemeClr val="dk1"/>
                          </a:solidFill>
                          <a:latin typeface="Calibri"/>
                          <a:ea typeface="Calibri"/>
                          <a:cs typeface="Calibri"/>
                          <a:sym typeface="Calibri"/>
                        </a:rPr>
                        <a:t>Strengthens the cell – made of cellulose </a:t>
                      </a:r>
                      <a:endParaRPr/>
                    </a:p>
                  </a:txBody>
                  <a:tcPr marL="91450" marR="91450" marT="45725" marB="45725" anchor="ctr"/>
                </a:tc>
                <a:tc>
                  <a:txBody>
                    <a:bodyPr/>
                    <a:lstStyle/>
                    <a:p>
                      <a:pPr marL="0" marR="0" lvl="0" indent="0" algn="ctr" rtl="0">
                        <a:spcBef>
                          <a:spcPts val="0"/>
                        </a:spcBef>
                        <a:spcAft>
                          <a:spcPts val="0"/>
                        </a:spcAft>
                        <a:buNone/>
                      </a:pPr>
                      <a:endParaRPr sz="1100" b="1">
                        <a:solidFill>
                          <a:srgbClr val="00B050"/>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GB" sz="1800" b="1">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rgbClr val="00B050"/>
                        </a:buClr>
                        <a:buSzPts val="1800"/>
                        <a:buFont typeface="Calibri"/>
                        <a:buNone/>
                      </a:pPr>
                      <a:r>
                        <a:rPr lang="en-GB" sz="1800" b="1" i="0" u="none" strike="noStrike" cap="none">
                          <a:solidFill>
                            <a:srgbClr val="00B05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06"/>
                  </a:ext>
                </a:extLst>
              </a:tr>
              <a:tr h="544150">
                <a:tc>
                  <a:txBody>
                    <a:bodyPr/>
                    <a:lstStyle/>
                    <a:p>
                      <a:pPr marL="0" marR="0" lvl="0" indent="0" algn="ctr" rtl="0">
                        <a:spcBef>
                          <a:spcPts val="0"/>
                        </a:spcBef>
                        <a:spcAft>
                          <a:spcPts val="0"/>
                        </a:spcAft>
                        <a:buNone/>
                      </a:pPr>
                      <a:r>
                        <a:rPr lang="en-GB" sz="1600" b="1">
                          <a:solidFill>
                            <a:schemeClr val="dk1"/>
                          </a:solidFill>
                          <a:latin typeface="Calibri"/>
                          <a:ea typeface="Calibri"/>
                          <a:cs typeface="Calibri"/>
                          <a:sym typeface="Calibri"/>
                        </a:rPr>
                        <a:t>Chloroplasts</a:t>
                      </a:r>
                      <a:endParaRPr/>
                    </a:p>
                  </a:txBody>
                  <a:tcPr marL="91450" marR="91450" marT="45725" marB="45725" anchor="ctr"/>
                </a:tc>
                <a:tc>
                  <a:txBody>
                    <a:bodyPr/>
                    <a:lstStyle/>
                    <a:p>
                      <a:pPr marL="0" marR="0" lvl="0" indent="0" algn="l" rtl="0">
                        <a:spcBef>
                          <a:spcPts val="0"/>
                        </a:spcBef>
                        <a:spcAft>
                          <a:spcPts val="0"/>
                        </a:spcAft>
                        <a:buNone/>
                      </a:pPr>
                      <a:r>
                        <a:rPr lang="en-GB" sz="1400" b="1">
                          <a:solidFill>
                            <a:srgbClr val="00B050"/>
                          </a:solidFill>
                          <a:latin typeface="Calibri"/>
                          <a:ea typeface="Calibri"/>
                          <a:cs typeface="Calibri"/>
                          <a:sym typeface="Calibri"/>
                        </a:rPr>
                        <a:t>Contain chlorophyll, absorbs light energy for photosynthesis</a:t>
                      </a:r>
                      <a:endParaRPr/>
                    </a:p>
                  </a:txBody>
                  <a:tcPr marL="91450" marR="91450" marT="45725" marB="45725" anchor="ctr"/>
                </a:tc>
                <a:tc>
                  <a:txBody>
                    <a:bodyPr/>
                    <a:lstStyle/>
                    <a:p>
                      <a:pPr marL="0" marR="0" lvl="0" indent="0" algn="ctr" rtl="0">
                        <a:spcBef>
                          <a:spcPts val="0"/>
                        </a:spcBef>
                        <a:spcAft>
                          <a:spcPts val="0"/>
                        </a:spcAft>
                        <a:buNone/>
                      </a:pPr>
                      <a:endParaRPr sz="1100" b="1">
                        <a:solidFill>
                          <a:srgbClr val="00B050"/>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rgbClr val="00B050"/>
                        </a:buClr>
                        <a:buSzPts val="1800"/>
                        <a:buFont typeface="Calibri"/>
                        <a:buNone/>
                      </a:pPr>
                      <a:r>
                        <a:rPr lang="en-GB" sz="1800" b="1" i="0" u="none" strike="noStrike" cap="none">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B05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7"/>
                  </a:ext>
                </a:extLst>
              </a:tr>
              <a:tr h="595975">
                <a:tc>
                  <a:txBody>
                    <a:bodyPr/>
                    <a:lstStyle/>
                    <a:p>
                      <a:pPr marL="0" marR="0" lvl="0" indent="0" algn="ctr" rtl="0">
                        <a:spcBef>
                          <a:spcPts val="0"/>
                        </a:spcBef>
                        <a:spcAft>
                          <a:spcPts val="0"/>
                        </a:spcAft>
                        <a:buNone/>
                      </a:pPr>
                      <a:r>
                        <a:rPr lang="en-GB" sz="1600" b="1">
                          <a:solidFill>
                            <a:srgbClr val="00B050"/>
                          </a:solidFill>
                          <a:latin typeface="Calibri"/>
                          <a:ea typeface="Calibri"/>
                          <a:cs typeface="Calibri"/>
                          <a:sym typeface="Calibri"/>
                        </a:rPr>
                        <a:t>Permanent vacuole</a:t>
                      </a:r>
                      <a:endParaRPr/>
                    </a:p>
                  </a:txBody>
                  <a:tcPr marL="91450" marR="91450" marT="45725" marB="45725" anchor="ctr"/>
                </a:tc>
                <a:tc>
                  <a:txBody>
                    <a:bodyPr/>
                    <a:lstStyle/>
                    <a:p>
                      <a:pPr marL="0" marR="0" lvl="0" indent="0" algn="l" rtl="0">
                        <a:spcBef>
                          <a:spcPts val="0"/>
                        </a:spcBef>
                        <a:spcAft>
                          <a:spcPts val="0"/>
                        </a:spcAft>
                        <a:buNone/>
                      </a:pPr>
                      <a:r>
                        <a:rPr lang="en-GB" sz="1400" b="1">
                          <a:solidFill>
                            <a:schemeClr val="dk1"/>
                          </a:solidFill>
                          <a:latin typeface="Calibri"/>
                          <a:ea typeface="Calibri"/>
                          <a:cs typeface="Calibri"/>
                          <a:sym typeface="Calibri"/>
                        </a:rPr>
                        <a:t>Filled with cell sap to help keep the cell turgid</a:t>
                      </a:r>
                      <a:endParaRPr/>
                    </a:p>
                  </a:txBody>
                  <a:tcPr marL="91450" marR="91450" marT="45725" marB="45725" anchor="ctr"/>
                </a:tc>
                <a:tc>
                  <a:txBody>
                    <a:bodyPr/>
                    <a:lstStyle/>
                    <a:p>
                      <a:pPr marL="0" marR="0" lvl="0" indent="0" algn="ctr" rtl="0">
                        <a:spcBef>
                          <a:spcPts val="0"/>
                        </a:spcBef>
                        <a:spcAft>
                          <a:spcPts val="0"/>
                        </a:spcAft>
                        <a:buNone/>
                      </a:pPr>
                      <a:endParaRPr sz="1100" b="1">
                        <a:solidFill>
                          <a:srgbClr val="00B050"/>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rgbClr val="00B050"/>
                        </a:buClr>
                        <a:buSzPts val="1800"/>
                        <a:buFont typeface="Calibri"/>
                        <a:buNone/>
                      </a:pPr>
                      <a:r>
                        <a:rPr lang="en-GB" sz="1800" b="1" i="0" u="none" strike="noStrike" cap="none">
                          <a:solidFill>
                            <a:srgbClr val="00B050"/>
                          </a:solidFill>
                          <a:latin typeface="Calibri"/>
                          <a:ea typeface="Calibri"/>
                          <a:cs typeface="Calibri"/>
                          <a:sym typeface="Calibri"/>
                        </a:rPr>
                        <a:t>✔</a:t>
                      </a:r>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800"/>
                        <a:buFont typeface="Calibri"/>
                        <a:buNone/>
                      </a:pPr>
                      <a:endParaRPr sz="1800" b="1" i="0" u="none" strike="noStrike" cap="none">
                        <a:solidFill>
                          <a:srgbClr val="00B050"/>
                        </a:solidFill>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8"/>
                  </a:ext>
                </a:extLst>
              </a:tr>
              <a:tr h="365825">
                <a:tc>
                  <a:txBody>
                    <a:bodyPr/>
                    <a:lstStyle/>
                    <a:p>
                      <a:pPr marL="0" marR="0" lvl="0" indent="0" algn="ctr" rtl="0">
                        <a:spcBef>
                          <a:spcPts val="0"/>
                        </a:spcBef>
                        <a:spcAft>
                          <a:spcPts val="0"/>
                        </a:spcAft>
                        <a:buNone/>
                      </a:pPr>
                      <a:r>
                        <a:rPr lang="en-GB" sz="1600" b="1">
                          <a:solidFill>
                            <a:srgbClr val="00B050"/>
                          </a:solidFill>
                          <a:latin typeface="Calibri"/>
                          <a:ea typeface="Calibri"/>
                          <a:cs typeface="Calibri"/>
                          <a:sym typeface="Calibri"/>
                        </a:rPr>
                        <a:t>Bacterial DNA</a:t>
                      </a:r>
                      <a:endParaRPr/>
                    </a:p>
                  </a:txBody>
                  <a:tcPr marL="91450" marR="91450" marT="45725" marB="45725" anchor="ctr"/>
                </a:tc>
                <a:tc>
                  <a:txBody>
                    <a:bodyPr/>
                    <a:lstStyle/>
                    <a:p>
                      <a:pPr marL="0" marR="0" lvl="0" indent="0" algn="l" rtl="0">
                        <a:spcBef>
                          <a:spcPts val="0"/>
                        </a:spcBef>
                        <a:spcAft>
                          <a:spcPts val="0"/>
                        </a:spcAft>
                        <a:buNone/>
                      </a:pPr>
                      <a:r>
                        <a:rPr lang="en-GB" sz="1400" b="1">
                          <a:solidFill>
                            <a:schemeClr val="dk1"/>
                          </a:solidFill>
                          <a:latin typeface="Calibri"/>
                          <a:ea typeface="Calibri"/>
                          <a:cs typeface="Calibri"/>
                          <a:sym typeface="Calibri"/>
                        </a:rPr>
                        <a:t>Loop of DNA NOT found in a nucleus</a:t>
                      </a:r>
                      <a:endParaRPr sz="14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100" b="1">
                        <a:solidFill>
                          <a:srgbClr val="00B050"/>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rgbClr val="00B050"/>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rgbClr val="00B050"/>
                        </a:buClr>
                        <a:buSzPts val="1800"/>
                        <a:buFont typeface="Calibri"/>
                        <a:buNone/>
                      </a:pPr>
                      <a:r>
                        <a:rPr lang="en-GB" sz="1800" b="1" i="0" u="none" strike="noStrike" cap="none">
                          <a:solidFill>
                            <a:srgbClr val="00B05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09"/>
                  </a:ext>
                </a:extLst>
              </a:tr>
              <a:tr h="544150">
                <a:tc>
                  <a:txBody>
                    <a:bodyPr/>
                    <a:lstStyle/>
                    <a:p>
                      <a:pPr marL="0" marR="0" lvl="0" indent="0" algn="ctr" rtl="0">
                        <a:spcBef>
                          <a:spcPts val="0"/>
                        </a:spcBef>
                        <a:spcAft>
                          <a:spcPts val="0"/>
                        </a:spcAft>
                        <a:buNone/>
                      </a:pPr>
                      <a:r>
                        <a:rPr lang="en-GB" sz="1600" b="1">
                          <a:solidFill>
                            <a:schemeClr val="dk1"/>
                          </a:solidFill>
                          <a:latin typeface="Calibri"/>
                          <a:ea typeface="Calibri"/>
                          <a:cs typeface="Calibri"/>
                          <a:sym typeface="Calibri"/>
                        </a:rPr>
                        <a:t>Plasmid (DNA)</a:t>
                      </a:r>
                      <a:endParaRPr sz="1600" b="1">
                        <a:solidFill>
                          <a:schemeClr val="dk1"/>
                        </a:solidFill>
                        <a:latin typeface="Calibri"/>
                        <a:ea typeface="Calibri"/>
                        <a:cs typeface="Calibri"/>
                        <a:sym typeface="Calibri"/>
                      </a:endParaRPr>
                    </a:p>
                  </a:txBody>
                  <a:tcPr marL="91450" marR="91450" marT="45725" marB="45725" anchor="ctr"/>
                </a:tc>
                <a:tc>
                  <a:txBody>
                    <a:bodyPr/>
                    <a:lstStyle/>
                    <a:p>
                      <a:pPr marL="0" marR="0" lvl="0" indent="0" algn="l" rtl="0">
                        <a:spcBef>
                          <a:spcPts val="0"/>
                        </a:spcBef>
                        <a:spcAft>
                          <a:spcPts val="0"/>
                        </a:spcAft>
                        <a:buNone/>
                      </a:pPr>
                      <a:r>
                        <a:rPr lang="en-GB" sz="1400" b="1">
                          <a:solidFill>
                            <a:srgbClr val="00B050"/>
                          </a:solidFill>
                          <a:latin typeface="Calibri"/>
                          <a:ea typeface="Calibri"/>
                          <a:cs typeface="Calibri"/>
                          <a:sym typeface="Calibri"/>
                        </a:rPr>
                        <a:t>Small ring of DNA often used as a vector in genetic modification</a:t>
                      </a:r>
                      <a:endParaRPr sz="1400" b="1">
                        <a:solidFill>
                          <a:srgbClr val="00B050"/>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100" b="1">
                        <a:solidFill>
                          <a:srgbClr val="00B050"/>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endParaRPr sz="1800" b="1">
                        <a:solidFill>
                          <a:srgbClr val="00B050"/>
                        </a:solidFill>
                        <a:latin typeface="Calibri"/>
                        <a:ea typeface="Calibri"/>
                        <a:cs typeface="Calibri"/>
                        <a:sym typeface="Calibri"/>
                      </a:endParaRPr>
                    </a:p>
                  </a:txBody>
                  <a:tcPr marL="91450" marR="91450" marT="45725" marB="45725" anchor="ctr"/>
                </a:tc>
                <a:tc>
                  <a:txBody>
                    <a:bodyPr/>
                    <a:lstStyle/>
                    <a:p>
                      <a:pPr marL="0" marR="0" lvl="0" indent="0" algn="ctr" rtl="0">
                        <a:lnSpc>
                          <a:spcPct val="100000"/>
                        </a:lnSpc>
                        <a:spcBef>
                          <a:spcPts val="0"/>
                        </a:spcBef>
                        <a:spcAft>
                          <a:spcPts val="0"/>
                        </a:spcAft>
                        <a:buClr>
                          <a:srgbClr val="00B050"/>
                        </a:buClr>
                        <a:buSzPts val="1800"/>
                        <a:buFont typeface="Calibri"/>
                        <a:buNone/>
                      </a:pPr>
                      <a:r>
                        <a:rPr lang="en-GB" sz="1800" b="1" i="0" u="none" strike="noStrike" cap="none">
                          <a:solidFill>
                            <a:srgbClr val="00B050"/>
                          </a:solidFill>
                          <a:latin typeface="Calibri"/>
                          <a:ea typeface="Calibri"/>
                          <a:cs typeface="Calibri"/>
                          <a:sym typeface="Calibri"/>
                        </a:rPr>
                        <a:t>✔</a:t>
                      </a:r>
                      <a:endParaRPr/>
                    </a:p>
                  </a:txBody>
                  <a:tcPr marL="91450" marR="91450" marT="45725" marB="45725" anchor="ctr"/>
                </a:tc>
                <a:extLst>
                  <a:ext uri="{0D108BD9-81ED-4DB2-BD59-A6C34878D82A}">
                    <a16:rowId xmlns:a16="http://schemas.microsoft.com/office/drawing/2014/main" val="1001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5"/>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285" name="Google Shape;285;p15"/>
          <p:cNvSpPr txBox="1"/>
          <p:nvPr/>
        </p:nvSpPr>
        <p:spPr>
          <a:xfrm>
            <a:off x="0" y="980728"/>
            <a:ext cx="3491880" cy="55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LearnIT!</a:t>
            </a:r>
            <a:endParaRPr/>
          </a:p>
          <a:p>
            <a:pPr marL="0" marR="0" lvl="0" indent="0" algn="l" rtl="0">
              <a:spcBef>
                <a:spcPts val="0"/>
              </a:spcBef>
              <a:spcAft>
                <a:spcPts val="0"/>
              </a:spcAft>
              <a:buNone/>
            </a:pPr>
            <a:r>
              <a:rPr lang="en-GB" sz="7200" b="1">
                <a:solidFill>
                  <a:schemeClr val="dk1"/>
                </a:solidFill>
                <a:latin typeface="Calibri"/>
                <a:ea typeface="Calibri"/>
                <a:cs typeface="Calibri"/>
                <a:sym typeface="Calibri"/>
              </a:rPr>
              <a:t>KnowIT!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Part 2 </a:t>
            </a:r>
            <a:endParaRPr/>
          </a:p>
          <a:p>
            <a:pPr marL="0" marR="0" lvl="0" indent="0" algn="l" rtl="0">
              <a:spcBef>
                <a:spcPts val="0"/>
              </a:spcBef>
              <a:spcAft>
                <a:spcPts val="0"/>
              </a:spcAft>
              <a:buNone/>
            </a:pPr>
            <a:endParaRPr sz="28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Cell specialisation</a:t>
            </a:r>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Cell differentiation</a:t>
            </a:r>
            <a:endParaRPr sz="2400" b="1">
              <a:solidFill>
                <a:srgbClr val="7F7F7F"/>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6" name="Google Shape;286;p15"/>
          <p:cNvPicPr preferRelativeResize="0"/>
          <p:nvPr/>
        </p:nvPicPr>
        <p:blipFill rotWithShape="1">
          <a:blip r:embed="rId3">
            <a:alphaModFix/>
          </a:blip>
          <a:srcRect/>
          <a:stretch/>
        </p:blipFill>
        <p:spPr>
          <a:xfrm>
            <a:off x="2642398" y="0"/>
            <a:ext cx="6538114" cy="65253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6"/>
          <p:cNvSpPr txBox="1">
            <a:spLocks noGrp="1"/>
          </p:cNvSpPr>
          <p:nvPr>
            <p:ph type="ctrTitle"/>
          </p:nvPr>
        </p:nvSpPr>
        <p:spPr>
          <a:xfrm>
            <a:off x="1331640" y="35655"/>
            <a:ext cx="7812360"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Cell structure part 2 - Animal c</a:t>
            </a:r>
            <a:r>
              <a:rPr lang="en-GB" sz="2400" b="1" i="0" u="none" strike="noStrike" cap="none">
                <a:solidFill>
                  <a:schemeClr val="accent6"/>
                </a:solidFill>
                <a:latin typeface="Calibri"/>
                <a:ea typeface="Calibri"/>
                <a:cs typeface="Calibri"/>
                <a:sym typeface="Calibri"/>
              </a:rPr>
              <a:t>ell specialisation </a:t>
            </a:r>
            <a:endParaRPr/>
          </a:p>
        </p:txBody>
      </p:sp>
      <p:sp>
        <p:nvSpPr>
          <p:cNvPr id="292" name="Google Shape;292;p16"/>
          <p:cNvSpPr/>
          <p:nvPr/>
        </p:nvSpPr>
        <p:spPr>
          <a:xfrm>
            <a:off x="116378" y="609721"/>
            <a:ext cx="8937866"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rgbClr val="974806"/>
                </a:solidFill>
                <a:latin typeface="Calibri"/>
                <a:ea typeface="Calibri"/>
                <a:cs typeface="Calibri"/>
                <a:sym typeface="Calibri"/>
              </a:rPr>
              <a:t>The </a:t>
            </a:r>
            <a:r>
              <a:rPr lang="en-GB" sz="2400" b="1">
                <a:solidFill>
                  <a:srgbClr val="974806"/>
                </a:solidFill>
                <a:latin typeface="Calibri"/>
                <a:ea typeface="Calibri"/>
                <a:cs typeface="Calibri"/>
                <a:sym typeface="Calibri"/>
              </a:rPr>
              <a:t>structure</a:t>
            </a:r>
            <a:r>
              <a:rPr lang="en-GB" sz="2400">
                <a:solidFill>
                  <a:srgbClr val="974806"/>
                </a:solidFill>
                <a:latin typeface="Calibri"/>
                <a:ea typeface="Calibri"/>
                <a:cs typeface="Calibri"/>
                <a:sym typeface="Calibri"/>
              </a:rPr>
              <a:t> of different cells helps them to carry out a </a:t>
            </a:r>
            <a:r>
              <a:rPr lang="en-GB" sz="2400" b="1">
                <a:solidFill>
                  <a:srgbClr val="974806"/>
                </a:solidFill>
                <a:latin typeface="Calibri"/>
                <a:ea typeface="Calibri"/>
                <a:cs typeface="Calibri"/>
                <a:sym typeface="Calibri"/>
              </a:rPr>
              <a:t>particular function</a:t>
            </a:r>
            <a:r>
              <a:rPr lang="en-GB" sz="2400">
                <a:solidFill>
                  <a:srgbClr val="974806"/>
                </a:solidFill>
                <a:latin typeface="Calibri"/>
                <a:ea typeface="Calibri"/>
                <a:cs typeface="Calibri"/>
                <a:sym typeface="Calibri"/>
              </a:rPr>
              <a:t> within the organism. These cells are called </a:t>
            </a:r>
            <a:r>
              <a:rPr lang="en-GB" sz="2400" b="1">
                <a:solidFill>
                  <a:srgbClr val="974806"/>
                </a:solidFill>
                <a:latin typeface="Calibri"/>
                <a:ea typeface="Calibri"/>
                <a:cs typeface="Calibri"/>
                <a:sym typeface="Calibri"/>
              </a:rPr>
              <a:t>specialised cells</a:t>
            </a:r>
            <a:r>
              <a:rPr lang="en-GB" sz="2400">
                <a:solidFill>
                  <a:srgbClr val="974806"/>
                </a:solidFill>
                <a:latin typeface="Calibri"/>
                <a:ea typeface="Calibri"/>
                <a:cs typeface="Calibri"/>
                <a:sym typeface="Calibri"/>
              </a:rPr>
              <a:t>.</a:t>
            </a:r>
            <a:endParaRPr/>
          </a:p>
        </p:txBody>
      </p:sp>
      <p:graphicFrame>
        <p:nvGraphicFramePr>
          <p:cNvPr id="293" name="Google Shape;293;p16"/>
          <p:cNvGraphicFramePr/>
          <p:nvPr/>
        </p:nvGraphicFramePr>
        <p:xfrm>
          <a:off x="116378" y="1410606"/>
          <a:ext cx="3000000" cy="3000000"/>
        </p:xfrm>
        <a:graphic>
          <a:graphicData uri="http://schemas.openxmlformats.org/drawingml/2006/table">
            <a:tbl>
              <a:tblPr firstRow="1" bandRow="1">
                <a:noFill/>
                <a:tableStyleId>{7FB5C040-EF74-47EC-8CDE-39956F763B1A}</a:tableStyleId>
              </a:tblPr>
              <a:tblGrid>
                <a:gridCol w="1538475">
                  <a:extLst>
                    <a:ext uri="{9D8B030D-6E8A-4147-A177-3AD203B41FA5}">
                      <a16:colId xmlns:a16="http://schemas.microsoft.com/office/drawing/2014/main" val="20000"/>
                    </a:ext>
                  </a:extLst>
                </a:gridCol>
                <a:gridCol w="2773125">
                  <a:extLst>
                    <a:ext uri="{9D8B030D-6E8A-4147-A177-3AD203B41FA5}">
                      <a16:colId xmlns:a16="http://schemas.microsoft.com/office/drawing/2014/main" val="20001"/>
                    </a:ext>
                  </a:extLst>
                </a:gridCol>
                <a:gridCol w="4626250">
                  <a:extLst>
                    <a:ext uri="{9D8B030D-6E8A-4147-A177-3AD203B41FA5}">
                      <a16:colId xmlns:a16="http://schemas.microsoft.com/office/drawing/2014/main" val="20002"/>
                    </a:ext>
                  </a:extLst>
                </a:gridCol>
              </a:tblGrid>
              <a:tr h="650100">
                <a:tc>
                  <a:txBody>
                    <a:bodyPr/>
                    <a:lstStyle/>
                    <a:p>
                      <a:pPr marL="0" marR="0" lvl="0" indent="0" algn="ctr" rtl="0">
                        <a:spcBef>
                          <a:spcPts val="0"/>
                        </a:spcBef>
                        <a:spcAft>
                          <a:spcPts val="0"/>
                        </a:spcAft>
                        <a:buNone/>
                      </a:pPr>
                      <a:r>
                        <a:rPr lang="en-GB" sz="1800" b="1"/>
                        <a:t>Name of animal cell</a:t>
                      </a:r>
                      <a:endParaRPr sz="1800" b="1"/>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Diagram</a:t>
                      </a:r>
                      <a:endParaRPr/>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Structure and function</a:t>
                      </a:r>
                      <a:endParaRPr/>
                    </a:p>
                  </a:txBody>
                  <a:tcPr marL="91450" marR="91450" marT="45725" marB="45725">
                    <a:solidFill>
                      <a:schemeClr val="accent6"/>
                    </a:solidFill>
                  </a:tcPr>
                </a:tc>
                <a:extLst>
                  <a:ext uri="{0D108BD9-81ED-4DB2-BD59-A6C34878D82A}">
                    <a16:rowId xmlns:a16="http://schemas.microsoft.com/office/drawing/2014/main" val="10000"/>
                  </a:ext>
                </a:extLst>
              </a:tr>
              <a:tr h="1543400">
                <a:tc>
                  <a:txBody>
                    <a:bodyPr/>
                    <a:lstStyle/>
                    <a:p>
                      <a:pPr marL="0" marR="0" lvl="0" indent="0" algn="ctr" rtl="0">
                        <a:spcBef>
                          <a:spcPts val="0"/>
                        </a:spcBef>
                        <a:spcAft>
                          <a:spcPts val="0"/>
                        </a:spcAft>
                        <a:buNone/>
                      </a:pPr>
                      <a:r>
                        <a:rPr lang="en-GB" sz="2000" b="1"/>
                        <a:t>Sperm</a:t>
                      </a:r>
                      <a:endParaRPr/>
                    </a:p>
                  </a:txBody>
                  <a:tcPr marL="91450" marR="91450" marT="45725" marB="45725"/>
                </a:tc>
                <a:tc>
                  <a:txBody>
                    <a:bodyPr/>
                    <a:lstStyle/>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t>Function is to fertilise an egg.</a:t>
                      </a:r>
                      <a:endParaRPr/>
                    </a:p>
                    <a:p>
                      <a:pPr marL="285750" marR="0" lvl="0" indent="-285750" algn="l" rtl="0">
                        <a:spcBef>
                          <a:spcPts val="0"/>
                        </a:spcBef>
                        <a:spcAft>
                          <a:spcPts val="0"/>
                        </a:spcAft>
                        <a:buClr>
                          <a:schemeClr val="dk1"/>
                        </a:buClr>
                        <a:buSzPts val="1600"/>
                        <a:buFont typeface="Arial"/>
                        <a:buChar char="•"/>
                      </a:pPr>
                      <a:r>
                        <a:rPr lang="en-GB" sz="1600"/>
                        <a:t>Streamlined with a long tail to swim to the egg. </a:t>
                      </a:r>
                      <a:endParaRPr/>
                    </a:p>
                    <a:p>
                      <a:pPr marL="285750" marR="0" lvl="0" indent="-285750" algn="l" rtl="0">
                        <a:spcBef>
                          <a:spcPts val="0"/>
                        </a:spcBef>
                        <a:spcAft>
                          <a:spcPts val="0"/>
                        </a:spcAft>
                        <a:buClr>
                          <a:schemeClr val="dk1"/>
                        </a:buClr>
                        <a:buSzPts val="1600"/>
                        <a:buFont typeface="Arial"/>
                        <a:buChar char="•"/>
                      </a:pPr>
                      <a:r>
                        <a:rPr lang="en-GB" sz="1600"/>
                        <a:t>Acrosome in the head containing enzymes to digest the egg cell membrane.</a:t>
                      </a:r>
                      <a:endParaRPr/>
                    </a:p>
                    <a:p>
                      <a:pPr marL="285750" marR="0" lvl="0" indent="-285750" algn="l" rtl="0">
                        <a:spcBef>
                          <a:spcPts val="0"/>
                        </a:spcBef>
                        <a:spcAft>
                          <a:spcPts val="0"/>
                        </a:spcAft>
                        <a:buClr>
                          <a:schemeClr val="dk1"/>
                        </a:buClr>
                        <a:buSzPts val="1600"/>
                        <a:buFont typeface="Arial"/>
                        <a:buChar char="•"/>
                      </a:pPr>
                      <a:r>
                        <a:rPr lang="en-GB" sz="1600"/>
                        <a:t>Large number of mitochondria in the mid section to release energy for movement.</a:t>
                      </a:r>
                      <a:endParaRPr sz="1600"/>
                    </a:p>
                  </a:txBody>
                  <a:tcPr marL="91450" marR="91450" marT="45725" marB="45725"/>
                </a:tc>
                <a:extLst>
                  <a:ext uri="{0D108BD9-81ED-4DB2-BD59-A6C34878D82A}">
                    <a16:rowId xmlns:a16="http://schemas.microsoft.com/office/drawing/2014/main" val="10001"/>
                  </a:ext>
                </a:extLst>
              </a:tr>
              <a:tr h="1512175">
                <a:tc>
                  <a:txBody>
                    <a:bodyPr/>
                    <a:lstStyle/>
                    <a:p>
                      <a:pPr marL="0" marR="0" lvl="0" indent="0" algn="ctr" rtl="0">
                        <a:spcBef>
                          <a:spcPts val="0"/>
                        </a:spcBef>
                        <a:spcAft>
                          <a:spcPts val="0"/>
                        </a:spcAft>
                        <a:buNone/>
                      </a:pPr>
                      <a:r>
                        <a:rPr lang="en-GB" sz="2000" b="1"/>
                        <a:t>Nerve</a:t>
                      </a:r>
                      <a:endParaRPr/>
                    </a:p>
                  </a:txBody>
                  <a:tcPr marL="91450" marR="91450" marT="45725" marB="45725"/>
                </a:tc>
                <a:tc>
                  <a:txBody>
                    <a:bodyPr/>
                    <a:lstStyle/>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t>Function is to carry electrical signals.</a:t>
                      </a:r>
                      <a:endParaRPr/>
                    </a:p>
                    <a:p>
                      <a:pPr marL="285750" marR="0" lvl="0" indent="-285750" algn="l" rtl="0">
                        <a:spcBef>
                          <a:spcPts val="0"/>
                        </a:spcBef>
                        <a:spcAft>
                          <a:spcPts val="0"/>
                        </a:spcAft>
                        <a:buClr>
                          <a:schemeClr val="dk1"/>
                        </a:buClr>
                        <a:buSzPts val="1600"/>
                        <a:buFont typeface="Arial"/>
                        <a:buChar char="•"/>
                      </a:pPr>
                      <a:r>
                        <a:rPr lang="en-GB" sz="1600" b="0"/>
                        <a:t>Long to carry signals long distances.</a:t>
                      </a:r>
                      <a:endParaRPr/>
                    </a:p>
                    <a:p>
                      <a:pPr marL="285750" marR="0" lvl="0" indent="-285750" algn="l" rtl="0">
                        <a:spcBef>
                          <a:spcPts val="0"/>
                        </a:spcBef>
                        <a:spcAft>
                          <a:spcPts val="0"/>
                        </a:spcAft>
                        <a:buClr>
                          <a:schemeClr val="dk1"/>
                        </a:buClr>
                        <a:buSzPts val="1600"/>
                        <a:buFont typeface="Arial"/>
                        <a:buChar char="•"/>
                      </a:pPr>
                      <a:r>
                        <a:rPr lang="en-GB" sz="1600" b="0"/>
                        <a:t>Branched connections to connect to other nerve cells and form a network around the body.</a:t>
                      </a:r>
                      <a:endParaRPr/>
                    </a:p>
                    <a:p>
                      <a:pPr marL="285750" marR="0" lvl="0" indent="-285750" algn="l" rtl="0">
                        <a:spcBef>
                          <a:spcPts val="0"/>
                        </a:spcBef>
                        <a:spcAft>
                          <a:spcPts val="0"/>
                        </a:spcAft>
                        <a:buClr>
                          <a:schemeClr val="dk1"/>
                        </a:buClr>
                        <a:buSzPts val="1600"/>
                        <a:buFont typeface="Arial"/>
                        <a:buChar char="•"/>
                      </a:pPr>
                      <a:r>
                        <a:rPr lang="en-GB" sz="1600" b="0"/>
                        <a:t>Insulating sheath to enhance transmission of electrical signals.</a:t>
                      </a:r>
                      <a:endParaRPr sz="1800"/>
                    </a:p>
                  </a:txBody>
                  <a:tcPr marL="91450" marR="91450" marT="45725" marB="45725"/>
                </a:tc>
                <a:extLst>
                  <a:ext uri="{0D108BD9-81ED-4DB2-BD59-A6C34878D82A}">
                    <a16:rowId xmlns:a16="http://schemas.microsoft.com/office/drawing/2014/main" val="10002"/>
                  </a:ext>
                </a:extLst>
              </a:tr>
              <a:tr h="885950">
                <a:tc>
                  <a:txBody>
                    <a:bodyPr/>
                    <a:lstStyle/>
                    <a:p>
                      <a:pPr marL="0" marR="0" lvl="0" indent="0" algn="ctr" rtl="0">
                        <a:spcBef>
                          <a:spcPts val="0"/>
                        </a:spcBef>
                        <a:spcAft>
                          <a:spcPts val="0"/>
                        </a:spcAft>
                        <a:buNone/>
                      </a:pPr>
                      <a:r>
                        <a:rPr lang="en-GB" sz="2000" b="1"/>
                        <a:t>Muscle</a:t>
                      </a:r>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t>Function is .</a:t>
                      </a:r>
                      <a:endParaRPr/>
                    </a:p>
                    <a:p>
                      <a:pPr marL="285750" marR="0" lvl="0" indent="-285750" algn="l" rtl="0">
                        <a:spcBef>
                          <a:spcPts val="0"/>
                        </a:spcBef>
                        <a:spcAft>
                          <a:spcPts val="0"/>
                        </a:spcAft>
                        <a:buClr>
                          <a:schemeClr val="dk1"/>
                        </a:buClr>
                        <a:buSzPts val="1600"/>
                        <a:buFont typeface="Arial"/>
                        <a:buChar char="•"/>
                      </a:pPr>
                      <a:r>
                        <a:rPr lang="en-GB" sz="1600" b="0"/>
                        <a:t>Contain a large number of mitochondria to release energy from respiration for movement.</a:t>
                      </a:r>
                      <a:endParaRPr/>
                    </a:p>
                    <a:p>
                      <a:pPr marL="285750" marR="0" lvl="0" indent="-285750" algn="l" rtl="0">
                        <a:spcBef>
                          <a:spcPts val="0"/>
                        </a:spcBef>
                        <a:spcAft>
                          <a:spcPts val="0"/>
                        </a:spcAft>
                        <a:buClr>
                          <a:schemeClr val="dk1"/>
                        </a:buClr>
                        <a:buSzPts val="1600"/>
                        <a:buFont typeface="Arial"/>
                        <a:buChar char="•"/>
                      </a:pPr>
                      <a:r>
                        <a:rPr lang="en-GB" sz="1600" b="0"/>
                        <a:t>Long so that there is enough space to contract.  </a:t>
                      </a:r>
                      <a:endParaRPr sz="1600" b="0"/>
                    </a:p>
                  </a:txBody>
                  <a:tcPr marL="91450" marR="91450" marT="45725" marB="45725"/>
                </a:tc>
                <a:extLst>
                  <a:ext uri="{0D108BD9-81ED-4DB2-BD59-A6C34878D82A}">
                    <a16:rowId xmlns:a16="http://schemas.microsoft.com/office/drawing/2014/main" val="10003"/>
                  </a:ext>
                </a:extLst>
              </a:tr>
            </a:tbl>
          </a:graphicData>
        </a:graphic>
      </p:graphicFrame>
      <p:pic>
        <p:nvPicPr>
          <p:cNvPr id="294" name="Google Shape;294;p16"/>
          <p:cNvPicPr preferRelativeResize="0"/>
          <p:nvPr/>
        </p:nvPicPr>
        <p:blipFill rotWithShape="1">
          <a:blip r:embed="rId3">
            <a:alphaModFix/>
          </a:blip>
          <a:srcRect b="6635"/>
          <a:stretch/>
        </p:blipFill>
        <p:spPr>
          <a:xfrm>
            <a:off x="1702344" y="2033786"/>
            <a:ext cx="2725640" cy="1539230"/>
          </a:xfrm>
          <a:prstGeom prst="rect">
            <a:avLst/>
          </a:prstGeom>
          <a:noFill/>
          <a:ln>
            <a:noFill/>
          </a:ln>
        </p:spPr>
      </p:pic>
      <p:pic>
        <p:nvPicPr>
          <p:cNvPr id="295" name="Google Shape;295;p16"/>
          <p:cNvPicPr preferRelativeResize="0"/>
          <p:nvPr/>
        </p:nvPicPr>
        <p:blipFill rotWithShape="1">
          <a:blip r:embed="rId4">
            <a:alphaModFix/>
          </a:blip>
          <a:srcRect/>
          <a:stretch/>
        </p:blipFill>
        <p:spPr>
          <a:xfrm>
            <a:off x="1702343" y="3717032"/>
            <a:ext cx="2642969" cy="1416493"/>
          </a:xfrm>
          <a:prstGeom prst="rect">
            <a:avLst/>
          </a:prstGeom>
          <a:noFill/>
          <a:ln>
            <a:noFill/>
          </a:ln>
        </p:spPr>
      </p:pic>
      <p:pic>
        <p:nvPicPr>
          <p:cNvPr id="296" name="Google Shape;296;p16"/>
          <p:cNvPicPr preferRelativeResize="0"/>
          <p:nvPr/>
        </p:nvPicPr>
        <p:blipFill rotWithShape="1">
          <a:blip r:embed="rId5">
            <a:alphaModFix/>
          </a:blip>
          <a:srcRect t="72050"/>
          <a:stretch/>
        </p:blipFill>
        <p:spPr>
          <a:xfrm>
            <a:off x="1619672" y="5573696"/>
            <a:ext cx="2626067" cy="94624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ctrTitle"/>
          </p:nvPr>
        </p:nvSpPr>
        <p:spPr>
          <a:xfrm>
            <a:off x="2267744" y="35655"/>
            <a:ext cx="6876256"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Cell structure part 2 - </a:t>
            </a:r>
            <a:r>
              <a:rPr lang="en-GB" sz="2400" b="1">
                <a:solidFill>
                  <a:schemeClr val="accent6"/>
                </a:solidFill>
                <a:latin typeface="Calibri"/>
                <a:ea typeface="Calibri"/>
                <a:cs typeface="Calibri"/>
                <a:sym typeface="Calibri"/>
              </a:rPr>
              <a:t>Plant c</a:t>
            </a:r>
            <a:r>
              <a:rPr lang="en-GB" sz="2400" b="1" i="0" u="none" strike="noStrike" cap="none">
                <a:solidFill>
                  <a:schemeClr val="accent6"/>
                </a:solidFill>
                <a:latin typeface="Calibri"/>
                <a:ea typeface="Calibri"/>
                <a:cs typeface="Calibri"/>
                <a:sym typeface="Calibri"/>
              </a:rPr>
              <a:t>ell specialisation</a:t>
            </a:r>
            <a:endParaRPr/>
          </a:p>
        </p:txBody>
      </p:sp>
      <p:graphicFrame>
        <p:nvGraphicFramePr>
          <p:cNvPr id="302" name="Google Shape;302;p17"/>
          <p:cNvGraphicFramePr/>
          <p:nvPr/>
        </p:nvGraphicFramePr>
        <p:xfrm>
          <a:off x="179512" y="756857"/>
          <a:ext cx="3000000" cy="3000000"/>
        </p:xfrm>
        <a:graphic>
          <a:graphicData uri="http://schemas.openxmlformats.org/drawingml/2006/table">
            <a:tbl>
              <a:tblPr firstRow="1" bandRow="1">
                <a:noFill/>
                <a:tableStyleId>{7FB5C040-EF74-47EC-8CDE-39956F763B1A}</a:tableStyleId>
              </a:tblPr>
              <a:tblGrid>
                <a:gridCol w="1368150">
                  <a:extLst>
                    <a:ext uri="{9D8B030D-6E8A-4147-A177-3AD203B41FA5}">
                      <a16:colId xmlns:a16="http://schemas.microsoft.com/office/drawing/2014/main" val="20000"/>
                    </a:ext>
                  </a:extLst>
                </a:gridCol>
                <a:gridCol w="2592300">
                  <a:extLst>
                    <a:ext uri="{9D8B030D-6E8A-4147-A177-3AD203B41FA5}">
                      <a16:colId xmlns:a16="http://schemas.microsoft.com/office/drawing/2014/main" val="20001"/>
                    </a:ext>
                  </a:extLst>
                </a:gridCol>
                <a:gridCol w="4824525">
                  <a:extLst>
                    <a:ext uri="{9D8B030D-6E8A-4147-A177-3AD203B41FA5}">
                      <a16:colId xmlns:a16="http://schemas.microsoft.com/office/drawing/2014/main" val="20002"/>
                    </a:ext>
                  </a:extLst>
                </a:gridCol>
              </a:tblGrid>
              <a:tr h="940225">
                <a:tc>
                  <a:txBody>
                    <a:bodyPr/>
                    <a:lstStyle/>
                    <a:p>
                      <a:pPr marL="0" marR="0" lvl="0" indent="0" algn="ctr" rtl="0">
                        <a:spcBef>
                          <a:spcPts val="0"/>
                        </a:spcBef>
                        <a:spcAft>
                          <a:spcPts val="0"/>
                        </a:spcAft>
                        <a:buNone/>
                      </a:pPr>
                      <a:r>
                        <a:rPr lang="en-GB" sz="2000" b="1"/>
                        <a:t>Name of plant cell</a:t>
                      </a:r>
                      <a:endParaRPr sz="2000" b="1"/>
                    </a:p>
                  </a:txBody>
                  <a:tcPr marL="91450" marR="91450" marT="45725" marB="45725">
                    <a:solidFill>
                      <a:schemeClr val="accent6"/>
                    </a:solidFill>
                  </a:tcPr>
                </a:tc>
                <a:tc>
                  <a:txBody>
                    <a:bodyPr/>
                    <a:lstStyle/>
                    <a:p>
                      <a:pPr marL="0" marR="0" lvl="0" indent="0" algn="ctr" rtl="0">
                        <a:spcBef>
                          <a:spcPts val="0"/>
                        </a:spcBef>
                        <a:spcAft>
                          <a:spcPts val="0"/>
                        </a:spcAft>
                        <a:buNone/>
                      </a:pPr>
                      <a:r>
                        <a:rPr lang="en-GB" sz="2000" b="1"/>
                        <a:t>Diagram</a:t>
                      </a:r>
                      <a:endParaRPr/>
                    </a:p>
                  </a:txBody>
                  <a:tcPr marL="91450" marR="91450" marT="45725" marB="45725">
                    <a:solidFill>
                      <a:schemeClr val="accent6"/>
                    </a:solidFill>
                  </a:tcPr>
                </a:tc>
                <a:tc>
                  <a:txBody>
                    <a:bodyPr/>
                    <a:lstStyle/>
                    <a:p>
                      <a:pPr marL="0" marR="0" lvl="0" indent="0" algn="ctr" rtl="0">
                        <a:spcBef>
                          <a:spcPts val="0"/>
                        </a:spcBef>
                        <a:spcAft>
                          <a:spcPts val="0"/>
                        </a:spcAft>
                        <a:buNone/>
                      </a:pPr>
                      <a:r>
                        <a:rPr lang="en-GB" sz="2000" b="1"/>
                        <a:t>Structure and function</a:t>
                      </a:r>
                      <a:endParaRPr/>
                    </a:p>
                  </a:txBody>
                  <a:tcPr marL="91450" marR="91450" marT="45725" marB="45725">
                    <a:solidFill>
                      <a:schemeClr val="accent6"/>
                    </a:solidFill>
                  </a:tcPr>
                </a:tc>
                <a:extLst>
                  <a:ext uri="{0D108BD9-81ED-4DB2-BD59-A6C34878D82A}">
                    <a16:rowId xmlns:a16="http://schemas.microsoft.com/office/drawing/2014/main" val="10000"/>
                  </a:ext>
                </a:extLst>
              </a:tr>
              <a:tr h="1174600">
                <a:tc>
                  <a:txBody>
                    <a:bodyPr/>
                    <a:lstStyle/>
                    <a:p>
                      <a:pPr marL="0" marR="0" lvl="0" indent="0" algn="ctr" rtl="0">
                        <a:spcBef>
                          <a:spcPts val="0"/>
                        </a:spcBef>
                        <a:spcAft>
                          <a:spcPts val="0"/>
                        </a:spcAft>
                        <a:buNone/>
                      </a:pPr>
                      <a:r>
                        <a:rPr lang="en-GB" sz="2000" b="1"/>
                        <a:t>Root hair</a:t>
                      </a:r>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t>Function is to absorb water and minerals from the soil.</a:t>
                      </a:r>
                      <a:endParaRPr sz="1800" b="1"/>
                    </a:p>
                    <a:p>
                      <a:pPr marL="285750" marR="0" lvl="0" indent="-285750" algn="l" rtl="0">
                        <a:spcBef>
                          <a:spcPts val="0"/>
                        </a:spcBef>
                        <a:spcAft>
                          <a:spcPts val="0"/>
                        </a:spcAft>
                        <a:buClr>
                          <a:schemeClr val="dk1"/>
                        </a:buClr>
                        <a:buSzPts val="1600"/>
                        <a:buFont typeface="Arial"/>
                        <a:buChar char="•"/>
                      </a:pPr>
                      <a:r>
                        <a:rPr lang="en-GB" sz="1600" b="0"/>
                        <a:t>Hair like projections to increase the surface area.</a:t>
                      </a:r>
                      <a:endParaRPr/>
                    </a:p>
                    <a:p>
                      <a:pPr marL="0" marR="0" lvl="0" indent="0" algn="l" rtl="0">
                        <a:spcBef>
                          <a:spcPts val="0"/>
                        </a:spcBef>
                        <a:spcAft>
                          <a:spcPts val="0"/>
                        </a:spcAft>
                        <a:buClr>
                          <a:schemeClr val="dk1"/>
                        </a:buClr>
                        <a:buSzPts val="1600"/>
                        <a:buFont typeface="Arial"/>
                        <a:buNone/>
                      </a:pPr>
                      <a:r>
                        <a:rPr lang="en-GB" sz="1600" b="0"/>
                        <a:t>(Note that root hair cells have no chloroplasts this is because they do not need them as they are in the soil) </a:t>
                      </a:r>
                      <a:endParaRPr sz="1400" b="0"/>
                    </a:p>
                  </a:txBody>
                  <a:tcPr marL="91450" marR="91450" marT="45725" marB="45725"/>
                </a:tc>
                <a:extLst>
                  <a:ext uri="{0D108BD9-81ED-4DB2-BD59-A6C34878D82A}">
                    <a16:rowId xmlns:a16="http://schemas.microsoft.com/office/drawing/2014/main" val="10001"/>
                  </a:ext>
                </a:extLst>
              </a:tr>
              <a:tr h="1717425">
                <a:tc>
                  <a:txBody>
                    <a:bodyPr/>
                    <a:lstStyle/>
                    <a:p>
                      <a:pPr marL="0" marR="0" lvl="0" indent="0" algn="ctr" rtl="0">
                        <a:spcBef>
                          <a:spcPts val="0"/>
                        </a:spcBef>
                        <a:spcAft>
                          <a:spcPts val="0"/>
                        </a:spcAft>
                        <a:buNone/>
                      </a:pPr>
                      <a:r>
                        <a:rPr lang="en-GB" sz="2000" b="1"/>
                        <a:t>Xylem</a:t>
                      </a:r>
                      <a:endParaRPr/>
                    </a:p>
                    <a:p>
                      <a:pPr marL="0" marR="0" lvl="0" indent="0" algn="ctr" rtl="0">
                        <a:spcBef>
                          <a:spcPts val="0"/>
                        </a:spcBef>
                        <a:spcAft>
                          <a:spcPts val="0"/>
                        </a:spcAft>
                        <a:buNone/>
                      </a:pPr>
                      <a:endParaRPr sz="2000" b="1"/>
                    </a:p>
                    <a:p>
                      <a:pPr marL="0" marR="0" lvl="0" indent="0" algn="ctr" rtl="0">
                        <a:spcBef>
                          <a:spcPts val="0"/>
                        </a:spcBef>
                        <a:spcAft>
                          <a:spcPts val="0"/>
                        </a:spcAft>
                        <a:buNone/>
                      </a:pPr>
                      <a:endParaRPr sz="2000" b="1"/>
                    </a:p>
                    <a:p>
                      <a:pPr marL="0" marR="0" lvl="0" indent="0" algn="ctr" rtl="0">
                        <a:spcBef>
                          <a:spcPts val="0"/>
                        </a:spcBef>
                        <a:spcAft>
                          <a:spcPts val="0"/>
                        </a:spcAft>
                        <a:buNone/>
                      </a:pPr>
                      <a:endParaRPr sz="2000" b="1"/>
                    </a:p>
                    <a:p>
                      <a:pPr marL="0" marR="0" lvl="0" indent="0" algn="ctr" rtl="0">
                        <a:spcBef>
                          <a:spcPts val="0"/>
                        </a:spcBef>
                        <a:spcAft>
                          <a:spcPts val="0"/>
                        </a:spcAft>
                        <a:buNone/>
                      </a:pPr>
                      <a:endParaRPr sz="2000" b="1"/>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t>Function is to carry water and minerals in plants.</a:t>
                      </a:r>
                      <a:endParaRPr/>
                    </a:p>
                    <a:p>
                      <a:pPr marL="285750" marR="0" lvl="0" indent="-285750" algn="l" rtl="0">
                        <a:spcBef>
                          <a:spcPts val="0"/>
                        </a:spcBef>
                        <a:spcAft>
                          <a:spcPts val="0"/>
                        </a:spcAft>
                        <a:buClr>
                          <a:schemeClr val="dk1"/>
                        </a:buClr>
                        <a:buSzPts val="1600"/>
                        <a:buFont typeface="Arial"/>
                        <a:buChar char="•"/>
                      </a:pPr>
                      <a:r>
                        <a:rPr lang="en-GB" sz="1600" b="0"/>
                        <a:t>Form hollow xylem tubes made of dead tissue.</a:t>
                      </a:r>
                      <a:endParaRPr/>
                    </a:p>
                    <a:p>
                      <a:pPr marL="285750" marR="0" lvl="0" indent="-285750" algn="l" rtl="0">
                        <a:spcBef>
                          <a:spcPts val="0"/>
                        </a:spcBef>
                        <a:spcAft>
                          <a:spcPts val="0"/>
                        </a:spcAft>
                        <a:buClr>
                          <a:schemeClr val="dk1"/>
                        </a:buClr>
                        <a:buSzPts val="1600"/>
                        <a:buFont typeface="Arial"/>
                        <a:buChar char="•"/>
                      </a:pPr>
                      <a:r>
                        <a:rPr lang="en-GB" sz="1600" b="0"/>
                        <a:t>Long cells with walls toughened by lignin.</a:t>
                      </a:r>
                      <a:endParaRPr/>
                    </a:p>
                    <a:p>
                      <a:pPr marL="285750" marR="0" lvl="0" indent="-285750" algn="l" rtl="0">
                        <a:spcBef>
                          <a:spcPts val="0"/>
                        </a:spcBef>
                        <a:spcAft>
                          <a:spcPts val="0"/>
                        </a:spcAft>
                        <a:buClr>
                          <a:schemeClr val="dk1"/>
                        </a:buClr>
                        <a:buSzPts val="1600"/>
                        <a:buFont typeface="Arial"/>
                        <a:buChar char="•"/>
                      </a:pPr>
                      <a:r>
                        <a:rPr lang="en-GB" sz="1600" b="0"/>
                        <a:t>Water and minerals flow from the roots towards the leaves only in one direction in a process called </a:t>
                      </a:r>
                      <a:r>
                        <a:rPr lang="en-GB" sz="1600" b="1"/>
                        <a:t>TRANSPIRATION</a:t>
                      </a:r>
                      <a:r>
                        <a:rPr lang="en-GB" sz="1600" b="0"/>
                        <a:t>.</a:t>
                      </a:r>
                      <a:endParaRPr sz="1600" b="0"/>
                    </a:p>
                  </a:txBody>
                  <a:tcPr marL="91450" marR="91450" marT="45725" marB="45725"/>
                </a:tc>
                <a:extLst>
                  <a:ext uri="{0D108BD9-81ED-4DB2-BD59-A6C34878D82A}">
                    <a16:rowId xmlns:a16="http://schemas.microsoft.com/office/drawing/2014/main" val="10002"/>
                  </a:ext>
                </a:extLst>
              </a:tr>
              <a:tr h="1728200">
                <a:tc>
                  <a:txBody>
                    <a:bodyPr/>
                    <a:lstStyle/>
                    <a:p>
                      <a:pPr marL="0" marR="0" lvl="0" indent="0" algn="ctr" rtl="0">
                        <a:spcBef>
                          <a:spcPts val="0"/>
                        </a:spcBef>
                        <a:spcAft>
                          <a:spcPts val="0"/>
                        </a:spcAft>
                        <a:buNone/>
                      </a:pPr>
                      <a:r>
                        <a:rPr lang="en-GB" sz="2000" b="1"/>
                        <a:t>Phloem</a:t>
                      </a:r>
                      <a:endParaRPr/>
                    </a:p>
                    <a:p>
                      <a:pPr marL="0" marR="0" lvl="0" indent="0" algn="ctr" rtl="0">
                        <a:spcBef>
                          <a:spcPts val="0"/>
                        </a:spcBef>
                        <a:spcAft>
                          <a:spcPts val="0"/>
                        </a:spcAft>
                        <a:buNone/>
                      </a:pPr>
                      <a:endParaRPr sz="2000" b="1"/>
                    </a:p>
                    <a:p>
                      <a:pPr marL="0" marR="0" lvl="0" indent="0" algn="ctr" rtl="0">
                        <a:spcBef>
                          <a:spcPts val="0"/>
                        </a:spcBef>
                        <a:spcAft>
                          <a:spcPts val="0"/>
                        </a:spcAft>
                        <a:buNone/>
                      </a:pPr>
                      <a:endParaRPr sz="2000" b="1"/>
                    </a:p>
                    <a:p>
                      <a:pPr marL="0" marR="0" lvl="0" indent="0" algn="ctr" rtl="0">
                        <a:spcBef>
                          <a:spcPts val="0"/>
                        </a:spcBef>
                        <a:spcAft>
                          <a:spcPts val="0"/>
                        </a:spcAft>
                        <a:buNone/>
                      </a:pPr>
                      <a:endParaRPr sz="2000" b="1"/>
                    </a:p>
                    <a:p>
                      <a:pPr marL="0" marR="0" lvl="0" indent="0" algn="ctr" rtl="0">
                        <a:spcBef>
                          <a:spcPts val="0"/>
                        </a:spcBef>
                        <a:spcAft>
                          <a:spcPts val="0"/>
                        </a:spcAft>
                        <a:buNone/>
                      </a:pPr>
                      <a:endParaRPr sz="2000" b="1"/>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t>Function is to carry glucose around the plant.</a:t>
                      </a:r>
                      <a:endParaRPr/>
                    </a:p>
                    <a:p>
                      <a:pPr marL="285750" marR="0" lvl="0" indent="-285750" algn="l" rtl="0">
                        <a:spcBef>
                          <a:spcPts val="0"/>
                        </a:spcBef>
                        <a:spcAft>
                          <a:spcPts val="0"/>
                        </a:spcAft>
                        <a:buClr>
                          <a:schemeClr val="dk1"/>
                        </a:buClr>
                        <a:buSzPts val="1600"/>
                        <a:buFont typeface="Arial"/>
                        <a:buChar char="•"/>
                      </a:pPr>
                      <a:r>
                        <a:rPr lang="en-GB" sz="1600" b="0"/>
                        <a:t>Form phloem tubes made of living tissue.</a:t>
                      </a:r>
                      <a:endParaRPr/>
                    </a:p>
                    <a:p>
                      <a:pPr marL="285750" marR="0" lvl="0" indent="-285750" algn="l" rtl="0">
                        <a:spcBef>
                          <a:spcPts val="0"/>
                        </a:spcBef>
                        <a:spcAft>
                          <a:spcPts val="0"/>
                        </a:spcAft>
                        <a:buClr>
                          <a:schemeClr val="dk1"/>
                        </a:buClr>
                        <a:buSzPts val="1600"/>
                        <a:buFont typeface="Arial"/>
                        <a:buChar char="•"/>
                      </a:pPr>
                      <a:r>
                        <a:rPr lang="en-GB" sz="1600" b="0"/>
                        <a:t>Cells have end plates with holes in them.</a:t>
                      </a:r>
                      <a:endParaRPr/>
                    </a:p>
                    <a:p>
                      <a:pPr marL="285750" marR="0" lvl="0" indent="-285750" algn="l" rtl="0">
                        <a:spcBef>
                          <a:spcPts val="0"/>
                        </a:spcBef>
                        <a:spcAft>
                          <a:spcPts val="0"/>
                        </a:spcAft>
                        <a:buClr>
                          <a:schemeClr val="dk1"/>
                        </a:buClr>
                        <a:buSzPts val="1600"/>
                        <a:buFont typeface="Arial"/>
                        <a:buChar char="•"/>
                      </a:pPr>
                      <a:r>
                        <a:rPr lang="en-GB" sz="1600" b="0"/>
                        <a:t>Glucose in solution moves from the leaves to growth and storage tissues in a process called </a:t>
                      </a:r>
                      <a:r>
                        <a:rPr lang="en-GB" sz="1600" b="1"/>
                        <a:t>TRANSLOCATION</a:t>
                      </a:r>
                      <a:r>
                        <a:rPr lang="en-GB" sz="1600" b="0"/>
                        <a:t>.</a:t>
                      </a:r>
                      <a:endParaRPr/>
                    </a:p>
                  </a:txBody>
                  <a:tcPr marL="91450" marR="91450" marT="45725" marB="45725"/>
                </a:tc>
                <a:extLst>
                  <a:ext uri="{0D108BD9-81ED-4DB2-BD59-A6C34878D82A}">
                    <a16:rowId xmlns:a16="http://schemas.microsoft.com/office/drawing/2014/main" val="10003"/>
                  </a:ext>
                </a:extLst>
              </a:tr>
            </a:tbl>
          </a:graphicData>
        </a:graphic>
      </p:graphicFrame>
      <p:pic>
        <p:nvPicPr>
          <p:cNvPr id="303" name="Google Shape;303;p17"/>
          <p:cNvPicPr preferRelativeResize="0"/>
          <p:nvPr/>
        </p:nvPicPr>
        <p:blipFill rotWithShape="1">
          <a:blip r:embed="rId3">
            <a:alphaModFix/>
          </a:blip>
          <a:srcRect/>
          <a:stretch/>
        </p:blipFill>
        <p:spPr>
          <a:xfrm>
            <a:off x="1818958" y="4810188"/>
            <a:ext cx="1816100" cy="1638300"/>
          </a:xfrm>
          <a:prstGeom prst="rect">
            <a:avLst/>
          </a:prstGeom>
          <a:noFill/>
          <a:ln>
            <a:noFill/>
          </a:ln>
        </p:spPr>
      </p:pic>
      <p:pic>
        <p:nvPicPr>
          <p:cNvPr id="304" name="Google Shape;304;p17"/>
          <p:cNvPicPr preferRelativeResize="0"/>
          <p:nvPr/>
        </p:nvPicPr>
        <p:blipFill rotWithShape="1">
          <a:blip r:embed="rId4">
            <a:alphaModFix/>
          </a:blip>
          <a:srcRect/>
          <a:stretch/>
        </p:blipFill>
        <p:spPr>
          <a:xfrm>
            <a:off x="1818958" y="3080680"/>
            <a:ext cx="1765300" cy="1663700"/>
          </a:xfrm>
          <a:prstGeom prst="rect">
            <a:avLst/>
          </a:prstGeom>
          <a:noFill/>
          <a:ln>
            <a:noFill/>
          </a:ln>
        </p:spPr>
      </p:pic>
      <p:pic>
        <p:nvPicPr>
          <p:cNvPr id="305" name="Google Shape;305;p17"/>
          <p:cNvPicPr preferRelativeResize="0"/>
          <p:nvPr/>
        </p:nvPicPr>
        <p:blipFill rotWithShape="1">
          <a:blip r:embed="rId5">
            <a:alphaModFix/>
          </a:blip>
          <a:srcRect/>
          <a:stretch/>
        </p:blipFill>
        <p:spPr>
          <a:xfrm>
            <a:off x="1466868" y="1864745"/>
            <a:ext cx="2520280" cy="12159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8"/>
          <p:cNvSpPr txBox="1">
            <a:spLocks noGrp="1"/>
          </p:cNvSpPr>
          <p:nvPr>
            <p:ph type="ctrTitle"/>
          </p:nvPr>
        </p:nvSpPr>
        <p:spPr>
          <a:xfrm>
            <a:off x="2267744" y="0"/>
            <a:ext cx="6876256"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2 - </a:t>
            </a:r>
            <a:r>
              <a:rPr lang="en-GB" sz="2400" b="1" i="0" u="none" strike="noStrike" cap="none">
                <a:solidFill>
                  <a:schemeClr val="accent6"/>
                </a:solidFill>
                <a:latin typeface="Calibri"/>
                <a:ea typeface="Calibri"/>
                <a:cs typeface="Calibri"/>
                <a:sym typeface="Calibri"/>
              </a:rPr>
              <a:t>Cell differentiation</a:t>
            </a:r>
            <a:endParaRPr/>
          </a:p>
        </p:txBody>
      </p:sp>
      <p:sp>
        <p:nvSpPr>
          <p:cNvPr id="311" name="Google Shape;311;p18"/>
          <p:cNvSpPr/>
          <p:nvPr/>
        </p:nvSpPr>
        <p:spPr>
          <a:xfrm>
            <a:off x="341371" y="5229200"/>
            <a:ext cx="4104456" cy="12618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dk1"/>
                </a:solidFill>
                <a:latin typeface="Calibri"/>
                <a:ea typeface="Calibri"/>
                <a:cs typeface="Calibri"/>
                <a:sym typeface="Calibri"/>
              </a:rPr>
              <a:t>Most types of </a:t>
            </a:r>
            <a:r>
              <a:rPr lang="en-GB" sz="2800" b="1" u="sng">
                <a:solidFill>
                  <a:srgbClr val="E36C09"/>
                </a:solidFill>
                <a:latin typeface="Calibri"/>
                <a:ea typeface="Calibri"/>
                <a:cs typeface="Calibri"/>
                <a:sym typeface="Calibri"/>
              </a:rPr>
              <a:t>ANIMAL </a:t>
            </a:r>
            <a:r>
              <a:rPr lang="en-GB" sz="2400">
                <a:solidFill>
                  <a:schemeClr val="dk1"/>
                </a:solidFill>
                <a:latin typeface="Calibri"/>
                <a:ea typeface="Calibri"/>
                <a:cs typeface="Calibri"/>
                <a:sym typeface="Calibri"/>
              </a:rPr>
              <a:t>cells</a:t>
            </a:r>
            <a:r>
              <a:rPr lang="en-GB" sz="2400" b="1">
                <a:solidFill>
                  <a:schemeClr val="dk1"/>
                </a:solidFill>
                <a:latin typeface="Calibri"/>
                <a:ea typeface="Calibri"/>
                <a:cs typeface="Calibri"/>
                <a:sym typeface="Calibri"/>
              </a:rPr>
              <a:t> </a:t>
            </a:r>
            <a:r>
              <a:rPr lang="en-GB" sz="2400" b="1">
                <a:solidFill>
                  <a:srgbClr val="E36C09"/>
                </a:solidFill>
                <a:latin typeface="Calibri"/>
                <a:ea typeface="Calibri"/>
                <a:cs typeface="Calibri"/>
                <a:sym typeface="Calibri"/>
              </a:rPr>
              <a:t>differentiate </a:t>
            </a:r>
            <a:r>
              <a:rPr lang="en-GB" sz="2400">
                <a:solidFill>
                  <a:schemeClr val="dk1"/>
                </a:solidFill>
                <a:latin typeface="Calibri"/>
                <a:ea typeface="Calibri"/>
                <a:cs typeface="Calibri"/>
                <a:sym typeface="Calibri"/>
              </a:rPr>
              <a:t>in the early stage of development. </a:t>
            </a:r>
            <a:endParaRPr/>
          </a:p>
        </p:txBody>
      </p:sp>
      <p:sp>
        <p:nvSpPr>
          <p:cNvPr id="312" name="Google Shape;312;p18"/>
          <p:cNvSpPr txBox="1"/>
          <p:nvPr/>
        </p:nvSpPr>
        <p:spPr>
          <a:xfrm>
            <a:off x="502506" y="779220"/>
            <a:ext cx="8119062" cy="1569660"/>
          </a:xfrm>
          <a:prstGeom prst="rect">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dk1"/>
                </a:solidFill>
                <a:latin typeface="Calibri"/>
                <a:ea typeface="Calibri"/>
                <a:cs typeface="Calibri"/>
                <a:sym typeface="Calibri"/>
              </a:rPr>
              <a:t>Cell </a:t>
            </a:r>
            <a:r>
              <a:rPr lang="en-GB" sz="2400" b="1">
                <a:solidFill>
                  <a:schemeClr val="dk1"/>
                </a:solidFill>
                <a:latin typeface="Calibri"/>
                <a:ea typeface="Calibri"/>
                <a:cs typeface="Calibri"/>
                <a:sym typeface="Calibri"/>
              </a:rPr>
              <a:t>differentiation</a:t>
            </a:r>
            <a:r>
              <a:rPr lang="en-GB" sz="2400">
                <a:solidFill>
                  <a:schemeClr val="dk1"/>
                </a:solidFill>
                <a:latin typeface="Calibri"/>
                <a:ea typeface="Calibri"/>
                <a:cs typeface="Calibri"/>
                <a:sym typeface="Calibri"/>
              </a:rPr>
              <a:t> occurs as organisms develop, the cell changes and becomes </a:t>
            </a:r>
            <a:r>
              <a:rPr lang="en-GB" sz="2400" b="1">
                <a:solidFill>
                  <a:schemeClr val="dk1"/>
                </a:solidFill>
                <a:latin typeface="Calibri"/>
                <a:ea typeface="Calibri"/>
                <a:cs typeface="Calibri"/>
                <a:sym typeface="Calibri"/>
              </a:rPr>
              <a:t>specialised</a:t>
            </a:r>
            <a:r>
              <a:rPr lang="en-GB" sz="2400">
                <a:solidFill>
                  <a:schemeClr val="dk1"/>
                </a:solidFill>
                <a:latin typeface="Calibri"/>
                <a:ea typeface="Calibri"/>
                <a:cs typeface="Calibri"/>
                <a:sym typeface="Calibri"/>
              </a:rPr>
              <a:t>. As the cell </a:t>
            </a:r>
            <a:r>
              <a:rPr lang="en-GB" sz="2400" b="1">
                <a:solidFill>
                  <a:schemeClr val="dk1"/>
                </a:solidFill>
                <a:latin typeface="Calibri"/>
                <a:ea typeface="Calibri"/>
                <a:cs typeface="Calibri"/>
                <a:sym typeface="Calibri"/>
              </a:rPr>
              <a:t>differentiates,</a:t>
            </a:r>
            <a:r>
              <a:rPr lang="en-GB" sz="2400">
                <a:solidFill>
                  <a:schemeClr val="dk1"/>
                </a:solidFill>
                <a:latin typeface="Calibri"/>
                <a:ea typeface="Calibri"/>
                <a:cs typeface="Calibri"/>
                <a:sym typeface="Calibri"/>
              </a:rPr>
              <a:t> it forms different sub-cellular structures, e.g. the tail on a sperm cell or the hairs on a root hair cell.</a:t>
            </a:r>
            <a:endParaRPr/>
          </a:p>
        </p:txBody>
      </p:sp>
      <p:sp>
        <p:nvSpPr>
          <p:cNvPr id="313" name="Google Shape;313;p18"/>
          <p:cNvSpPr/>
          <p:nvPr/>
        </p:nvSpPr>
        <p:spPr>
          <a:xfrm>
            <a:off x="5037039" y="5229200"/>
            <a:ext cx="3744416" cy="120032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dk1"/>
                </a:solidFill>
                <a:latin typeface="Calibri"/>
                <a:ea typeface="Calibri"/>
                <a:cs typeface="Calibri"/>
                <a:sym typeface="Calibri"/>
              </a:rPr>
              <a:t>Most types of </a:t>
            </a:r>
            <a:r>
              <a:rPr lang="en-GB" sz="2400" b="1" u="sng">
                <a:solidFill>
                  <a:srgbClr val="E36C09"/>
                </a:solidFill>
                <a:latin typeface="Calibri"/>
                <a:ea typeface="Calibri"/>
                <a:cs typeface="Calibri"/>
                <a:sym typeface="Calibri"/>
              </a:rPr>
              <a:t>PLANT</a:t>
            </a:r>
            <a:r>
              <a:rPr lang="en-GB" sz="2400">
                <a:solidFill>
                  <a:srgbClr val="E36C09"/>
                </a:solidFill>
                <a:latin typeface="Calibri"/>
                <a:ea typeface="Calibri"/>
                <a:cs typeface="Calibri"/>
                <a:sym typeface="Calibri"/>
              </a:rPr>
              <a:t> </a:t>
            </a:r>
            <a:r>
              <a:rPr lang="en-GB" sz="2400">
                <a:solidFill>
                  <a:schemeClr val="dk1"/>
                </a:solidFill>
                <a:latin typeface="Calibri"/>
                <a:ea typeface="Calibri"/>
                <a:cs typeface="Calibri"/>
                <a:sym typeface="Calibri"/>
              </a:rPr>
              <a:t>cells can </a:t>
            </a:r>
            <a:r>
              <a:rPr lang="en-GB" sz="2400" b="1">
                <a:solidFill>
                  <a:srgbClr val="E36C09"/>
                </a:solidFill>
                <a:latin typeface="Calibri"/>
                <a:ea typeface="Calibri"/>
                <a:cs typeface="Calibri"/>
                <a:sym typeface="Calibri"/>
              </a:rPr>
              <a:t>differentiate throughout their life</a:t>
            </a:r>
            <a:r>
              <a:rPr lang="en-GB" sz="2400">
                <a:solidFill>
                  <a:schemeClr val="dk1"/>
                </a:solidFill>
                <a:latin typeface="Calibri"/>
                <a:ea typeface="Calibri"/>
                <a:cs typeface="Calibri"/>
                <a:sym typeface="Calibri"/>
              </a:rPr>
              <a:t> cycle. </a:t>
            </a:r>
            <a:endParaRPr sz="2400" b="1">
              <a:solidFill>
                <a:srgbClr val="E36C09"/>
              </a:solidFill>
              <a:latin typeface="Calibri"/>
              <a:ea typeface="Calibri"/>
              <a:cs typeface="Calibri"/>
              <a:sym typeface="Calibri"/>
            </a:endParaRPr>
          </a:p>
        </p:txBody>
      </p:sp>
      <p:pic>
        <p:nvPicPr>
          <p:cNvPr id="314" name="Google Shape;314;p18"/>
          <p:cNvPicPr preferRelativeResize="0"/>
          <p:nvPr/>
        </p:nvPicPr>
        <p:blipFill rotWithShape="1">
          <a:blip r:embed="rId3">
            <a:alphaModFix/>
          </a:blip>
          <a:srcRect l="12047" t="3187" r="5675" b="16657"/>
          <a:stretch/>
        </p:blipFill>
        <p:spPr>
          <a:xfrm>
            <a:off x="900485" y="2996952"/>
            <a:ext cx="2986227" cy="1947507"/>
          </a:xfrm>
          <a:prstGeom prst="rect">
            <a:avLst/>
          </a:prstGeom>
          <a:noFill/>
          <a:ln>
            <a:noFill/>
          </a:ln>
        </p:spPr>
      </p:pic>
      <p:pic>
        <p:nvPicPr>
          <p:cNvPr id="315" name="Google Shape;315;p18"/>
          <p:cNvPicPr preferRelativeResize="0"/>
          <p:nvPr/>
        </p:nvPicPr>
        <p:blipFill rotWithShape="1">
          <a:blip r:embed="rId4">
            <a:alphaModFix/>
          </a:blip>
          <a:srcRect/>
          <a:stretch/>
        </p:blipFill>
        <p:spPr>
          <a:xfrm>
            <a:off x="5329202" y="2348880"/>
            <a:ext cx="3292366" cy="28803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9"/>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22" name="Google Shape;322;p19"/>
          <p:cNvSpPr txBox="1"/>
          <p:nvPr/>
        </p:nvSpPr>
        <p:spPr>
          <a:xfrm>
            <a:off x="0" y="980728"/>
            <a:ext cx="4716016" cy="46782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QuestionIT!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Part 2 </a:t>
            </a:r>
            <a:endParaRPr/>
          </a:p>
          <a:p>
            <a:pPr marL="0" marR="0" lvl="0" indent="0" algn="l" rtl="0">
              <a:spcBef>
                <a:spcPts val="0"/>
              </a:spcBef>
              <a:spcAft>
                <a:spcPts val="0"/>
              </a:spcAft>
              <a:buNone/>
            </a:pPr>
            <a:endParaRPr sz="28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Cell specialisation</a:t>
            </a:r>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Cell differentiation</a:t>
            </a:r>
            <a:endParaRPr sz="1800">
              <a:solidFill>
                <a:schemeClr val="dk1"/>
              </a:solidFill>
              <a:latin typeface="Calibri"/>
              <a:ea typeface="Calibri"/>
              <a:cs typeface="Calibri"/>
              <a:sym typeface="Calibri"/>
            </a:endParaRPr>
          </a:p>
        </p:txBody>
      </p:sp>
      <p:pic>
        <p:nvPicPr>
          <p:cNvPr id="323" name="Google Shape;323;p19"/>
          <p:cNvPicPr preferRelativeResize="0"/>
          <p:nvPr/>
        </p:nvPicPr>
        <p:blipFill rotWithShape="1">
          <a:blip r:embed="rId3">
            <a:alphaModFix/>
          </a:blip>
          <a:srcRect/>
          <a:stretch/>
        </p:blipFill>
        <p:spPr>
          <a:xfrm>
            <a:off x="4211960" y="886544"/>
            <a:ext cx="4914900" cy="5638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0"/>
          <p:cNvSpPr txBox="1">
            <a:spLocks noGrp="1"/>
          </p:cNvSpPr>
          <p:nvPr>
            <p:ph type="ctrTitle"/>
          </p:nvPr>
        </p:nvSpPr>
        <p:spPr>
          <a:xfrm>
            <a:off x="1331639" y="33832"/>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2 – </a:t>
            </a:r>
            <a:r>
              <a:rPr lang="en-GB" sz="2400" b="1" i="0" u="none" strike="noStrike" cap="none">
                <a:solidFill>
                  <a:schemeClr val="dk1"/>
                </a:solidFill>
                <a:latin typeface="Calibri"/>
                <a:ea typeface="Calibri"/>
                <a:cs typeface="Calibri"/>
                <a:sym typeface="Calibri"/>
              </a:rPr>
              <a:t>QuestionIT</a:t>
            </a:r>
            <a:endParaRPr/>
          </a:p>
        </p:txBody>
      </p:sp>
      <p:sp>
        <p:nvSpPr>
          <p:cNvPr id="329" name="Google Shape;329;p20"/>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30" name="Google Shape;330;p20"/>
          <p:cNvSpPr txBox="1"/>
          <p:nvPr/>
        </p:nvSpPr>
        <p:spPr>
          <a:xfrm>
            <a:off x="-11234" y="690480"/>
            <a:ext cx="9155233" cy="56836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300">
                <a:solidFill>
                  <a:schemeClr val="dk1"/>
                </a:solidFill>
                <a:latin typeface="Calibri"/>
                <a:ea typeface="Calibri"/>
                <a:cs typeface="Calibri"/>
                <a:sym typeface="Calibri"/>
              </a:rPr>
              <a:t>1. Name animal cells A, B and C and describe their structure and function.</a:t>
            </a:r>
            <a:endParaRPr/>
          </a:p>
        </p:txBody>
      </p:sp>
      <p:graphicFrame>
        <p:nvGraphicFramePr>
          <p:cNvPr id="331" name="Google Shape;331;p20"/>
          <p:cNvGraphicFramePr/>
          <p:nvPr/>
        </p:nvGraphicFramePr>
        <p:xfrm>
          <a:off x="137854" y="1391596"/>
          <a:ext cx="3000000" cy="3000000"/>
        </p:xfrm>
        <a:graphic>
          <a:graphicData uri="http://schemas.openxmlformats.org/drawingml/2006/table">
            <a:tbl>
              <a:tblPr firstRow="1" bandRow="1">
                <a:noFill/>
                <a:tableStyleId>{7FB5C040-EF74-47EC-8CDE-39956F763B1A}</a:tableStyleId>
              </a:tblPr>
              <a:tblGrid>
                <a:gridCol w="1538475">
                  <a:extLst>
                    <a:ext uri="{9D8B030D-6E8A-4147-A177-3AD203B41FA5}">
                      <a16:colId xmlns:a16="http://schemas.microsoft.com/office/drawing/2014/main" val="20000"/>
                    </a:ext>
                  </a:extLst>
                </a:gridCol>
                <a:gridCol w="2773125">
                  <a:extLst>
                    <a:ext uri="{9D8B030D-6E8A-4147-A177-3AD203B41FA5}">
                      <a16:colId xmlns:a16="http://schemas.microsoft.com/office/drawing/2014/main" val="20001"/>
                    </a:ext>
                  </a:extLst>
                </a:gridCol>
                <a:gridCol w="4626250">
                  <a:extLst>
                    <a:ext uri="{9D8B030D-6E8A-4147-A177-3AD203B41FA5}">
                      <a16:colId xmlns:a16="http://schemas.microsoft.com/office/drawing/2014/main" val="20002"/>
                    </a:ext>
                  </a:extLst>
                </a:gridCol>
              </a:tblGrid>
              <a:tr h="650100">
                <a:tc>
                  <a:txBody>
                    <a:bodyPr/>
                    <a:lstStyle/>
                    <a:p>
                      <a:pPr marL="0" marR="0" lvl="0" indent="0" algn="ctr" rtl="0">
                        <a:spcBef>
                          <a:spcPts val="0"/>
                        </a:spcBef>
                        <a:spcAft>
                          <a:spcPts val="0"/>
                        </a:spcAft>
                        <a:buNone/>
                      </a:pPr>
                      <a:r>
                        <a:rPr lang="en-GB" sz="1800" b="1"/>
                        <a:t>Name of animal cell</a:t>
                      </a:r>
                      <a:endParaRPr sz="1800" b="1"/>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Diagram</a:t>
                      </a:r>
                      <a:endParaRPr/>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Structure and function</a:t>
                      </a:r>
                      <a:endParaRPr/>
                    </a:p>
                  </a:txBody>
                  <a:tcPr marL="91450" marR="91450" marT="45725" marB="45725">
                    <a:solidFill>
                      <a:schemeClr val="accent6"/>
                    </a:solidFill>
                  </a:tcPr>
                </a:tc>
                <a:extLst>
                  <a:ext uri="{0D108BD9-81ED-4DB2-BD59-A6C34878D82A}">
                    <a16:rowId xmlns:a16="http://schemas.microsoft.com/office/drawing/2014/main" val="10000"/>
                  </a:ext>
                </a:extLst>
              </a:tr>
              <a:tr h="1543400">
                <a:tc>
                  <a:txBody>
                    <a:bodyPr/>
                    <a:lstStyle/>
                    <a:p>
                      <a:pPr marL="0" marR="0" lvl="0" indent="0" algn="l" rtl="0">
                        <a:spcBef>
                          <a:spcPts val="0"/>
                        </a:spcBef>
                        <a:spcAft>
                          <a:spcPts val="0"/>
                        </a:spcAft>
                        <a:buNone/>
                      </a:pPr>
                      <a:r>
                        <a:rPr lang="en-GB" sz="2000" b="1"/>
                        <a:t>A.</a:t>
                      </a:r>
                      <a:endParaRPr/>
                    </a:p>
                  </a:txBody>
                  <a:tcPr marL="91450" marR="91450" marT="45725" marB="45725"/>
                </a:tc>
                <a:tc>
                  <a:txBody>
                    <a:bodyPr/>
                    <a:lstStyle/>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endParaRPr sz="1600"/>
                    </a:p>
                  </a:txBody>
                  <a:tcPr marL="91450" marR="91450" marT="45725" marB="45725"/>
                </a:tc>
                <a:extLst>
                  <a:ext uri="{0D108BD9-81ED-4DB2-BD59-A6C34878D82A}">
                    <a16:rowId xmlns:a16="http://schemas.microsoft.com/office/drawing/2014/main" val="10001"/>
                  </a:ext>
                </a:extLst>
              </a:tr>
              <a:tr h="1512175">
                <a:tc>
                  <a:txBody>
                    <a:bodyPr/>
                    <a:lstStyle/>
                    <a:p>
                      <a:pPr marL="0" marR="0" lvl="0" indent="0" algn="l" rtl="0">
                        <a:spcBef>
                          <a:spcPts val="0"/>
                        </a:spcBef>
                        <a:spcAft>
                          <a:spcPts val="0"/>
                        </a:spcAft>
                        <a:buNone/>
                      </a:pPr>
                      <a:r>
                        <a:rPr lang="en-GB" sz="2000" b="1"/>
                        <a:t>B.</a:t>
                      </a:r>
                      <a:endParaRPr/>
                    </a:p>
                  </a:txBody>
                  <a:tcPr marL="91450" marR="91450" marT="45725" marB="45725"/>
                </a:tc>
                <a:tc>
                  <a:txBody>
                    <a:bodyPr/>
                    <a:lstStyle/>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2"/>
                  </a:ext>
                </a:extLst>
              </a:tr>
              <a:tr h="885950">
                <a:tc>
                  <a:txBody>
                    <a:bodyPr/>
                    <a:lstStyle/>
                    <a:p>
                      <a:pPr marL="0" marR="0" lvl="0" indent="0" algn="l" rtl="0">
                        <a:spcBef>
                          <a:spcPts val="0"/>
                        </a:spcBef>
                        <a:spcAft>
                          <a:spcPts val="0"/>
                        </a:spcAft>
                        <a:buNone/>
                      </a:pPr>
                      <a:r>
                        <a:rPr lang="en-GB" sz="2000" b="1"/>
                        <a:t>C. </a:t>
                      </a:r>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endParaRPr sz="1600" b="0"/>
                    </a:p>
                  </a:txBody>
                  <a:tcPr marL="91450" marR="91450" marT="45725" marB="45725"/>
                </a:tc>
                <a:extLst>
                  <a:ext uri="{0D108BD9-81ED-4DB2-BD59-A6C34878D82A}">
                    <a16:rowId xmlns:a16="http://schemas.microsoft.com/office/drawing/2014/main" val="10003"/>
                  </a:ext>
                </a:extLst>
              </a:tr>
            </a:tbl>
          </a:graphicData>
        </a:graphic>
      </p:graphicFrame>
      <p:pic>
        <p:nvPicPr>
          <p:cNvPr id="332" name="Google Shape;332;p20"/>
          <p:cNvPicPr preferRelativeResize="0"/>
          <p:nvPr/>
        </p:nvPicPr>
        <p:blipFill rotWithShape="1">
          <a:blip r:embed="rId3">
            <a:alphaModFix/>
          </a:blip>
          <a:srcRect b="6635"/>
          <a:stretch/>
        </p:blipFill>
        <p:spPr>
          <a:xfrm>
            <a:off x="1702343" y="2033786"/>
            <a:ext cx="2725640" cy="1539230"/>
          </a:xfrm>
          <a:prstGeom prst="rect">
            <a:avLst/>
          </a:prstGeom>
          <a:noFill/>
          <a:ln>
            <a:noFill/>
          </a:ln>
        </p:spPr>
      </p:pic>
      <p:pic>
        <p:nvPicPr>
          <p:cNvPr id="333" name="Google Shape;333;p20"/>
          <p:cNvPicPr preferRelativeResize="0"/>
          <p:nvPr/>
        </p:nvPicPr>
        <p:blipFill rotWithShape="1">
          <a:blip r:embed="rId4">
            <a:alphaModFix/>
          </a:blip>
          <a:srcRect/>
          <a:stretch/>
        </p:blipFill>
        <p:spPr>
          <a:xfrm>
            <a:off x="1702343" y="3668691"/>
            <a:ext cx="2642969" cy="1416493"/>
          </a:xfrm>
          <a:prstGeom prst="rect">
            <a:avLst/>
          </a:prstGeom>
          <a:noFill/>
          <a:ln>
            <a:noFill/>
          </a:ln>
        </p:spPr>
      </p:pic>
      <p:pic>
        <p:nvPicPr>
          <p:cNvPr id="334" name="Google Shape;334;p20"/>
          <p:cNvPicPr preferRelativeResize="0"/>
          <p:nvPr/>
        </p:nvPicPr>
        <p:blipFill rotWithShape="1">
          <a:blip r:embed="rId5">
            <a:alphaModFix/>
          </a:blip>
          <a:srcRect t="72050"/>
          <a:stretch/>
        </p:blipFill>
        <p:spPr>
          <a:xfrm>
            <a:off x="1619672" y="5373216"/>
            <a:ext cx="2626067" cy="94624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1"/>
          <p:cNvSpPr txBox="1">
            <a:spLocks noGrp="1"/>
          </p:cNvSpPr>
          <p:nvPr>
            <p:ph type="ctrTitle"/>
          </p:nvPr>
        </p:nvSpPr>
        <p:spPr>
          <a:xfrm>
            <a:off x="1331639" y="33832"/>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dk1"/>
                </a:solidFill>
                <a:latin typeface="Calibri"/>
                <a:ea typeface="Calibri"/>
                <a:cs typeface="Calibri"/>
                <a:sym typeface="Calibri"/>
              </a:rPr>
              <a:t>QuestionIT</a:t>
            </a:r>
            <a:endParaRPr/>
          </a:p>
        </p:txBody>
      </p:sp>
      <p:sp>
        <p:nvSpPr>
          <p:cNvPr id="340" name="Google Shape;340;p21"/>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41" name="Google Shape;341;p21"/>
          <p:cNvSpPr txBox="1"/>
          <p:nvPr/>
        </p:nvSpPr>
        <p:spPr>
          <a:xfrm>
            <a:off x="-11234" y="690480"/>
            <a:ext cx="9155233" cy="64633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2. Name plant cells A, B and C and describe their structure and function.</a:t>
            </a:r>
            <a:endParaRPr sz="1600">
              <a:solidFill>
                <a:schemeClr val="dk1"/>
              </a:solidFill>
              <a:latin typeface="Calibri"/>
              <a:ea typeface="Calibri"/>
              <a:cs typeface="Calibri"/>
              <a:sym typeface="Calibri"/>
            </a:endParaRPr>
          </a:p>
        </p:txBody>
      </p:sp>
      <p:graphicFrame>
        <p:nvGraphicFramePr>
          <p:cNvPr id="342" name="Google Shape;342;p21"/>
          <p:cNvGraphicFramePr/>
          <p:nvPr/>
        </p:nvGraphicFramePr>
        <p:xfrm>
          <a:off x="69575" y="1336811"/>
          <a:ext cx="3000000" cy="3000000"/>
        </p:xfrm>
        <a:graphic>
          <a:graphicData uri="http://schemas.openxmlformats.org/drawingml/2006/table">
            <a:tbl>
              <a:tblPr firstRow="1" bandRow="1">
                <a:noFill/>
                <a:tableStyleId>{7FB5C040-EF74-47EC-8CDE-39956F763B1A}</a:tableStyleId>
              </a:tblPr>
              <a:tblGrid>
                <a:gridCol w="1368150">
                  <a:extLst>
                    <a:ext uri="{9D8B030D-6E8A-4147-A177-3AD203B41FA5}">
                      <a16:colId xmlns:a16="http://schemas.microsoft.com/office/drawing/2014/main" val="20000"/>
                    </a:ext>
                  </a:extLst>
                </a:gridCol>
                <a:gridCol w="2592300">
                  <a:extLst>
                    <a:ext uri="{9D8B030D-6E8A-4147-A177-3AD203B41FA5}">
                      <a16:colId xmlns:a16="http://schemas.microsoft.com/office/drawing/2014/main" val="20001"/>
                    </a:ext>
                  </a:extLst>
                </a:gridCol>
                <a:gridCol w="4824525">
                  <a:extLst>
                    <a:ext uri="{9D8B030D-6E8A-4147-A177-3AD203B41FA5}">
                      <a16:colId xmlns:a16="http://schemas.microsoft.com/office/drawing/2014/main" val="20002"/>
                    </a:ext>
                  </a:extLst>
                </a:gridCol>
              </a:tblGrid>
              <a:tr h="625825">
                <a:tc>
                  <a:txBody>
                    <a:bodyPr/>
                    <a:lstStyle/>
                    <a:p>
                      <a:pPr marL="0" marR="0" lvl="0" indent="0" algn="ctr" rtl="0">
                        <a:spcBef>
                          <a:spcPts val="0"/>
                        </a:spcBef>
                        <a:spcAft>
                          <a:spcPts val="0"/>
                        </a:spcAft>
                        <a:buNone/>
                      </a:pPr>
                      <a:r>
                        <a:rPr lang="en-GB" sz="1800" b="1"/>
                        <a:t>Name of plant cell</a:t>
                      </a:r>
                      <a:endParaRPr sz="1800" b="1"/>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Diagram</a:t>
                      </a:r>
                      <a:endParaRPr/>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Structure and function</a:t>
                      </a:r>
                      <a:endParaRPr/>
                    </a:p>
                  </a:txBody>
                  <a:tcPr marL="91450" marR="91450" marT="45725" marB="45725">
                    <a:solidFill>
                      <a:schemeClr val="accent6"/>
                    </a:solidFill>
                  </a:tcPr>
                </a:tc>
                <a:extLst>
                  <a:ext uri="{0D108BD9-81ED-4DB2-BD59-A6C34878D82A}">
                    <a16:rowId xmlns:a16="http://schemas.microsoft.com/office/drawing/2014/main" val="10000"/>
                  </a:ext>
                </a:extLst>
              </a:tr>
              <a:tr h="1222275">
                <a:tc>
                  <a:txBody>
                    <a:bodyPr/>
                    <a:lstStyle/>
                    <a:p>
                      <a:pPr marL="0" marR="0" lvl="0" indent="0" algn="l" rtl="0">
                        <a:spcBef>
                          <a:spcPts val="0"/>
                        </a:spcBef>
                        <a:spcAft>
                          <a:spcPts val="0"/>
                        </a:spcAft>
                        <a:buNone/>
                      </a:pPr>
                      <a:r>
                        <a:rPr lang="en-GB" sz="2000" b="1"/>
                        <a:t>A.</a:t>
                      </a:r>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endParaRPr sz="1400" b="0"/>
                    </a:p>
                  </a:txBody>
                  <a:tcPr marL="91450" marR="91450" marT="45725" marB="45725"/>
                </a:tc>
                <a:extLst>
                  <a:ext uri="{0D108BD9-81ED-4DB2-BD59-A6C34878D82A}">
                    <a16:rowId xmlns:a16="http://schemas.microsoft.com/office/drawing/2014/main" val="10001"/>
                  </a:ext>
                </a:extLst>
              </a:tr>
              <a:tr h="1601650">
                <a:tc>
                  <a:txBody>
                    <a:bodyPr/>
                    <a:lstStyle/>
                    <a:p>
                      <a:pPr marL="0" marR="0" lvl="0" indent="0" algn="l" rtl="0">
                        <a:spcBef>
                          <a:spcPts val="0"/>
                        </a:spcBef>
                        <a:spcAft>
                          <a:spcPts val="0"/>
                        </a:spcAft>
                        <a:buNone/>
                      </a:pPr>
                      <a:r>
                        <a:rPr lang="en-GB" sz="2000" b="1"/>
                        <a:t>B.</a:t>
                      </a:r>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endParaRPr sz="1600" b="0"/>
                    </a:p>
                  </a:txBody>
                  <a:tcPr marL="91450" marR="91450" marT="45725" marB="45725"/>
                </a:tc>
                <a:extLst>
                  <a:ext uri="{0D108BD9-81ED-4DB2-BD59-A6C34878D82A}">
                    <a16:rowId xmlns:a16="http://schemas.microsoft.com/office/drawing/2014/main" val="10002"/>
                  </a:ext>
                </a:extLst>
              </a:tr>
              <a:tr h="1611700">
                <a:tc>
                  <a:txBody>
                    <a:bodyPr/>
                    <a:lstStyle/>
                    <a:p>
                      <a:pPr marL="0" marR="0" lvl="0" indent="0" algn="l" rtl="0">
                        <a:spcBef>
                          <a:spcPts val="0"/>
                        </a:spcBef>
                        <a:spcAft>
                          <a:spcPts val="0"/>
                        </a:spcAft>
                        <a:buNone/>
                      </a:pPr>
                      <a:r>
                        <a:rPr lang="en-GB" sz="2000" b="1"/>
                        <a:t>C. </a:t>
                      </a:r>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endParaRPr sz="1600" b="0"/>
                    </a:p>
                  </a:txBody>
                  <a:tcPr marL="91450" marR="91450" marT="45725" marB="45725"/>
                </a:tc>
                <a:extLst>
                  <a:ext uri="{0D108BD9-81ED-4DB2-BD59-A6C34878D82A}">
                    <a16:rowId xmlns:a16="http://schemas.microsoft.com/office/drawing/2014/main" val="10003"/>
                  </a:ext>
                </a:extLst>
              </a:tr>
            </a:tbl>
          </a:graphicData>
        </a:graphic>
      </p:graphicFrame>
      <p:pic>
        <p:nvPicPr>
          <p:cNvPr id="343" name="Google Shape;343;p21"/>
          <p:cNvPicPr preferRelativeResize="0"/>
          <p:nvPr/>
        </p:nvPicPr>
        <p:blipFill rotWithShape="1">
          <a:blip r:embed="rId3">
            <a:alphaModFix/>
          </a:blip>
          <a:srcRect l="55308" r="-1605" b="22701"/>
          <a:stretch/>
        </p:blipFill>
        <p:spPr>
          <a:xfrm>
            <a:off x="1720042" y="4930443"/>
            <a:ext cx="1689079" cy="1522893"/>
          </a:xfrm>
          <a:prstGeom prst="rect">
            <a:avLst/>
          </a:prstGeom>
          <a:noFill/>
          <a:ln>
            <a:noFill/>
          </a:ln>
        </p:spPr>
      </p:pic>
      <p:pic>
        <p:nvPicPr>
          <p:cNvPr id="344" name="Google Shape;344;p21"/>
          <p:cNvPicPr preferRelativeResize="0"/>
          <p:nvPr/>
        </p:nvPicPr>
        <p:blipFill rotWithShape="1">
          <a:blip r:embed="rId4">
            <a:alphaModFix/>
          </a:blip>
          <a:srcRect/>
          <a:stretch/>
        </p:blipFill>
        <p:spPr>
          <a:xfrm>
            <a:off x="1435900" y="2012109"/>
            <a:ext cx="2664296" cy="1185732"/>
          </a:xfrm>
          <a:prstGeom prst="rect">
            <a:avLst/>
          </a:prstGeom>
          <a:noFill/>
          <a:ln>
            <a:noFill/>
          </a:ln>
        </p:spPr>
      </p:pic>
      <p:pic>
        <p:nvPicPr>
          <p:cNvPr id="345" name="Google Shape;345;p21"/>
          <p:cNvPicPr preferRelativeResize="0"/>
          <p:nvPr/>
        </p:nvPicPr>
        <p:blipFill rotWithShape="1">
          <a:blip r:embed="rId5">
            <a:alphaModFix/>
          </a:blip>
          <a:srcRect r="55627" b="22440"/>
          <a:stretch/>
        </p:blipFill>
        <p:spPr>
          <a:xfrm>
            <a:off x="1864372" y="3309491"/>
            <a:ext cx="1627507" cy="153611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2"/>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dk1"/>
                </a:solidFill>
                <a:latin typeface="Calibri"/>
                <a:ea typeface="Calibri"/>
                <a:cs typeface="Calibri"/>
                <a:sym typeface="Calibri"/>
              </a:rPr>
              <a:t>QuestionIT</a:t>
            </a:r>
            <a:endParaRPr/>
          </a:p>
        </p:txBody>
      </p:sp>
      <p:sp>
        <p:nvSpPr>
          <p:cNvPr id="351" name="Google Shape;351;p22"/>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52" name="Google Shape;352;p22"/>
          <p:cNvSpPr txBox="1"/>
          <p:nvPr/>
        </p:nvSpPr>
        <p:spPr>
          <a:xfrm>
            <a:off x="149087" y="697936"/>
            <a:ext cx="8915400" cy="23083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3. What does cell differentiation mean?</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4. In what stage of an animal’s life cycle do most cells differentiate?</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5. In mature animals when do cells still need to differentiate?</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6. In what stage of their life cycle do plant cells differentiate?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3"/>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59" name="Google Shape;359;p23"/>
          <p:cNvSpPr txBox="1"/>
          <p:nvPr/>
        </p:nvSpPr>
        <p:spPr>
          <a:xfrm>
            <a:off x="0" y="980728"/>
            <a:ext cx="4716016" cy="53245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6000" b="1">
                <a:solidFill>
                  <a:schemeClr val="dk1"/>
                </a:solidFill>
                <a:latin typeface="Calibri"/>
                <a:ea typeface="Calibri"/>
                <a:cs typeface="Calibri"/>
                <a:sym typeface="Calibri"/>
              </a:rPr>
              <a:t>AnswerIT!</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GB" sz="40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4000" b="1">
                <a:solidFill>
                  <a:srgbClr val="7F7F7F"/>
                </a:solidFill>
                <a:latin typeface="Calibri"/>
                <a:ea typeface="Calibri"/>
                <a:cs typeface="Calibri"/>
                <a:sym typeface="Calibri"/>
              </a:rPr>
              <a:t>Part 2 </a:t>
            </a:r>
            <a:endParaRPr/>
          </a:p>
          <a:p>
            <a:pPr marL="0" marR="0" lvl="0" indent="0" algn="l" rtl="0">
              <a:spcBef>
                <a:spcPts val="0"/>
              </a:spcBef>
              <a:spcAft>
                <a:spcPts val="0"/>
              </a:spcAft>
              <a:buNone/>
            </a:pPr>
            <a:endParaRPr sz="32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800"/>
              <a:buFont typeface="Arial"/>
              <a:buChar char="•"/>
            </a:pPr>
            <a:r>
              <a:rPr lang="en-GB" sz="2800" b="1">
                <a:solidFill>
                  <a:srgbClr val="7F7F7F"/>
                </a:solidFill>
                <a:latin typeface="Calibri"/>
                <a:ea typeface="Calibri"/>
                <a:cs typeface="Calibri"/>
                <a:sym typeface="Calibri"/>
              </a:rPr>
              <a:t>Cell specialisation</a:t>
            </a:r>
            <a:endParaRPr/>
          </a:p>
          <a:p>
            <a:pPr marL="457200" marR="0" lvl="0" indent="-457200" algn="l" rtl="0">
              <a:lnSpc>
                <a:spcPct val="150000"/>
              </a:lnSpc>
              <a:spcBef>
                <a:spcPts val="0"/>
              </a:spcBef>
              <a:spcAft>
                <a:spcPts val="0"/>
              </a:spcAft>
              <a:buClr>
                <a:srgbClr val="7F7F7F"/>
              </a:buClr>
              <a:buSzPts val="2800"/>
              <a:buFont typeface="Arial"/>
              <a:buChar char="•"/>
            </a:pPr>
            <a:r>
              <a:rPr lang="en-GB" sz="2800" b="1">
                <a:solidFill>
                  <a:srgbClr val="7F7F7F"/>
                </a:solidFill>
                <a:latin typeface="Calibri"/>
                <a:ea typeface="Calibri"/>
                <a:cs typeface="Calibri"/>
                <a:sym typeface="Calibri"/>
              </a:rPr>
              <a:t>Cell differentiation</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360" name="Google Shape;360;p23"/>
          <p:cNvPicPr preferRelativeResize="0"/>
          <p:nvPr/>
        </p:nvPicPr>
        <p:blipFill rotWithShape="1">
          <a:blip r:embed="rId3">
            <a:alphaModFix/>
          </a:blip>
          <a:srcRect/>
          <a:stretch/>
        </p:blipFill>
        <p:spPr>
          <a:xfrm>
            <a:off x="4139952" y="704918"/>
            <a:ext cx="4824536" cy="5257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4"/>
          <p:cNvSpPr txBox="1">
            <a:spLocks noGrp="1"/>
          </p:cNvSpPr>
          <p:nvPr>
            <p:ph type="ctrTitle"/>
          </p:nvPr>
        </p:nvSpPr>
        <p:spPr>
          <a:xfrm>
            <a:off x="1331639" y="33832"/>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dk1"/>
                </a:solidFill>
                <a:latin typeface="Calibri"/>
                <a:ea typeface="Calibri"/>
                <a:cs typeface="Calibri"/>
                <a:sym typeface="Calibri"/>
              </a:rPr>
              <a:t>AnswerIT</a:t>
            </a:r>
            <a:endParaRPr/>
          </a:p>
        </p:txBody>
      </p:sp>
      <p:sp>
        <p:nvSpPr>
          <p:cNvPr id="366" name="Google Shape;366;p24"/>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67" name="Google Shape;367;p24"/>
          <p:cNvSpPr txBox="1"/>
          <p:nvPr/>
        </p:nvSpPr>
        <p:spPr>
          <a:xfrm>
            <a:off x="-11234" y="690480"/>
            <a:ext cx="9155233" cy="56836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300">
                <a:solidFill>
                  <a:schemeClr val="dk1"/>
                </a:solidFill>
                <a:latin typeface="Calibri"/>
                <a:ea typeface="Calibri"/>
                <a:cs typeface="Calibri"/>
                <a:sym typeface="Calibri"/>
              </a:rPr>
              <a:t>1. Name animal cells A, B and C and describe their structure and function.</a:t>
            </a:r>
            <a:endParaRPr/>
          </a:p>
        </p:txBody>
      </p:sp>
      <p:pic>
        <p:nvPicPr>
          <p:cNvPr id="368" name="Google Shape;368;p24"/>
          <p:cNvPicPr preferRelativeResize="0"/>
          <p:nvPr/>
        </p:nvPicPr>
        <p:blipFill rotWithShape="1">
          <a:blip r:embed="rId3">
            <a:alphaModFix/>
          </a:blip>
          <a:srcRect b="6635"/>
          <a:stretch/>
        </p:blipFill>
        <p:spPr>
          <a:xfrm>
            <a:off x="1702343" y="2105794"/>
            <a:ext cx="2725640" cy="1539230"/>
          </a:xfrm>
          <a:prstGeom prst="rect">
            <a:avLst/>
          </a:prstGeom>
          <a:noFill/>
          <a:ln>
            <a:noFill/>
          </a:ln>
        </p:spPr>
      </p:pic>
      <p:pic>
        <p:nvPicPr>
          <p:cNvPr id="369" name="Google Shape;369;p24"/>
          <p:cNvPicPr preferRelativeResize="0"/>
          <p:nvPr/>
        </p:nvPicPr>
        <p:blipFill rotWithShape="1">
          <a:blip r:embed="rId4">
            <a:alphaModFix/>
          </a:blip>
          <a:srcRect/>
          <a:stretch/>
        </p:blipFill>
        <p:spPr>
          <a:xfrm>
            <a:off x="1702343" y="3717032"/>
            <a:ext cx="2642969" cy="1416493"/>
          </a:xfrm>
          <a:prstGeom prst="rect">
            <a:avLst/>
          </a:prstGeom>
          <a:noFill/>
          <a:ln>
            <a:noFill/>
          </a:ln>
        </p:spPr>
      </p:pic>
      <p:pic>
        <p:nvPicPr>
          <p:cNvPr id="370" name="Google Shape;370;p24"/>
          <p:cNvPicPr preferRelativeResize="0"/>
          <p:nvPr/>
        </p:nvPicPr>
        <p:blipFill rotWithShape="1">
          <a:blip r:embed="rId5">
            <a:alphaModFix/>
          </a:blip>
          <a:srcRect t="72050"/>
          <a:stretch/>
        </p:blipFill>
        <p:spPr>
          <a:xfrm>
            <a:off x="1619672" y="5573696"/>
            <a:ext cx="2626067" cy="946245"/>
          </a:xfrm>
          <a:prstGeom prst="rect">
            <a:avLst/>
          </a:prstGeom>
          <a:noFill/>
          <a:ln>
            <a:noFill/>
          </a:ln>
        </p:spPr>
      </p:pic>
      <p:graphicFrame>
        <p:nvGraphicFramePr>
          <p:cNvPr id="371" name="Google Shape;371;p24"/>
          <p:cNvGraphicFramePr/>
          <p:nvPr/>
        </p:nvGraphicFramePr>
        <p:xfrm>
          <a:off x="116378" y="1400582"/>
          <a:ext cx="3000000" cy="3000000"/>
        </p:xfrm>
        <a:graphic>
          <a:graphicData uri="http://schemas.openxmlformats.org/drawingml/2006/table">
            <a:tbl>
              <a:tblPr firstRow="1" bandRow="1">
                <a:noFill/>
                <a:tableStyleId>{7FB5C040-EF74-47EC-8CDE-39956F763B1A}</a:tableStyleId>
              </a:tblPr>
              <a:tblGrid>
                <a:gridCol w="1538475">
                  <a:extLst>
                    <a:ext uri="{9D8B030D-6E8A-4147-A177-3AD203B41FA5}">
                      <a16:colId xmlns:a16="http://schemas.microsoft.com/office/drawing/2014/main" val="20000"/>
                    </a:ext>
                  </a:extLst>
                </a:gridCol>
                <a:gridCol w="2773125">
                  <a:extLst>
                    <a:ext uri="{9D8B030D-6E8A-4147-A177-3AD203B41FA5}">
                      <a16:colId xmlns:a16="http://schemas.microsoft.com/office/drawing/2014/main" val="20001"/>
                    </a:ext>
                  </a:extLst>
                </a:gridCol>
                <a:gridCol w="4626250">
                  <a:extLst>
                    <a:ext uri="{9D8B030D-6E8A-4147-A177-3AD203B41FA5}">
                      <a16:colId xmlns:a16="http://schemas.microsoft.com/office/drawing/2014/main" val="20002"/>
                    </a:ext>
                  </a:extLst>
                </a:gridCol>
              </a:tblGrid>
              <a:tr h="650100">
                <a:tc>
                  <a:txBody>
                    <a:bodyPr/>
                    <a:lstStyle/>
                    <a:p>
                      <a:pPr marL="0" marR="0" lvl="0" indent="0" algn="ctr" rtl="0">
                        <a:spcBef>
                          <a:spcPts val="0"/>
                        </a:spcBef>
                        <a:spcAft>
                          <a:spcPts val="0"/>
                        </a:spcAft>
                        <a:buNone/>
                      </a:pPr>
                      <a:r>
                        <a:rPr lang="en-GB" sz="1800" b="1"/>
                        <a:t>Name of animal cell</a:t>
                      </a:r>
                      <a:endParaRPr sz="1800" b="1"/>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Diagram</a:t>
                      </a:r>
                      <a:endParaRPr/>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Structure and function</a:t>
                      </a:r>
                      <a:endParaRPr/>
                    </a:p>
                  </a:txBody>
                  <a:tcPr marL="91450" marR="91450" marT="45725" marB="45725">
                    <a:solidFill>
                      <a:schemeClr val="accent6"/>
                    </a:solidFill>
                  </a:tcPr>
                </a:tc>
                <a:extLst>
                  <a:ext uri="{0D108BD9-81ED-4DB2-BD59-A6C34878D82A}">
                    <a16:rowId xmlns:a16="http://schemas.microsoft.com/office/drawing/2014/main" val="10000"/>
                  </a:ext>
                </a:extLst>
              </a:tr>
              <a:tr h="1543400">
                <a:tc>
                  <a:txBody>
                    <a:bodyPr/>
                    <a:lstStyle/>
                    <a:p>
                      <a:pPr marL="0" marR="0" lvl="0" indent="0" algn="l" rtl="0">
                        <a:spcBef>
                          <a:spcPts val="0"/>
                        </a:spcBef>
                        <a:spcAft>
                          <a:spcPts val="0"/>
                        </a:spcAft>
                        <a:buNone/>
                      </a:pPr>
                      <a:r>
                        <a:rPr lang="en-GB" sz="2000" b="1">
                          <a:solidFill>
                            <a:srgbClr val="00B050"/>
                          </a:solidFill>
                        </a:rPr>
                        <a:t>A. Sperm</a:t>
                      </a:r>
                      <a:endParaRPr/>
                    </a:p>
                  </a:txBody>
                  <a:tcPr marL="91450" marR="91450" marT="45725" marB="45725"/>
                </a:tc>
                <a:tc>
                  <a:txBody>
                    <a:bodyPr/>
                    <a:lstStyle/>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solidFill>
                            <a:srgbClr val="00B050"/>
                          </a:solidFill>
                        </a:rPr>
                        <a:t>Function is to fertilise an egg.</a:t>
                      </a:r>
                      <a:endParaRPr/>
                    </a:p>
                    <a:p>
                      <a:pPr marL="285750" marR="0" lvl="0" indent="-285750" algn="l" rtl="0">
                        <a:spcBef>
                          <a:spcPts val="0"/>
                        </a:spcBef>
                        <a:spcAft>
                          <a:spcPts val="0"/>
                        </a:spcAft>
                        <a:buClr>
                          <a:srgbClr val="00B050"/>
                        </a:buClr>
                        <a:buSzPts val="1600"/>
                        <a:buFont typeface="Arial"/>
                        <a:buChar char="•"/>
                      </a:pPr>
                      <a:r>
                        <a:rPr lang="en-GB" sz="1600">
                          <a:solidFill>
                            <a:srgbClr val="00B050"/>
                          </a:solidFill>
                        </a:rPr>
                        <a:t>Streamlined with a long tail to swim to the egg. </a:t>
                      </a:r>
                      <a:endParaRPr/>
                    </a:p>
                    <a:p>
                      <a:pPr marL="285750" marR="0" lvl="0" indent="-285750" algn="l" rtl="0">
                        <a:spcBef>
                          <a:spcPts val="0"/>
                        </a:spcBef>
                        <a:spcAft>
                          <a:spcPts val="0"/>
                        </a:spcAft>
                        <a:buClr>
                          <a:srgbClr val="00B050"/>
                        </a:buClr>
                        <a:buSzPts val="1600"/>
                        <a:buFont typeface="Arial"/>
                        <a:buChar char="•"/>
                      </a:pPr>
                      <a:r>
                        <a:rPr lang="en-GB" sz="1600">
                          <a:solidFill>
                            <a:srgbClr val="00B050"/>
                          </a:solidFill>
                        </a:rPr>
                        <a:t>Acrosome in the head containing enzymes to digest the egg cell membrane.</a:t>
                      </a:r>
                      <a:endParaRPr/>
                    </a:p>
                    <a:p>
                      <a:pPr marL="285750" marR="0" lvl="0" indent="-285750" algn="l" rtl="0">
                        <a:spcBef>
                          <a:spcPts val="0"/>
                        </a:spcBef>
                        <a:spcAft>
                          <a:spcPts val="0"/>
                        </a:spcAft>
                        <a:buClr>
                          <a:srgbClr val="00B050"/>
                        </a:buClr>
                        <a:buSzPts val="1600"/>
                        <a:buFont typeface="Arial"/>
                        <a:buChar char="•"/>
                      </a:pPr>
                      <a:r>
                        <a:rPr lang="en-GB" sz="1600">
                          <a:solidFill>
                            <a:srgbClr val="00B050"/>
                          </a:solidFill>
                        </a:rPr>
                        <a:t>Large number of mitochondria in the mid section to release energy for movement.</a:t>
                      </a:r>
                      <a:endParaRPr sz="1600">
                        <a:solidFill>
                          <a:srgbClr val="00B050"/>
                        </a:solidFill>
                      </a:endParaRPr>
                    </a:p>
                  </a:txBody>
                  <a:tcPr marL="91450" marR="91450" marT="45725" marB="45725"/>
                </a:tc>
                <a:extLst>
                  <a:ext uri="{0D108BD9-81ED-4DB2-BD59-A6C34878D82A}">
                    <a16:rowId xmlns:a16="http://schemas.microsoft.com/office/drawing/2014/main" val="10001"/>
                  </a:ext>
                </a:extLst>
              </a:tr>
              <a:tr h="1512175">
                <a:tc>
                  <a:txBody>
                    <a:bodyPr/>
                    <a:lstStyle/>
                    <a:p>
                      <a:pPr marL="0" marR="0" lvl="0" indent="0" algn="l" rtl="0">
                        <a:spcBef>
                          <a:spcPts val="0"/>
                        </a:spcBef>
                        <a:spcAft>
                          <a:spcPts val="0"/>
                        </a:spcAft>
                        <a:buNone/>
                      </a:pPr>
                      <a:r>
                        <a:rPr lang="en-GB" sz="2000" b="1">
                          <a:solidFill>
                            <a:srgbClr val="00B050"/>
                          </a:solidFill>
                        </a:rPr>
                        <a:t>B. Nerve</a:t>
                      </a:r>
                      <a:endParaRPr/>
                    </a:p>
                  </a:txBody>
                  <a:tcPr marL="91450" marR="91450" marT="45725" marB="45725"/>
                </a:tc>
                <a:tc>
                  <a:txBody>
                    <a:bodyPr/>
                    <a:lstStyle/>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solidFill>
                            <a:srgbClr val="00B050"/>
                          </a:solidFill>
                        </a:rPr>
                        <a:t>Function is to carry electrical signals.</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Long to carry signals long distances.</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Branched connections to connect to other nerve cells and form a network around the body.</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Insulating sheath to enhance transmission of electrical signals.</a:t>
                      </a:r>
                      <a:endParaRPr sz="1800">
                        <a:solidFill>
                          <a:srgbClr val="00B050"/>
                        </a:solidFill>
                      </a:endParaRPr>
                    </a:p>
                  </a:txBody>
                  <a:tcPr marL="91450" marR="91450" marT="45725" marB="45725"/>
                </a:tc>
                <a:extLst>
                  <a:ext uri="{0D108BD9-81ED-4DB2-BD59-A6C34878D82A}">
                    <a16:rowId xmlns:a16="http://schemas.microsoft.com/office/drawing/2014/main" val="10002"/>
                  </a:ext>
                </a:extLst>
              </a:tr>
              <a:tr h="885950">
                <a:tc>
                  <a:txBody>
                    <a:bodyPr/>
                    <a:lstStyle/>
                    <a:p>
                      <a:pPr marL="0" marR="0" lvl="0" indent="0" algn="l" rtl="0">
                        <a:spcBef>
                          <a:spcPts val="0"/>
                        </a:spcBef>
                        <a:spcAft>
                          <a:spcPts val="0"/>
                        </a:spcAft>
                        <a:buNone/>
                      </a:pPr>
                      <a:r>
                        <a:rPr lang="en-GB" sz="2000" b="1">
                          <a:solidFill>
                            <a:srgbClr val="00B050"/>
                          </a:solidFill>
                        </a:rPr>
                        <a:t>C. Muscle</a:t>
                      </a:r>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solidFill>
                            <a:srgbClr val="00B050"/>
                          </a:solidFill>
                        </a:rPr>
                        <a:t>Function is to contract to allow movement.</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Contain a large number of mitochondria to release energy from respiration for movement.</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Long so that there is enough space to contract.  </a:t>
                      </a:r>
                      <a:endParaRPr sz="1600" b="0">
                        <a:solidFill>
                          <a:srgbClr val="00B050"/>
                        </a:solidFill>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graphicFrame>
        <p:nvGraphicFramePr>
          <p:cNvPr id="376" name="Google Shape;376;p25"/>
          <p:cNvGraphicFramePr/>
          <p:nvPr/>
        </p:nvGraphicFramePr>
        <p:xfrm>
          <a:off x="173894" y="1265360"/>
          <a:ext cx="3000000" cy="3000000"/>
        </p:xfrm>
        <a:graphic>
          <a:graphicData uri="http://schemas.openxmlformats.org/drawingml/2006/table">
            <a:tbl>
              <a:tblPr firstRow="1" bandRow="1">
                <a:noFill/>
                <a:tableStyleId>{7FB5C040-EF74-47EC-8CDE-39956F763B1A}</a:tableStyleId>
              </a:tblPr>
              <a:tblGrid>
                <a:gridCol w="1346300">
                  <a:extLst>
                    <a:ext uri="{9D8B030D-6E8A-4147-A177-3AD203B41FA5}">
                      <a16:colId xmlns:a16="http://schemas.microsoft.com/office/drawing/2014/main" val="20000"/>
                    </a:ext>
                  </a:extLst>
                </a:gridCol>
                <a:gridCol w="2491750">
                  <a:extLst>
                    <a:ext uri="{9D8B030D-6E8A-4147-A177-3AD203B41FA5}">
                      <a16:colId xmlns:a16="http://schemas.microsoft.com/office/drawing/2014/main" val="20001"/>
                    </a:ext>
                  </a:extLst>
                </a:gridCol>
                <a:gridCol w="4946950">
                  <a:extLst>
                    <a:ext uri="{9D8B030D-6E8A-4147-A177-3AD203B41FA5}">
                      <a16:colId xmlns:a16="http://schemas.microsoft.com/office/drawing/2014/main" val="20002"/>
                    </a:ext>
                  </a:extLst>
                </a:gridCol>
              </a:tblGrid>
              <a:tr h="651525">
                <a:tc>
                  <a:txBody>
                    <a:bodyPr/>
                    <a:lstStyle/>
                    <a:p>
                      <a:pPr marL="0" marR="0" lvl="0" indent="0" algn="ctr" rtl="0">
                        <a:spcBef>
                          <a:spcPts val="0"/>
                        </a:spcBef>
                        <a:spcAft>
                          <a:spcPts val="0"/>
                        </a:spcAft>
                        <a:buNone/>
                      </a:pPr>
                      <a:r>
                        <a:rPr lang="en-GB" sz="1800" b="1"/>
                        <a:t>Name of plant cell</a:t>
                      </a:r>
                      <a:endParaRPr sz="1800" b="1"/>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Diagram</a:t>
                      </a:r>
                      <a:endParaRPr/>
                    </a:p>
                  </a:txBody>
                  <a:tcPr marL="91450" marR="91450" marT="45725" marB="45725">
                    <a:solidFill>
                      <a:schemeClr val="accent6"/>
                    </a:solidFill>
                  </a:tcPr>
                </a:tc>
                <a:tc>
                  <a:txBody>
                    <a:bodyPr/>
                    <a:lstStyle/>
                    <a:p>
                      <a:pPr marL="0" marR="0" lvl="0" indent="0" algn="ctr" rtl="0">
                        <a:spcBef>
                          <a:spcPts val="0"/>
                        </a:spcBef>
                        <a:spcAft>
                          <a:spcPts val="0"/>
                        </a:spcAft>
                        <a:buNone/>
                      </a:pPr>
                      <a:r>
                        <a:rPr lang="en-GB" sz="1800" b="1"/>
                        <a:t>Structure and function</a:t>
                      </a:r>
                      <a:endParaRPr/>
                    </a:p>
                  </a:txBody>
                  <a:tcPr marL="91450" marR="91450" marT="45725" marB="45725">
                    <a:solidFill>
                      <a:schemeClr val="accent6"/>
                    </a:solidFill>
                  </a:tcPr>
                </a:tc>
                <a:extLst>
                  <a:ext uri="{0D108BD9-81ED-4DB2-BD59-A6C34878D82A}">
                    <a16:rowId xmlns:a16="http://schemas.microsoft.com/office/drawing/2014/main" val="10000"/>
                  </a:ext>
                </a:extLst>
              </a:tr>
              <a:tr h="1307775">
                <a:tc>
                  <a:txBody>
                    <a:bodyPr/>
                    <a:lstStyle/>
                    <a:p>
                      <a:pPr marL="0" marR="0" lvl="0" indent="0" algn="l" rtl="0">
                        <a:spcBef>
                          <a:spcPts val="0"/>
                        </a:spcBef>
                        <a:spcAft>
                          <a:spcPts val="0"/>
                        </a:spcAft>
                        <a:buNone/>
                      </a:pPr>
                      <a:r>
                        <a:rPr lang="en-GB" sz="1800" b="1">
                          <a:solidFill>
                            <a:srgbClr val="00B050"/>
                          </a:solidFill>
                        </a:rPr>
                        <a:t>A. Root hair</a:t>
                      </a:r>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solidFill>
                            <a:srgbClr val="00B050"/>
                          </a:solidFill>
                        </a:rPr>
                        <a:t>Function is to absorb water and minerals from the soil.</a:t>
                      </a:r>
                      <a:endParaRPr sz="1800" b="1">
                        <a:solidFill>
                          <a:srgbClr val="00B050"/>
                        </a:solidFill>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Hair like projections to increase the surface area.</a:t>
                      </a:r>
                      <a:endParaRPr/>
                    </a:p>
                    <a:p>
                      <a:pPr marL="0" marR="0" lvl="0" indent="0" algn="l" rtl="0">
                        <a:spcBef>
                          <a:spcPts val="0"/>
                        </a:spcBef>
                        <a:spcAft>
                          <a:spcPts val="0"/>
                        </a:spcAft>
                        <a:buClr>
                          <a:srgbClr val="00B050"/>
                        </a:buClr>
                        <a:buSzPts val="1600"/>
                        <a:buFont typeface="Arial"/>
                        <a:buNone/>
                      </a:pPr>
                      <a:r>
                        <a:rPr lang="en-GB" sz="1600" b="0">
                          <a:solidFill>
                            <a:srgbClr val="00B050"/>
                          </a:solidFill>
                        </a:rPr>
                        <a:t>(Note that root hair cells have no chloroplasts this is because they do not need them as they are in the soil) </a:t>
                      </a:r>
                      <a:endParaRPr sz="1400" b="0">
                        <a:solidFill>
                          <a:srgbClr val="00B050"/>
                        </a:solidFill>
                      </a:endParaRPr>
                    </a:p>
                  </a:txBody>
                  <a:tcPr marL="91450" marR="91450" marT="45725" marB="45725"/>
                </a:tc>
                <a:extLst>
                  <a:ext uri="{0D108BD9-81ED-4DB2-BD59-A6C34878D82A}">
                    <a16:rowId xmlns:a16="http://schemas.microsoft.com/office/drawing/2014/main" val="10001"/>
                  </a:ext>
                </a:extLst>
              </a:tr>
              <a:tr h="1637500">
                <a:tc>
                  <a:txBody>
                    <a:bodyPr/>
                    <a:lstStyle/>
                    <a:p>
                      <a:pPr marL="0" marR="0" lvl="0" indent="0" algn="l" rtl="0">
                        <a:spcBef>
                          <a:spcPts val="0"/>
                        </a:spcBef>
                        <a:spcAft>
                          <a:spcPts val="0"/>
                        </a:spcAft>
                        <a:buNone/>
                      </a:pPr>
                      <a:r>
                        <a:rPr lang="en-GB" sz="1800" b="1">
                          <a:solidFill>
                            <a:srgbClr val="00B050"/>
                          </a:solidFill>
                        </a:rPr>
                        <a:t>B. Xylem</a:t>
                      </a:r>
                      <a:endParaRPr/>
                    </a:p>
                    <a:p>
                      <a:pPr marL="0" marR="0" lvl="0" indent="0" algn="l" rtl="0">
                        <a:spcBef>
                          <a:spcPts val="0"/>
                        </a:spcBef>
                        <a:spcAft>
                          <a:spcPts val="0"/>
                        </a:spcAft>
                        <a:buNone/>
                      </a:pPr>
                      <a:endParaRPr sz="1800" b="1">
                        <a:solidFill>
                          <a:srgbClr val="00B050"/>
                        </a:solidFill>
                      </a:endParaRPr>
                    </a:p>
                    <a:p>
                      <a:pPr marL="0" marR="0" lvl="0" indent="0" algn="l" rtl="0">
                        <a:spcBef>
                          <a:spcPts val="0"/>
                        </a:spcBef>
                        <a:spcAft>
                          <a:spcPts val="0"/>
                        </a:spcAft>
                        <a:buNone/>
                      </a:pPr>
                      <a:endParaRPr sz="1800" b="1">
                        <a:solidFill>
                          <a:srgbClr val="00B050"/>
                        </a:solidFill>
                      </a:endParaRPr>
                    </a:p>
                    <a:p>
                      <a:pPr marL="0" marR="0" lvl="0" indent="0" algn="l" rtl="0">
                        <a:spcBef>
                          <a:spcPts val="0"/>
                        </a:spcBef>
                        <a:spcAft>
                          <a:spcPts val="0"/>
                        </a:spcAft>
                        <a:buNone/>
                      </a:pPr>
                      <a:endParaRPr sz="1800" b="1">
                        <a:solidFill>
                          <a:srgbClr val="00B050"/>
                        </a:solidFill>
                      </a:endParaRPr>
                    </a:p>
                    <a:p>
                      <a:pPr marL="0" marR="0" lvl="0" indent="0" algn="l" rtl="0">
                        <a:spcBef>
                          <a:spcPts val="0"/>
                        </a:spcBef>
                        <a:spcAft>
                          <a:spcPts val="0"/>
                        </a:spcAft>
                        <a:buNone/>
                      </a:pPr>
                      <a:endParaRPr sz="1800" b="1">
                        <a:solidFill>
                          <a:srgbClr val="00B050"/>
                        </a:solidFill>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solidFill>
                            <a:srgbClr val="00B050"/>
                          </a:solidFill>
                        </a:rPr>
                        <a:t>Function is to carry water and minerals in plants.</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Form hollow xylem tubes made of dead tissue.</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Long cells with walls toughened by lignin.</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Water and minerals flow from the roots towards the leaves only in one direction in a process called </a:t>
                      </a:r>
                      <a:r>
                        <a:rPr lang="en-GB" sz="1600" b="1">
                          <a:solidFill>
                            <a:srgbClr val="00B050"/>
                          </a:solidFill>
                        </a:rPr>
                        <a:t>TRANSPIRATION</a:t>
                      </a:r>
                      <a:r>
                        <a:rPr lang="en-GB" sz="1600" b="0">
                          <a:solidFill>
                            <a:srgbClr val="00B050"/>
                          </a:solidFill>
                        </a:rPr>
                        <a:t>.</a:t>
                      </a:r>
                      <a:endParaRPr sz="1600" b="0">
                        <a:solidFill>
                          <a:srgbClr val="00B050"/>
                        </a:solidFill>
                      </a:endParaRPr>
                    </a:p>
                  </a:txBody>
                  <a:tcPr marL="91450" marR="91450" marT="45725" marB="45725"/>
                </a:tc>
                <a:extLst>
                  <a:ext uri="{0D108BD9-81ED-4DB2-BD59-A6C34878D82A}">
                    <a16:rowId xmlns:a16="http://schemas.microsoft.com/office/drawing/2014/main" val="10002"/>
                  </a:ext>
                </a:extLst>
              </a:tr>
              <a:tr h="1647775">
                <a:tc>
                  <a:txBody>
                    <a:bodyPr/>
                    <a:lstStyle/>
                    <a:p>
                      <a:pPr marL="0" marR="0" lvl="0" indent="0" algn="l" rtl="0">
                        <a:spcBef>
                          <a:spcPts val="0"/>
                        </a:spcBef>
                        <a:spcAft>
                          <a:spcPts val="0"/>
                        </a:spcAft>
                        <a:buNone/>
                      </a:pPr>
                      <a:r>
                        <a:rPr lang="en-GB" sz="1800" b="1">
                          <a:solidFill>
                            <a:srgbClr val="00B050"/>
                          </a:solidFill>
                        </a:rPr>
                        <a:t>C. Phloem</a:t>
                      </a:r>
                      <a:endParaRPr/>
                    </a:p>
                    <a:p>
                      <a:pPr marL="0" marR="0" lvl="0" indent="0" algn="l" rtl="0">
                        <a:spcBef>
                          <a:spcPts val="0"/>
                        </a:spcBef>
                        <a:spcAft>
                          <a:spcPts val="0"/>
                        </a:spcAft>
                        <a:buNone/>
                      </a:pPr>
                      <a:endParaRPr sz="1800" b="1">
                        <a:solidFill>
                          <a:srgbClr val="00B050"/>
                        </a:solidFill>
                      </a:endParaRPr>
                    </a:p>
                    <a:p>
                      <a:pPr marL="0" marR="0" lvl="0" indent="0" algn="l" rtl="0">
                        <a:spcBef>
                          <a:spcPts val="0"/>
                        </a:spcBef>
                        <a:spcAft>
                          <a:spcPts val="0"/>
                        </a:spcAft>
                        <a:buNone/>
                      </a:pPr>
                      <a:endParaRPr sz="1800" b="1">
                        <a:solidFill>
                          <a:srgbClr val="00B050"/>
                        </a:solidFill>
                      </a:endParaRPr>
                    </a:p>
                    <a:p>
                      <a:pPr marL="0" marR="0" lvl="0" indent="0" algn="l" rtl="0">
                        <a:spcBef>
                          <a:spcPts val="0"/>
                        </a:spcBef>
                        <a:spcAft>
                          <a:spcPts val="0"/>
                        </a:spcAft>
                        <a:buNone/>
                      </a:pPr>
                      <a:endParaRPr sz="1800" b="1">
                        <a:solidFill>
                          <a:srgbClr val="00B050"/>
                        </a:solidFill>
                      </a:endParaRPr>
                    </a:p>
                    <a:p>
                      <a:pPr marL="0" marR="0" lvl="0" indent="0" algn="l" rtl="0">
                        <a:spcBef>
                          <a:spcPts val="0"/>
                        </a:spcBef>
                        <a:spcAft>
                          <a:spcPts val="0"/>
                        </a:spcAft>
                        <a:buNone/>
                      </a:pPr>
                      <a:endParaRPr sz="1800" b="1">
                        <a:solidFill>
                          <a:srgbClr val="00B050"/>
                        </a:solidFill>
                      </a:endParaRPr>
                    </a:p>
                  </a:txBody>
                  <a:tcPr marL="91450" marR="91450" marT="45725" marB="45725"/>
                </a:tc>
                <a:tc>
                  <a:txBody>
                    <a:bodyPr/>
                    <a:lstStyle/>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p>
                      <a:pPr marL="0" marR="0" lvl="0" indent="0" algn="l" rtl="0">
                        <a:spcBef>
                          <a:spcPts val="0"/>
                        </a:spcBef>
                        <a:spcAft>
                          <a:spcPts val="0"/>
                        </a:spcAft>
                        <a:buNone/>
                      </a:pPr>
                      <a:endParaRPr sz="2000"/>
                    </a:p>
                  </a:txBody>
                  <a:tcPr marL="91450" marR="91450" marT="45725" marB="45725"/>
                </a:tc>
                <a:tc>
                  <a:txBody>
                    <a:bodyPr/>
                    <a:lstStyle/>
                    <a:p>
                      <a:pPr marL="0" marR="0" lvl="0" indent="0" algn="l" rtl="0">
                        <a:spcBef>
                          <a:spcPts val="0"/>
                        </a:spcBef>
                        <a:spcAft>
                          <a:spcPts val="0"/>
                        </a:spcAft>
                        <a:buNone/>
                      </a:pPr>
                      <a:r>
                        <a:rPr lang="en-GB" sz="1800" b="1">
                          <a:solidFill>
                            <a:srgbClr val="00B050"/>
                          </a:solidFill>
                        </a:rPr>
                        <a:t>Function is to carry glucose around the plant.</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Form phloem tubes made of living tissue.</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Cells have end plates with holes in them.</a:t>
                      </a:r>
                      <a:endParaRPr/>
                    </a:p>
                    <a:p>
                      <a:pPr marL="285750" marR="0" lvl="0" indent="-285750" algn="l" rtl="0">
                        <a:spcBef>
                          <a:spcPts val="0"/>
                        </a:spcBef>
                        <a:spcAft>
                          <a:spcPts val="0"/>
                        </a:spcAft>
                        <a:buClr>
                          <a:srgbClr val="00B050"/>
                        </a:buClr>
                        <a:buSzPts val="1600"/>
                        <a:buFont typeface="Arial"/>
                        <a:buChar char="•"/>
                      </a:pPr>
                      <a:r>
                        <a:rPr lang="en-GB" sz="1600" b="0">
                          <a:solidFill>
                            <a:srgbClr val="00B050"/>
                          </a:solidFill>
                        </a:rPr>
                        <a:t>Glucose in solution moves from the leaves to growth and storage tissues in a process called </a:t>
                      </a:r>
                      <a:r>
                        <a:rPr lang="en-GB" sz="1600" b="1">
                          <a:solidFill>
                            <a:srgbClr val="00B050"/>
                          </a:solidFill>
                        </a:rPr>
                        <a:t>TRANSLOCATION</a:t>
                      </a:r>
                      <a:r>
                        <a:rPr lang="en-GB" sz="1600" b="0">
                          <a:solidFill>
                            <a:srgbClr val="00B050"/>
                          </a:solidFill>
                        </a:rPr>
                        <a:t>.</a:t>
                      </a:r>
                      <a:endParaRPr/>
                    </a:p>
                  </a:txBody>
                  <a:tcPr marL="91450" marR="91450" marT="45725" marB="45725"/>
                </a:tc>
                <a:extLst>
                  <a:ext uri="{0D108BD9-81ED-4DB2-BD59-A6C34878D82A}">
                    <a16:rowId xmlns:a16="http://schemas.microsoft.com/office/drawing/2014/main" val="10003"/>
                  </a:ext>
                </a:extLst>
              </a:tr>
            </a:tbl>
          </a:graphicData>
        </a:graphic>
      </p:graphicFrame>
      <p:sp>
        <p:nvSpPr>
          <p:cNvPr id="377" name="Google Shape;377;p25"/>
          <p:cNvSpPr txBox="1">
            <a:spLocks noGrp="1"/>
          </p:cNvSpPr>
          <p:nvPr>
            <p:ph type="ctrTitle"/>
          </p:nvPr>
        </p:nvSpPr>
        <p:spPr>
          <a:xfrm>
            <a:off x="1331639" y="33832"/>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dk1"/>
                </a:solidFill>
                <a:latin typeface="Calibri"/>
                <a:ea typeface="Calibri"/>
                <a:cs typeface="Calibri"/>
                <a:sym typeface="Calibri"/>
              </a:rPr>
              <a:t>AnswerIT</a:t>
            </a:r>
            <a:endParaRPr/>
          </a:p>
        </p:txBody>
      </p:sp>
      <p:sp>
        <p:nvSpPr>
          <p:cNvPr id="378" name="Google Shape;378;p25"/>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79" name="Google Shape;379;p25"/>
          <p:cNvSpPr txBox="1"/>
          <p:nvPr/>
        </p:nvSpPr>
        <p:spPr>
          <a:xfrm>
            <a:off x="-11234" y="690480"/>
            <a:ext cx="9155233" cy="64633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2. Name plant cells A,B and C and describe their structure and function.</a:t>
            </a:r>
            <a:endParaRPr sz="1600">
              <a:solidFill>
                <a:schemeClr val="dk1"/>
              </a:solidFill>
              <a:latin typeface="Calibri"/>
              <a:ea typeface="Calibri"/>
              <a:cs typeface="Calibri"/>
              <a:sym typeface="Calibri"/>
            </a:endParaRPr>
          </a:p>
        </p:txBody>
      </p:sp>
      <p:pic>
        <p:nvPicPr>
          <p:cNvPr id="380" name="Google Shape;380;p25"/>
          <p:cNvPicPr preferRelativeResize="0"/>
          <p:nvPr/>
        </p:nvPicPr>
        <p:blipFill rotWithShape="1">
          <a:blip r:embed="rId3">
            <a:alphaModFix/>
          </a:blip>
          <a:srcRect l="55308" r="-1605" b="22701"/>
          <a:stretch/>
        </p:blipFill>
        <p:spPr>
          <a:xfrm>
            <a:off x="1735164" y="4996530"/>
            <a:ext cx="1554688" cy="1401725"/>
          </a:xfrm>
          <a:prstGeom prst="rect">
            <a:avLst/>
          </a:prstGeom>
          <a:noFill/>
          <a:ln>
            <a:noFill/>
          </a:ln>
        </p:spPr>
      </p:pic>
      <p:pic>
        <p:nvPicPr>
          <p:cNvPr id="381" name="Google Shape;381;p25"/>
          <p:cNvPicPr preferRelativeResize="0"/>
          <p:nvPr/>
        </p:nvPicPr>
        <p:blipFill rotWithShape="1">
          <a:blip r:embed="rId4">
            <a:alphaModFix/>
          </a:blip>
          <a:srcRect/>
          <a:stretch/>
        </p:blipFill>
        <p:spPr>
          <a:xfrm>
            <a:off x="1435900" y="2012109"/>
            <a:ext cx="2564600" cy="1141363"/>
          </a:xfrm>
          <a:prstGeom prst="rect">
            <a:avLst/>
          </a:prstGeom>
          <a:noFill/>
          <a:ln>
            <a:noFill/>
          </a:ln>
        </p:spPr>
      </p:pic>
      <p:pic>
        <p:nvPicPr>
          <p:cNvPr id="382" name="Google Shape;382;p25"/>
          <p:cNvPicPr preferRelativeResize="0"/>
          <p:nvPr/>
        </p:nvPicPr>
        <p:blipFill rotWithShape="1">
          <a:blip r:embed="rId5">
            <a:alphaModFix/>
          </a:blip>
          <a:srcRect r="55627" b="22440"/>
          <a:stretch/>
        </p:blipFill>
        <p:spPr>
          <a:xfrm>
            <a:off x="1864373" y="3309492"/>
            <a:ext cx="1544749" cy="145800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6"/>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dk1"/>
                </a:solidFill>
                <a:latin typeface="Calibri"/>
                <a:ea typeface="Calibri"/>
                <a:cs typeface="Calibri"/>
                <a:sym typeface="Calibri"/>
              </a:rPr>
              <a:t>AnswerIT</a:t>
            </a:r>
            <a:endParaRPr/>
          </a:p>
        </p:txBody>
      </p:sp>
      <p:sp>
        <p:nvSpPr>
          <p:cNvPr id="388" name="Google Shape;388;p26"/>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89" name="Google Shape;389;p26"/>
          <p:cNvSpPr txBox="1"/>
          <p:nvPr/>
        </p:nvSpPr>
        <p:spPr>
          <a:xfrm>
            <a:off x="149087" y="657041"/>
            <a:ext cx="8915400" cy="415498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200">
                <a:solidFill>
                  <a:schemeClr val="dk1"/>
                </a:solidFill>
                <a:latin typeface="Calibri"/>
                <a:ea typeface="Calibri"/>
                <a:cs typeface="Calibri"/>
                <a:sym typeface="Calibri"/>
              </a:rPr>
              <a:t>3. What does cell differentiation mean?</a:t>
            </a:r>
            <a:endParaRPr/>
          </a:p>
          <a:p>
            <a:pPr marL="0" marR="0" lvl="0" indent="0" algn="l" rtl="0">
              <a:lnSpc>
                <a:spcPct val="150000"/>
              </a:lnSpc>
              <a:spcBef>
                <a:spcPts val="0"/>
              </a:spcBef>
              <a:spcAft>
                <a:spcPts val="0"/>
              </a:spcAft>
              <a:buNone/>
            </a:pPr>
            <a:r>
              <a:rPr lang="en-GB" sz="2200" b="1">
                <a:solidFill>
                  <a:srgbClr val="00B050"/>
                </a:solidFill>
                <a:latin typeface="Calibri"/>
                <a:ea typeface="Calibri"/>
                <a:cs typeface="Calibri"/>
                <a:sym typeface="Calibri"/>
              </a:rPr>
              <a:t>When a cell changes to become specialised.</a:t>
            </a:r>
            <a:endParaRPr/>
          </a:p>
          <a:p>
            <a:pPr marL="0" marR="0" lvl="0" indent="0" algn="l" rtl="0">
              <a:lnSpc>
                <a:spcPct val="150000"/>
              </a:lnSpc>
              <a:spcBef>
                <a:spcPts val="0"/>
              </a:spcBef>
              <a:spcAft>
                <a:spcPts val="0"/>
              </a:spcAft>
              <a:buNone/>
            </a:pPr>
            <a:r>
              <a:rPr lang="en-GB" sz="2200">
                <a:solidFill>
                  <a:schemeClr val="dk1"/>
                </a:solidFill>
                <a:latin typeface="Calibri"/>
                <a:ea typeface="Calibri"/>
                <a:cs typeface="Calibri"/>
                <a:sym typeface="Calibri"/>
              </a:rPr>
              <a:t>4. In what stage of an animal’s life cycle do most cells differentiate?</a:t>
            </a:r>
            <a:endParaRPr/>
          </a:p>
          <a:p>
            <a:pPr marL="0" marR="0" lvl="0" indent="0" algn="l" rtl="0">
              <a:lnSpc>
                <a:spcPct val="150000"/>
              </a:lnSpc>
              <a:spcBef>
                <a:spcPts val="0"/>
              </a:spcBef>
              <a:spcAft>
                <a:spcPts val="0"/>
              </a:spcAft>
              <a:buNone/>
            </a:pPr>
            <a:r>
              <a:rPr lang="en-GB" sz="2200" b="1">
                <a:solidFill>
                  <a:srgbClr val="00B050"/>
                </a:solidFill>
                <a:latin typeface="Calibri"/>
                <a:ea typeface="Calibri"/>
                <a:cs typeface="Calibri"/>
                <a:sym typeface="Calibri"/>
              </a:rPr>
              <a:t>In the early stages.</a:t>
            </a:r>
            <a:endParaRPr/>
          </a:p>
          <a:p>
            <a:pPr marL="0" marR="0" lvl="0" indent="0" algn="l" rtl="0">
              <a:lnSpc>
                <a:spcPct val="150000"/>
              </a:lnSpc>
              <a:spcBef>
                <a:spcPts val="0"/>
              </a:spcBef>
              <a:spcAft>
                <a:spcPts val="0"/>
              </a:spcAft>
              <a:buNone/>
            </a:pPr>
            <a:r>
              <a:rPr lang="en-GB" sz="2200">
                <a:solidFill>
                  <a:schemeClr val="dk1"/>
                </a:solidFill>
                <a:latin typeface="Calibri"/>
                <a:ea typeface="Calibri"/>
                <a:cs typeface="Calibri"/>
                <a:sym typeface="Calibri"/>
              </a:rPr>
              <a:t>5. In mature animals when do cells still need to differentiate?</a:t>
            </a:r>
            <a:endParaRPr/>
          </a:p>
          <a:p>
            <a:pPr marL="0" marR="0" lvl="0" indent="0" algn="l" rtl="0">
              <a:lnSpc>
                <a:spcPct val="150000"/>
              </a:lnSpc>
              <a:spcBef>
                <a:spcPts val="0"/>
              </a:spcBef>
              <a:spcAft>
                <a:spcPts val="0"/>
              </a:spcAft>
              <a:buNone/>
            </a:pPr>
            <a:r>
              <a:rPr lang="en-GB" sz="2200" b="1">
                <a:solidFill>
                  <a:srgbClr val="00B050"/>
                </a:solidFill>
                <a:latin typeface="Calibri"/>
                <a:ea typeface="Calibri"/>
                <a:cs typeface="Calibri"/>
                <a:sym typeface="Calibri"/>
              </a:rPr>
              <a:t>For repair and replacement of cells.</a:t>
            </a:r>
            <a:endParaRPr/>
          </a:p>
          <a:p>
            <a:pPr marL="0" marR="0" lvl="0" indent="0" algn="l" rtl="0">
              <a:lnSpc>
                <a:spcPct val="150000"/>
              </a:lnSpc>
              <a:spcBef>
                <a:spcPts val="0"/>
              </a:spcBef>
              <a:spcAft>
                <a:spcPts val="0"/>
              </a:spcAft>
              <a:buNone/>
            </a:pPr>
            <a:r>
              <a:rPr lang="en-GB" sz="2200">
                <a:solidFill>
                  <a:schemeClr val="dk1"/>
                </a:solidFill>
                <a:latin typeface="Calibri"/>
                <a:ea typeface="Calibri"/>
                <a:cs typeface="Calibri"/>
                <a:sym typeface="Calibri"/>
              </a:rPr>
              <a:t>6. In what stage of their life cycle do plant cells differentiate?</a:t>
            </a:r>
            <a:endParaRPr/>
          </a:p>
          <a:p>
            <a:pPr marL="0" marR="0" lvl="0" indent="0" algn="l" rtl="0">
              <a:lnSpc>
                <a:spcPct val="150000"/>
              </a:lnSpc>
              <a:spcBef>
                <a:spcPts val="0"/>
              </a:spcBef>
              <a:spcAft>
                <a:spcPts val="0"/>
              </a:spcAft>
              <a:buNone/>
            </a:pPr>
            <a:r>
              <a:rPr lang="en-GB" sz="2200" b="1">
                <a:solidFill>
                  <a:srgbClr val="00B050"/>
                </a:solidFill>
                <a:latin typeface="Calibri"/>
                <a:ea typeface="Calibri"/>
                <a:cs typeface="Calibri"/>
                <a:sym typeface="Calibri"/>
              </a:rPr>
              <a:t>They differentiate throughout their lifecycle.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396" name="Google Shape;396;p27"/>
          <p:cNvSpPr txBox="1"/>
          <p:nvPr/>
        </p:nvSpPr>
        <p:spPr>
          <a:xfrm>
            <a:off x="0" y="980728"/>
            <a:ext cx="6012160" cy="55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LearnIT!</a:t>
            </a:r>
            <a:endParaRPr/>
          </a:p>
          <a:p>
            <a:pPr marL="0" marR="0" lvl="0" indent="0" algn="l" rtl="0">
              <a:spcBef>
                <a:spcPts val="0"/>
              </a:spcBef>
              <a:spcAft>
                <a:spcPts val="0"/>
              </a:spcAft>
              <a:buNone/>
            </a:pPr>
            <a:r>
              <a:rPr lang="en-GB" sz="7200" b="1">
                <a:solidFill>
                  <a:schemeClr val="dk1"/>
                </a:solidFill>
                <a:latin typeface="Calibri"/>
                <a:ea typeface="Calibri"/>
                <a:cs typeface="Calibri"/>
                <a:sym typeface="Calibri"/>
              </a:rPr>
              <a:t>KnowIT!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Part 3</a:t>
            </a:r>
            <a:endParaRPr/>
          </a:p>
          <a:p>
            <a:pPr marL="0" marR="0" lvl="0" indent="0" algn="l" rtl="0">
              <a:spcBef>
                <a:spcPts val="0"/>
              </a:spcBef>
              <a:spcAft>
                <a:spcPts val="0"/>
              </a:spcAft>
              <a:buNone/>
            </a:pPr>
            <a:endParaRPr sz="28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Microscopy</a:t>
            </a:r>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Culturing microorganisms (biology only)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97" name="Google Shape;397;p27"/>
          <p:cNvPicPr preferRelativeResize="0"/>
          <p:nvPr/>
        </p:nvPicPr>
        <p:blipFill rotWithShape="1">
          <a:blip r:embed="rId3">
            <a:alphaModFix/>
          </a:blip>
          <a:srcRect/>
          <a:stretch/>
        </p:blipFill>
        <p:spPr>
          <a:xfrm>
            <a:off x="2642398" y="0"/>
            <a:ext cx="6538114" cy="652534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8"/>
          <p:cNvSpPr txBox="1">
            <a:spLocks noGrp="1"/>
          </p:cNvSpPr>
          <p:nvPr>
            <p:ph type="ctrTitle"/>
          </p:nvPr>
        </p:nvSpPr>
        <p:spPr>
          <a:xfrm>
            <a:off x="-1844720" y="-32700"/>
            <a:ext cx="6876256"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accent6"/>
                </a:solidFill>
                <a:latin typeface="Calibri"/>
                <a:ea typeface="Calibri"/>
                <a:cs typeface="Calibri"/>
                <a:sym typeface="Calibri"/>
              </a:rPr>
              <a:t>Microscopy</a:t>
            </a:r>
            <a:endParaRPr/>
          </a:p>
        </p:txBody>
      </p:sp>
      <p:pic>
        <p:nvPicPr>
          <p:cNvPr id="404" name="Google Shape;404;p28"/>
          <p:cNvPicPr preferRelativeResize="0"/>
          <p:nvPr/>
        </p:nvPicPr>
        <p:blipFill rotWithShape="1">
          <a:blip r:embed="rId3">
            <a:alphaModFix/>
          </a:blip>
          <a:srcRect/>
          <a:stretch/>
        </p:blipFill>
        <p:spPr>
          <a:xfrm>
            <a:off x="5230746" y="155698"/>
            <a:ext cx="3169938" cy="2754827"/>
          </a:xfrm>
          <a:prstGeom prst="rect">
            <a:avLst/>
          </a:prstGeom>
          <a:noFill/>
          <a:ln>
            <a:noFill/>
          </a:ln>
        </p:spPr>
      </p:pic>
      <p:sp>
        <p:nvSpPr>
          <p:cNvPr id="405" name="Google Shape;405;p28"/>
          <p:cNvSpPr/>
          <p:nvPr/>
        </p:nvSpPr>
        <p:spPr>
          <a:xfrm>
            <a:off x="6516215" y="5805264"/>
            <a:ext cx="2411761"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Video - Types of microscopes</a:t>
            </a:r>
            <a:endParaRPr sz="2400">
              <a:solidFill>
                <a:schemeClr val="dk1"/>
              </a:solidFill>
              <a:latin typeface="Calibri"/>
              <a:ea typeface="Calibri"/>
              <a:cs typeface="Calibri"/>
              <a:sym typeface="Calibri"/>
            </a:endParaRPr>
          </a:p>
        </p:txBody>
      </p:sp>
      <p:pic>
        <p:nvPicPr>
          <p:cNvPr id="406" name="Google Shape;406;p28"/>
          <p:cNvPicPr preferRelativeResize="0"/>
          <p:nvPr/>
        </p:nvPicPr>
        <p:blipFill rotWithShape="1">
          <a:blip r:embed="rId5">
            <a:alphaModFix/>
          </a:blip>
          <a:srcRect/>
          <a:stretch/>
        </p:blipFill>
        <p:spPr>
          <a:xfrm>
            <a:off x="528724" y="718505"/>
            <a:ext cx="3041150" cy="2104016"/>
          </a:xfrm>
          <a:prstGeom prst="rect">
            <a:avLst/>
          </a:prstGeom>
          <a:noFill/>
          <a:ln>
            <a:noFill/>
          </a:ln>
        </p:spPr>
      </p:pic>
      <p:sp>
        <p:nvSpPr>
          <p:cNvPr id="407" name="Google Shape;407;p28"/>
          <p:cNvSpPr txBox="1"/>
          <p:nvPr/>
        </p:nvSpPr>
        <p:spPr>
          <a:xfrm>
            <a:off x="329514" y="2743078"/>
            <a:ext cx="324036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E36C09"/>
                </a:solidFill>
                <a:latin typeface="Calibri"/>
                <a:ea typeface="Calibri"/>
                <a:cs typeface="Calibri"/>
                <a:sym typeface="Calibri"/>
              </a:rPr>
              <a:t>light microscope</a:t>
            </a:r>
            <a:endParaRPr/>
          </a:p>
          <a:p>
            <a:pPr marL="0" marR="0" lvl="0" indent="0" algn="ctr" rtl="0">
              <a:spcBef>
                <a:spcPts val="0"/>
              </a:spcBef>
              <a:spcAft>
                <a:spcPts val="0"/>
              </a:spcAft>
              <a:buNone/>
            </a:pPr>
            <a:r>
              <a:rPr lang="en-GB" sz="2000" b="1">
                <a:solidFill>
                  <a:schemeClr val="dk1"/>
                </a:solidFill>
                <a:latin typeface="Calibri"/>
                <a:ea typeface="Calibri"/>
                <a:cs typeface="Calibri"/>
                <a:sym typeface="Calibri"/>
              </a:rPr>
              <a:t>First ones used in 1590’s</a:t>
            </a:r>
            <a:endParaRPr/>
          </a:p>
        </p:txBody>
      </p:sp>
      <p:sp>
        <p:nvSpPr>
          <p:cNvPr id="408" name="Google Shape;408;p28"/>
          <p:cNvSpPr txBox="1"/>
          <p:nvPr/>
        </p:nvSpPr>
        <p:spPr>
          <a:xfrm>
            <a:off x="5254998" y="2758906"/>
            <a:ext cx="324036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E36C09"/>
                </a:solidFill>
                <a:latin typeface="Calibri"/>
                <a:ea typeface="Calibri"/>
                <a:cs typeface="Calibri"/>
                <a:sym typeface="Calibri"/>
              </a:rPr>
              <a:t>electron microscope</a:t>
            </a:r>
            <a:endParaRPr/>
          </a:p>
          <a:p>
            <a:pPr marL="0" marR="0" lvl="0" indent="0" algn="ctr" rtl="0">
              <a:spcBef>
                <a:spcPts val="0"/>
              </a:spcBef>
              <a:spcAft>
                <a:spcPts val="0"/>
              </a:spcAft>
              <a:buNone/>
            </a:pPr>
            <a:r>
              <a:rPr lang="en-GB" sz="2000" b="1">
                <a:solidFill>
                  <a:schemeClr val="dk1"/>
                </a:solidFill>
                <a:latin typeface="Calibri"/>
                <a:ea typeface="Calibri"/>
                <a:cs typeface="Calibri"/>
                <a:sym typeface="Calibri"/>
              </a:rPr>
              <a:t>First ones used in 1960’s</a:t>
            </a:r>
            <a:endParaRPr/>
          </a:p>
        </p:txBody>
      </p:sp>
      <p:pic>
        <p:nvPicPr>
          <p:cNvPr id="409" name="Google Shape;409;p28"/>
          <p:cNvPicPr preferRelativeResize="0"/>
          <p:nvPr/>
        </p:nvPicPr>
        <p:blipFill rotWithShape="1">
          <a:blip r:embed="rId6">
            <a:alphaModFix/>
          </a:blip>
          <a:srcRect/>
          <a:stretch/>
        </p:blipFill>
        <p:spPr>
          <a:xfrm>
            <a:off x="8015305" y="949577"/>
            <a:ext cx="480053" cy="720080"/>
          </a:xfrm>
          <a:prstGeom prst="rect">
            <a:avLst/>
          </a:prstGeom>
          <a:noFill/>
          <a:ln>
            <a:noFill/>
          </a:ln>
        </p:spPr>
      </p:pic>
      <p:graphicFrame>
        <p:nvGraphicFramePr>
          <p:cNvPr id="410" name="Google Shape;410;p28"/>
          <p:cNvGraphicFramePr/>
          <p:nvPr/>
        </p:nvGraphicFramePr>
        <p:xfrm>
          <a:off x="179512" y="3453224"/>
          <a:ext cx="3000000" cy="3000000"/>
        </p:xfrm>
        <a:graphic>
          <a:graphicData uri="http://schemas.openxmlformats.org/drawingml/2006/table">
            <a:tbl>
              <a:tblPr firstRow="1" bandRow="1">
                <a:noFill/>
                <a:tableStyleId>{BE5FCA4E-7378-46B0-B8AC-BF7E9694FEB7}</a:tableStyleId>
              </a:tblPr>
              <a:tblGrid>
                <a:gridCol w="2232250">
                  <a:extLst>
                    <a:ext uri="{9D8B030D-6E8A-4147-A177-3AD203B41FA5}">
                      <a16:colId xmlns:a16="http://schemas.microsoft.com/office/drawing/2014/main" val="20000"/>
                    </a:ext>
                  </a:extLst>
                </a:gridCol>
                <a:gridCol w="2664300">
                  <a:extLst>
                    <a:ext uri="{9D8B030D-6E8A-4147-A177-3AD203B41FA5}">
                      <a16:colId xmlns:a16="http://schemas.microsoft.com/office/drawing/2014/main" val="20001"/>
                    </a:ext>
                  </a:extLst>
                </a:gridCol>
                <a:gridCol w="3923925">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n-GB" sz="1800"/>
                        <a:t>Feature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tc>
                  <a:txBody>
                    <a:bodyPr/>
                    <a:lstStyle/>
                    <a:p>
                      <a:pPr marL="0" marR="0" lvl="0" indent="0" algn="ctr" rtl="0">
                        <a:spcBef>
                          <a:spcPts val="0"/>
                        </a:spcBef>
                        <a:spcAft>
                          <a:spcPts val="0"/>
                        </a:spcAft>
                        <a:buNone/>
                      </a:pPr>
                      <a:r>
                        <a:rPr lang="en-GB" sz="1800"/>
                        <a:t>Light (optical)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tc>
                  <a:txBody>
                    <a:bodyPr/>
                    <a:lstStyle/>
                    <a:p>
                      <a:pPr marL="0" marR="0" lvl="0" indent="0" algn="ctr" rtl="0">
                        <a:spcBef>
                          <a:spcPts val="0"/>
                        </a:spcBef>
                        <a:spcAft>
                          <a:spcPts val="0"/>
                        </a:spcAft>
                        <a:buNone/>
                      </a:pPr>
                      <a:r>
                        <a:rPr lang="en-GB" sz="1800"/>
                        <a:t>Electron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GB" sz="2000" b="1"/>
                        <a:t>Radiation used</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Light rays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Electron beams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GB" sz="2000" b="1"/>
                        <a:t>Max magnification </a:t>
                      </a:r>
                      <a:endParaRPr sz="20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 1500 times</a:t>
                      </a:r>
                      <a:endParaRPr sz="2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 2 000 000 times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GB" sz="2000" b="1"/>
                        <a:t>Resolution</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200nm</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0.2nm</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GB" sz="2000" b="1"/>
                        <a:t>Size of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Small and portable</a:t>
                      </a:r>
                      <a:endParaRPr sz="2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Very large and not portable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r>
                        <a:rPr lang="en-GB" sz="2000" b="1"/>
                        <a:t>Cost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 ~£100 for a school one</a:t>
                      </a:r>
                      <a:endParaRPr sz="2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a:t>Several £100,000 to £1 million plus</a:t>
                      </a:r>
                      <a:endParaRPr sz="20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11" name="Google Shape;411;p28"/>
          <p:cNvSpPr txBox="1"/>
          <p:nvPr/>
        </p:nvSpPr>
        <p:spPr>
          <a:xfrm>
            <a:off x="179512" y="5766355"/>
            <a:ext cx="626469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E36C09"/>
                </a:solidFill>
                <a:latin typeface="Calibri"/>
                <a:ea typeface="Calibri"/>
                <a:cs typeface="Calibri"/>
                <a:sym typeface="Calibri"/>
              </a:rPr>
              <a:t>Resolution: </a:t>
            </a:r>
            <a:r>
              <a:rPr lang="en-GB" sz="2400">
                <a:solidFill>
                  <a:schemeClr val="dk1"/>
                </a:solidFill>
                <a:latin typeface="Calibri"/>
                <a:ea typeface="Calibri"/>
                <a:cs typeface="Calibri"/>
                <a:sym typeface="Calibri"/>
              </a:rPr>
              <a:t>The </a:t>
            </a:r>
            <a:r>
              <a:rPr lang="en-GB" sz="2400" b="1">
                <a:solidFill>
                  <a:schemeClr val="dk1"/>
                </a:solidFill>
                <a:latin typeface="Calibri"/>
                <a:ea typeface="Calibri"/>
                <a:cs typeface="Calibri"/>
                <a:sym typeface="Calibri"/>
              </a:rPr>
              <a:t>shortest</a:t>
            </a:r>
            <a:r>
              <a:rPr lang="en-GB" sz="2400">
                <a:solidFill>
                  <a:schemeClr val="dk1"/>
                </a:solidFill>
                <a:latin typeface="Calibri"/>
                <a:ea typeface="Calibri"/>
                <a:cs typeface="Calibri"/>
                <a:sym typeface="Calibri"/>
              </a:rPr>
              <a:t> </a:t>
            </a:r>
            <a:r>
              <a:rPr lang="en-GB" sz="2400" b="1">
                <a:solidFill>
                  <a:schemeClr val="dk1"/>
                </a:solidFill>
                <a:latin typeface="Calibri"/>
                <a:ea typeface="Calibri"/>
                <a:cs typeface="Calibri"/>
                <a:sym typeface="Calibri"/>
              </a:rPr>
              <a:t>distance</a:t>
            </a:r>
            <a:r>
              <a:rPr lang="en-GB" sz="2400">
                <a:solidFill>
                  <a:schemeClr val="dk1"/>
                </a:solidFill>
                <a:latin typeface="Calibri"/>
                <a:ea typeface="Calibri"/>
                <a:cs typeface="Calibri"/>
                <a:sym typeface="Calibri"/>
              </a:rPr>
              <a:t> between </a:t>
            </a:r>
            <a:r>
              <a:rPr lang="en-GB" sz="2400" b="1">
                <a:solidFill>
                  <a:schemeClr val="dk1"/>
                </a:solidFill>
                <a:latin typeface="Calibri"/>
                <a:ea typeface="Calibri"/>
                <a:cs typeface="Calibri"/>
                <a:sym typeface="Calibri"/>
              </a:rPr>
              <a:t>two objects </a:t>
            </a:r>
            <a:r>
              <a:rPr lang="en-GB" sz="2400">
                <a:solidFill>
                  <a:schemeClr val="dk1"/>
                </a:solidFill>
                <a:latin typeface="Calibri"/>
                <a:ea typeface="Calibri"/>
                <a:cs typeface="Calibri"/>
                <a:sym typeface="Calibri"/>
              </a:rPr>
              <a:t>that can be seen clearly.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29"/>
          <p:cNvSpPr txBox="1">
            <a:spLocks noGrp="1"/>
          </p:cNvSpPr>
          <p:nvPr>
            <p:ph type="ctrTitle"/>
          </p:nvPr>
        </p:nvSpPr>
        <p:spPr>
          <a:xfrm>
            <a:off x="2256436" y="-14024"/>
            <a:ext cx="6876256"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accent6"/>
                </a:solidFill>
                <a:latin typeface="Calibri"/>
                <a:ea typeface="Calibri"/>
                <a:cs typeface="Calibri"/>
                <a:sym typeface="Calibri"/>
              </a:rPr>
              <a:t>Microscopy</a:t>
            </a:r>
            <a:endParaRPr/>
          </a:p>
        </p:txBody>
      </p:sp>
      <p:sp>
        <p:nvSpPr>
          <p:cNvPr id="418" name="Google Shape;418;p29"/>
          <p:cNvSpPr/>
          <p:nvPr/>
        </p:nvSpPr>
        <p:spPr>
          <a:xfrm>
            <a:off x="11308" y="718115"/>
            <a:ext cx="9132692" cy="1200329"/>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rgbClr val="E36C09"/>
                </a:solidFill>
                <a:latin typeface="Calibri"/>
                <a:ea typeface="Calibri"/>
                <a:cs typeface="Calibri"/>
                <a:sym typeface="Calibri"/>
              </a:rPr>
              <a:t>Electron microscopes</a:t>
            </a:r>
            <a:r>
              <a:rPr lang="en-GB" sz="2400">
                <a:solidFill>
                  <a:srgbClr val="E36C09"/>
                </a:solidFill>
                <a:latin typeface="Calibri"/>
                <a:ea typeface="Calibri"/>
                <a:cs typeface="Calibri"/>
                <a:sym typeface="Calibri"/>
              </a:rPr>
              <a:t> </a:t>
            </a:r>
            <a:r>
              <a:rPr lang="en-GB" sz="2400">
                <a:solidFill>
                  <a:schemeClr val="dk1"/>
                </a:solidFill>
                <a:latin typeface="Calibri"/>
                <a:ea typeface="Calibri"/>
                <a:cs typeface="Calibri"/>
                <a:sym typeface="Calibri"/>
              </a:rPr>
              <a:t>have a </a:t>
            </a:r>
            <a:r>
              <a:rPr lang="en-GB" sz="2400" b="1">
                <a:solidFill>
                  <a:srgbClr val="E36C09"/>
                </a:solidFill>
                <a:latin typeface="Calibri"/>
                <a:ea typeface="Calibri"/>
                <a:cs typeface="Calibri"/>
                <a:sym typeface="Calibri"/>
              </a:rPr>
              <a:t>higher</a:t>
            </a:r>
            <a:r>
              <a:rPr lang="en-GB" sz="2400">
                <a:solidFill>
                  <a:schemeClr val="dk1"/>
                </a:solidFill>
                <a:latin typeface="Calibri"/>
                <a:ea typeface="Calibri"/>
                <a:cs typeface="Calibri"/>
                <a:sym typeface="Calibri"/>
              </a:rPr>
              <a:t> magnification and resolution than </a:t>
            </a:r>
            <a:r>
              <a:rPr lang="en-GB" sz="2400" b="1">
                <a:solidFill>
                  <a:srgbClr val="E36C09"/>
                </a:solidFill>
                <a:latin typeface="Calibri"/>
                <a:ea typeface="Calibri"/>
                <a:cs typeface="Calibri"/>
                <a:sym typeface="Calibri"/>
              </a:rPr>
              <a:t>light microscopes</a:t>
            </a:r>
            <a:r>
              <a:rPr lang="en-GB" sz="2400">
                <a:solidFill>
                  <a:schemeClr val="dk1"/>
                </a:solidFill>
                <a:latin typeface="Calibri"/>
                <a:ea typeface="Calibri"/>
                <a:cs typeface="Calibri"/>
                <a:sym typeface="Calibri"/>
              </a:rPr>
              <a:t>. This means that scientists can see more sub- cellular structures (structures within the cells).</a:t>
            </a:r>
            <a:endParaRPr/>
          </a:p>
        </p:txBody>
      </p:sp>
      <p:pic>
        <p:nvPicPr>
          <p:cNvPr id="419" name="Google Shape;419;p29"/>
          <p:cNvPicPr preferRelativeResize="0"/>
          <p:nvPr/>
        </p:nvPicPr>
        <p:blipFill rotWithShape="1">
          <a:blip r:embed="rId3">
            <a:alphaModFix/>
          </a:blip>
          <a:srcRect/>
          <a:stretch/>
        </p:blipFill>
        <p:spPr>
          <a:xfrm>
            <a:off x="433706" y="2074580"/>
            <a:ext cx="3274198" cy="2447032"/>
          </a:xfrm>
          <a:prstGeom prst="rect">
            <a:avLst/>
          </a:prstGeom>
          <a:noFill/>
          <a:ln>
            <a:noFill/>
          </a:ln>
        </p:spPr>
      </p:pic>
      <p:pic>
        <p:nvPicPr>
          <p:cNvPr id="420" name="Google Shape;420;p29"/>
          <p:cNvPicPr preferRelativeResize="0"/>
          <p:nvPr/>
        </p:nvPicPr>
        <p:blipFill rotWithShape="1">
          <a:blip r:embed="rId4">
            <a:alphaModFix/>
          </a:blip>
          <a:srcRect/>
          <a:stretch/>
        </p:blipFill>
        <p:spPr>
          <a:xfrm>
            <a:off x="4932040" y="2073265"/>
            <a:ext cx="3769752" cy="2447032"/>
          </a:xfrm>
          <a:prstGeom prst="rect">
            <a:avLst/>
          </a:prstGeom>
          <a:noFill/>
          <a:ln>
            <a:noFill/>
          </a:ln>
        </p:spPr>
      </p:pic>
      <p:sp>
        <p:nvSpPr>
          <p:cNvPr id="421" name="Google Shape;421;p29"/>
          <p:cNvSpPr/>
          <p:nvPr/>
        </p:nvSpPr>
        <p:spPr>
          <a:xfrm>
            <a:off x="4512871" y="4662712"/>
            <a:ext cx="4619820"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u="sng">
                <a:solidFill>
                  <a:srgbClr val="E36C09"/>
                </a:solidFill>
                <a:latin typeface="Calibri"/>
                <a:ea typeface="Calibri"/>
                <a:cs typeface="Calibri"/>
                <a:sym typeface="Calibri"/>
              </a:rPr>
              <a:t>Electron microscopes image</a:t>
            </a:r>
            <a:endParaRPr/>
          </a:p>
          <a:p>
            <a:pPr marL="0" marR="0" lvl="0" indent="0" algn="ctr" rtl="0">
              <a:spcBef>
                <a:spcPts val="0"/>
              </a:spcBef>
              <a:spcAft>
                <a:spcPts val="0"/>
              </a:spcAft>
              <a:buNone/>
            </a:pPr>
            <a:r>
              <a:rPr lang="en-GB" sz="2400">
                <a:solidFill>
                  <a:schemeClr val="dk1"/>
                </a:solidFill>
                <a:latin typeface="Calibri"/>
                <a:ea typeface="Calibri"/>
                <a:cs typeface="Calibri"/>
                <a:sym typeface="Calibri"/>
              </a:rPr>
              <a:t>can let us see the </a:t>
            </a:r>
            <a:r>
              <a:rPr lang="en-GB" sz="2400" b="1">
                <a:solidFill>
                  <a:srgbClr val="E36C09"/>
                </a:solidFill>
                <a:latin typeface="Calibri"/>
                <a:ea typeface="Calibri"/>
                <a:cs typeface="Calibri"/>
                <a:sym typeface="Calibri"/>
              </a:rPr>
              <a:t>internal structures </a:t>
            </a:r>
            <a:r>
              <a:rPr lang="en-GB" sz="2400">
                <a:solidFill>
                  <a:schemeClr val="dk1"/>
                </a:solidFill>
                <a:latin typeface="Calibri"/>
                <a:ea typeface="Calibri"/>
                <a:cs typeface="Calibri"/>
                <a:sym typeface="Calibri"/>
              </a:rPr>
              <a:t>of a chloroplast and mitochondrion.</a:t>
            </a:r>
            <a:endParaRPr/>
          </a:p>
        </p:txBody>
      </p:sp>
      <p:sp>
        <p:nvSpPr>
          <p:cNvPr id="422" name="Google Shape;422;p29"/>
          <p:cNvSpPr/>
          <p:nvPr/>
        </p:nvSpPr>
        <p:spPr>
          <a:xfrm>
            <a:off x="251520" y="4662712"/>
            <a:ext cx="3456384"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u="sng">
                <a:solidFill>
                  <a:srgbClr val="E36C09"/>
                </a:solidFill>
                <a:latin typeface="Calibri"/>
                <a:ea typeface="Calibri"/>
                <a:cs typeface="Calibri"/>
                <a:sym typeface="Calibri"/>
              </a:rPr>
              <a:t>Light microscopes image</a:t>
            </a:r>
            <a:endParaRPr/>
          </a:p>
          <a:p>
            <a:pPr marL="0" marR="0" lvl="0" indent="0" algn="ctr" rtl="0">
              <a:spcBef>
                <a:spcPts val="0"/>
              </a:spcBef>
              <a:spcAft>
                <a:spcPts val="0"/>
              </a:spcAft>
              <a:buNone/>
            </a:pPr>
            <a:r>
              <a:rPr lang="en-GB" sz="2400">
                <a:solidFill>
                  <a:schemeClr val="dk1"/>
                </a:solidFill>
                <a:latin typeface="Calibri"/>
                <a:ea typeface="Calibri"/>
                <a:cs typeface="Calibri"/>
                <a:sym typeface="Calibri"/>
              </a:rPr>
              <a:t>can let us see </a:t>
            </a:r>
            <a:r>
              <a:rPr lang="en-GB" sz="2400" b="1">
                <a:solidFill>
                  <a:srgbClr val="E36C09"/>
                </a:solidFill>
                <a:latin typeface="Calibri"/>
                <a:ea typeface="Calibri"/>
                <a:cs typeface="Calibri"/>
                <a:sym typeface="Calibri"/>
              </a:rPr>
              <a:t>structures</a:t>
            </a:r>
            <a:r>
              <a:rPr lang="en-GB" sz="2400">
                <a:solidFill>
                  <a:schemeClr val="dk1"/>
                </a:solidFill>
                <a:latin typeface="Calibri"/>
                <a:ea typeface="Calibri"/>
                <a:cs typeface="Calibri"/>
                <a:sym typeface="Calibri"/>
              </a:rPr>
              <a:t> like nuclei and mitochondria.</a:t>
            </a:r>
            <a:endParaRPr/>
          </a:p>
        </p:txBody>
      </p:sp>
      <p:sp>
        <p:nvSpPr>
          <p:cNvPr id="423" name="Google Shape;423;p29"/>
          <p:cNvSpPr/>
          <p:nvPr/>
        </p:nvSpPr>
        <p:spPr>
          <a:xfrm rot="-1632443">
            <a:off x="2382633" y="2479303"/>
            <a:ext cx="1259501" cy="492367"/>
          </a:xfrm>
          <a:prstGeom prst="leftArrow">
            <a:avLst>
              <a:gd name="adj1" fmla="val 50000"/>
              <a:gd name="adj2" fmla="val 50000"/>
            </a:avLst>
          </a:prstGeom>
          <a:solidFill>
            <a:schemeClr val="accent6"/>
          </a:solidFill>
          <a:ln w="9525" cap="flat" cmpd="sng">
            <a:solidFill>
              <a:schemeClr val="accent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Calibri"/>
                <a:ea typeface="Calibri"/>
                <a:cs typeface="Calibri"/>
                <a:sym typeface="Calibri"/>
              </a:rPr>
              <a:t>nucleus</a:t>
            </a:r>
            <a:endParaRPr/>
          </a:p>
        </p:txBody>
      </p:sp>
      <p:sp>
        <p:nvSpPr>
          <p:cNvPr id="424" name="Google Shape;424;p29"/>
          <p:cNvSpPr/>
          <p:nvPr/>
        </p:nvSpPr>
        <p:spPr>
          <a:xfrm rot="-2100000">
            <a:off x="2767531" y="3197794"/>
            <a:ext cx="1608809" cy="492367"/>
          </a:xfrm>
          <a:prstGeom prst="leftArrow">
            <a:avLst>
              <a:gd name="adj1" fmla="val 50000"/>
              <a:gd name="adj2" fmla="val 50000"/>
            </a:avLst>
          </a:prstGeom>
          <a:solidFill>
            <a:schemeClr val="accent6"/>
          </a:solidFill>
          <a:ln w="9525" cap="flat" cmpd="sng">
            <a:solidFill>
              <a:schemeClr val="accent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Calibri"/>
                <a:ea typeface="Calibri"/>
                <a:cs typeface="Calibri"/>
                <a:sym typeface="Calibri"/>
              </a:rPr>
              <a:t>mitochondria</a:t>
            </a:r>
            <a:endParaRPr/>
          </a:p>
        </p:txBody>
      </p:sp>
      <p:sp>
        <p:nvSpPr>
          <p:cNvPr id="425" name="Google Shape;425;p29"/>
          <p:cNvSpPr/>
          <p:nvPr/>
        </p:nvSpPr>
        <p:spPr>
          <a:xfrm rot="2133571">
            <a:off x="7262420" y="4056349"/>
            <a:ext cx="1820116" cy="492367"/>
          </a:xfrm>
          <a:prstGeom prst="leftArrow">
            <a:avLst>
              <a:gd name="adj1" fmla="val 50000"/>
              <a:gd name="adj2" fmla="val 50000"/>
            </a:avLst>
          </a:prstGeom>
          <a:solidFill>
            <a:schemeClr val="accent6"/>
          </a:solidFill>
          <a:ln w="9525" cap="flat" cmpd="sng">
            <a:solidFill>
              <a:schemeClr val="accent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Calibri"/>
                <a:ea typeface="Calibri"/>
                <a:cs typeface="Calibri"/>
                <a:sym typeface="Calibri"/>
              </a:rPr>
              <a:t>mitochondrion</a:t>
            </a:r>
            <a:endParaRPr/>
          </a:p>
        </p:txBody>
      </p:sp>
      <p:sp>
        <p:nvSpPr>
          <p:cNvPr id="426" name="Google Shape;426;p29"/>
          <p:cNvSpPr/>
          <p:nvPr/>
        </p:nvSpPr>
        <p:spPr>
          <a:xfrm rot="2233335">
            <a:off x="2586595" y="3821898"/>
            <a:ext cx="424595" cy="231274"/>
          </a:xfrm>
          <a:prstGeom prst="ellipse">
            <a:avLst/>
          </a:prstGeom>
          <a:noFill/>
          <a:ln w="38100" cap="flat" cmpd="sng">
            <a:solidFill>
              <a:schemeClr val="accent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0"/>
          <p:cNvSpPr txBox="1">
            <a:spLocks noGrp="1"/>
          </p:cNvSpPr>
          <p:nvPr>
            <p:ph type="ctrTitle"/>
          </p:nvPr>
        </p:nvSpPr>
        <p:spPr>
          <a:xfrm>
            <a:off x="2256436" y="-14024"/>
            <a:ext cx="6876256"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accent6"/>
                </a:solidFill>
                <a:latin typeface="Calibri"/>
                <a:ea typeface="Calibri"/>
                <a:cs typeface="Calibri"/>
                <a:sym typeface="Calibri"/>
              </a:rPr>
              <a:t>Microscopy</a:t>
            </a:r>
            <a:endParaRPr/>
          </a:p>
        </p:txBody>
      </p:sp>
      <p:sp>
        <p:nvSpPr>
          <p:cNvPr id="433" name="Google Shape;433;p30"/>
          <p:cNvSpPr txBox="1"/>
          <p:nvPr/>
        </p:nvSpPr>
        <p:spPr>
          <a:xfrm>
            <a:off x="11308" y="716518"/>
            <a:ext cx="9132692" cy="1000274"/>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dk1"/>
                </a:solidFill>
                <a:latin typeface="Calibri"/>
                <a:ea typeface="Calibri"/>
                <a:cs typeface="Calibri"/>
                <a:sym typeface="Calibri"/>
              </a:rPr>
              <a:t>You can </a:t>
            </a:r>
            <a:r>
              <a:rPr lang="en-GB" sz="2400" b="1">
                <a:solidFill>
                  <a:srgbClr val="E36C09"/>
                </a:solidFill>
                <a:latin typeface="Calibri"/>
                <a:ea typeface="Calibri"/>
                <a:cs typeface="Calibri"/>
                <a:sym typeface="Calibri"/>
              </a:rPr>
              <a:t>calculate</a:t>
            </a:r>
            <a:r>
              <a:rPr lang="en-GB" sz="2400">
                <a:solidFill>
                  <a:srgbClr val="E36C09"/>
                </a:solidFill>
                <a:latin typeface="Calibri"/>
                <a:ea typeface="Calibri"/>
                <a:cs typeface="Calibri"/>
                <a:sym typeface="Calibri"/>
              </a:rPr>
              <a:t> </a:t>
            </a:r>
            <a:r>
              <a:rPr lang="en-GB" sz="2400">
                <a:solidFill>
                  <a:schemeClr val="dk1"/>
                </a:solidFill>
                <a:latin typeface="Calibri"/>
                <a:ea typeface="Calibri"/>
                <a:cs typeface="Calibri"/>
                <a:sym typeface="Calibri"/>
              </a:rPr>
              <a:t>the magnification of an image by using the equation:               </a:t>
            </a:r>
            <a:endParaRPr/>
          </a:p>
          <a:p>
            <a:pPr marL="0" marR="0" lvl="0" indent="0" algn="ctr" rtl="0">
              <a:spcBef>
                <a:spcPts val="0"/>
              </a:spcBef>
              <a:spcAft>
                <a:spcPts val="0"/>
              </a:spcAft>
              <a:buNone/>
            </a:pPr>
            <a:endParaRPr sz="1100" b="1">
              <a:solidFill>
                <a:srgbClr val="E36C09"/>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434" name="Google Shape;434;p30"/>
          <p:cNvSpPr txBox="1"/>
          <p:nvPr/>
        </p:nvSpPr>
        <p:spPr>
          <a:xfrm>
            <a:off x="144912" y="6202828"/>
            <a:ext cx="8315520" cy="369332"/>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a:solidFill>
                  <a:schemeClr val="dk1"/>
                </a:solidFill>
                <a:latin typeface="Calibri"/>
                <a:ea typeface="Calibri"/>
                <a:cs typeface="Calibri"/>
                <a:sym typeface="Calibri"/>
              </a:rPr>
              <a:t>You may need to be able rearrange to change the </a:t>
            </a:r>
            <a:r>
              <a:rPr lang="en-GB" sz="1800" b="1">
                <a:solidFill>
                  <a:schemeClr val="dk1"/>
                </a:solidFill>
                <a:latin typeface="Calibri"/>
                <a:ea typeface="Calibri"/>
                <a:cs typeface="Calibri"/>
                <a:sym typeface="Calibri"/>
              </a:rPr>
              <a:t>subject</a:t>
            </a:r>
            <a:r>
              <a:rPr lang="en-GB" sz="1800">
                <a:solidFill>
                  <a:schemeClr val="dk1"/>
                </a:solidFill>
                <a:latin typeface="Calibri"/>
                <a:ea typeface="Calibri"/>
                <a:cs typeface="Calibri"/>
                <a:sym typeface="Calibri"/>
              </a:rPr>
              <a:t> of the equation. </a:t>
            </a:r>
            <a:endParaRPr/>
          </a:p>
        </p:txBody>
      </p:sp>
      <p:grpSp>
        <p:nvGrpSpPr>
          <p:cNvPr id="435" name="Google Shape;435;p30"/>
          <p:cNvGrpSpPr/>
          <p:nvPr/>
        </p:nvGrpSpPr>
        <p:grpSpPr>
          <a:xfrm>
            <a:off x="-263038" y="1519202"/>
            <a:ext cx="4956502" cy="815081"/>
            <a:chOff x="1261143" y="1616911"/>
            <a:chExt cx="6153354" cy="815081"/>
          </a:xfrm>
        </p:grpSpPr>
        <p:sp>
          <p:nvSpPr>
            <p:cNvPr id="436" name="Google Shape;436;p30"/>
            <p:cNvSpPr txBox="1"/>
            <p:nvPr/>
          </p:nvSpPr>
          <p:spPr>
            <a:xfrm>
              <a:off x="3592419" y="2031882"/>
              <a:ext cx="382207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36C09"/>
                  </a:solidFill>
                  <a:latin typeface="Calibri"/>
                  <a:ea typeface="Calibri"/>
                  <a:cs typeface="Calibri"/>
                  <a:sym typeface="Calibri"/>
                </a:rPr>
                <a:t>real size of the </a:t>
              </a:r>
              <a:r>
                <a:rPr lang="en-GB" sz="2000" b="1">
                  <a:solidFill>
                    <a:schemeClr val="dk1"/>
                  </a:solidFill>
                  <a:latin typeface="Calibri"/>
                  <a:ea typeface="Calibri"/>
                  <a:cs typeface="Calibri"/>
                  <a:sym typeface="Calibri"/>
                </a:rPr>
                <a:t>object A</a:t>
              </a:r>
              <a:endParaRPr/>
            </a:p>
          </p:txBody>
        </p:sp>
        <p:sp>
          <p:nvSpPr>
            <p:cNvPr id="437" name="Google Shape;437;p30"/>
            <p:cNvSpPr/>
            <p:nvPr/>
          </p:nvSpPr>
          <p:spPr>
            <a:xfrm>
              <a:off x="1261143" y="1616911"/>
              <a:ext cx="555558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magnification M</a:t>
              </a:r>
              <a:r>
                <a:rPr lang="en-GB" sz="2000" b="1">
                  <a:solidFill>
                    <a:srgbClr val="E36C09"/>
                  </a:solidFill>
                  <a:latin typeface="Calibri"/>
                  <a:ea typeface="Calibri"/>
                  <a:cs typeface="Calibri"/>
                  <a:sym typeface="Calibri"/>
                </a:rPr>
                <a:t> =   size of </a:t>
              </a:r>
              <a:r>
                <a:rPr lang="en-GB" sz="2000" b="1">
                  <a:solidFill>
                    <a:schemeClr val="dk1"/>
                  </a:solidFill>
                  <a:latin typeface="Calibri"/>
                  <a:ea typeface="Calibri"/>
                  <a:cs typeface="Calibri"/>
                  <a:sym typeface="Calibri"/>
                </a:rPr>
                <a:t>image </a:t>
              </a:r>
              <a:r>
                <a:rPr lang="en-GB" sz="2000" b="1">
                  <a:solidFill>
                    <a:schemeClr val="dk1"/>
                  </a:solidFill>
                  <a:latin typeface="Times"/>
                  <a:ea typeface="Times"/>
                  <a:cs typeface="Times"/>
                  <a:sym typeface="Times"/>
                </a:rPr>
                <a:t>I</a:t>
              </a:r>
              <a:endParaRPr/>
            </a:p>
          </p:txBody>
        </p:sp>
        <p:cxnSp>
          <p:nvCxnSpPr>
            <p:cNvPr id="438" name="Google Shape;438;p30"/>
            <p:cNvCxnSpPr/>
            <p:nvPr/>
          </p:nvCxnSpPr>
          <p:spPr>
            <a:xfrm>
              <a:off x="4257647" y="2031882"/>
              <a:ext cx="2112097" cy="528"/>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grpSp>
      <p:sp>
        <p:nvSpPr>
          <p:cNvPr id="439" name="Google Shape;439;p30"/>
          <p:cNvSpPr/>
          <p:nvPr/>
        </p:nvSpPr>
        <p:spPr>
          <a:xfrm>
            <a:off x="4458841" y="1142539"/>
            <a:ext cx="4673851" cy="1754326"/>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dk1"/>
                </a:solidFill>
                <a:latin typeface="Calibri"/>
                <a:ea typeface="Calibri"/>
                <a:cs typeface="Calibri"/>
                <a:sym typeface="Calibri"/>
              </a:rPr>
              <a:t>MAGNIFICATION: </a:t>
            </a:r>
            <a:r>
              <a:rPr lang="en-GB" sz="1800">
                <a:solidFill>
                  <a:schemeClr val="dk1"/>
                </a:solidFill>
                <a:latin typeface="Calibri"/>
                <a:ea typeface="Calibri"/>
                <a:cs typeface="Calibri"/>
                <a:sym typeface="Calibri"/>
              </a:rPr>
              <a:t>the number of times bigger the image looks compared to the object</a:t>
            </a:r>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IMAGE</a:t>
            </a:r>
            <a:r>
              <a:rPr lang="en-GB" sz="1800">
                <a:solidFill>
                  <a:schemeClr val="dk1"/>
                </a:solidFill>
                <a:latin typeface="Calibri"/>
                <a:ea typeface="Calibri"/>
                <a:cs typeface="Calibri"/>
                <a:sym typeface="Calibri"/>
              </a:rPr>
              <a:t>: what is viewed through the microscope lenses</a:t>
            </a:r>
            <a:endParaRPr/>
          </a:p>
          <a:p>
            <a:pPr marL="0" marR="0" lvl="0" indent="0" algn="l" rtl="0">
              <a:spcBef>
                <a:spcPts val="0"/>
              </a:spcBef>
              <a:spcAft>
                <a:spcPts val="0"/>
              </a:spcAft>
              <a:buNone/>
            </a:pPr>
            <a:r>
              <a:rPr lang="en-GB" sz="1800" b="1">
                <a:solidFill>
                  <a:schemeClr val="dk1"/>
                </a:solidFill>
                <a:latin typeface="Calibri"/>
                <a:ea typeface="Calibri"/>
                <a:cs typeface="Calibri"/>
                <a:sym typeface="Calibri"/>
              </a:rPr>
              <a:t>OBJECT</a:t>
            </a:r>
            <a:r>
              <a:rPr lang="en-GB" sz="1800">
                <a:solidFill>
                  <a:schemeClr val="dk1"/>
                </a:solidFill>
                <a:latin typeface="Calibri"/>
                <a:ea typeface="Calibri"/>
                <a:cs typeface="Calibri"/>
                <a:sym typeface="Calibri"/>
              </a:rPr>
              <a:t>: the </a:t>
            </a:r>
            <a:r>
              <a:rPr lang="en-GB" sz="1800" b="1">
                <a:solidFill>
                  <a:schemeClr val="dk1"/>
                </a:solidFill>
                <a:latin typeface="Calibri"/>
                <a:ea typeface="Calibri"/>
                <a:cs typeface="Calibri"/>
                <a:sym typeface="Calibri"/>
              </a:rPr>
              <a:t>ACTUAL</a:t>
            </a:r>
            <a:r>
              <a:rPr lang="en-GB" sz="1800">
                <a:solidFill>
                  <a:schemeClr val="dk1"/>
                </a:solidFill>
                <a:latin typeface="Calibri"/>
                <a:ea typeface="Calibri"/>
                <a:cs typeface="Calibri"/>
                <a:sym typeface="Calibri"/>
              </a:rPr>
              <a:t> specimen under the microscope</a:t>
            </a:r>
            <a:endParaRPr/>
          </a:p>
        </p:txBody>
      </p:sp>
      <p:sp>
        <p:nvSpPr>
          <p:cNvPr id="440" name="Google Shape;440;p30"/>
          <p:cNvSpPr/>
          <p:nvPr/>
        </p:nvSpPr>
        <p:spPr>
          <a:xfrm>
            <a:off x="144912" y="2995205"/>
            <a:ext cx="8987780" cy="3170099"/>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WORKED EXAMPLE 1:</a:t>
            </a:r>
            <a:endParaRPr/>
          </a:p>
          <a:p>
            <a:pPr marL="0" marR="0" lvl="0" indent="0" algn="l" rtl="0">
              <a:lnSpc>
                <a:spcPct val="150000"/>
              </a:lnSpc>
              <a:spcBef>
                <a:spcPts val="0"/>
              </a:spcBef>
              <a:spcAft>
                <a:spcPts val="0"/>
              </a:spcAft>
              <a:buNone/>
            </a:pPr>
            <a:r>
              <a:rPr lang="en-GB" sz="2000">
                <a:solidFill>
                  <a:schemeClr val="dk1"/>
                </a:solidFill>
                <a:latin typeface="Calibri"/>
                <a:ea typeface="Calibri"/>
                <a:cs typeface="Calibri"/>
                <a:sym typeface="Calibri"/>
              </a:rPr>
              <a:t>A magnified animal cell structure has a diameter of 6 mm.</a:t>
            </a:r>
            <a:endParaRPr/>
          </a:p>
          <a:p>
            <a:pPr marL="0" marR="0" lvl="0" indent="0" algn="l" rtl="0">
              <a:lnSpc>
                <a:spcPct val="150000"/>
              </a:lnSpc>
              <a:spcBef>
                <a:spcPts val="0"/>
              </a:spcBef>
              <a:spcAft>
                <a:spcPts val="0"/>
              </a:spcAft>
              <a:buNone/>
            </a:pPr>
            <a:r>
              <a:rPr lang="en-GB" sz="2000">
                <a:solidFill>
                  <a:schemeClr val="dk1"/>
                </a:solidFill>
                <a:latin typeface="Calibri"/>
                <a:ea typeface="Calibri"/>
                <a:cs typeface="Calibri"/>
                <a:sym typeface="Calibri"/>
              </a:rPr>
              <a:t>The actual diameter of the structure is 0.15mm. </a:t>
            </a:r>
            <a:endParaRPr/>
          </a:p>
          <a:p>
            <a:pPr marL="0" marR="0" lvl="0" indent="0" algn="l" rtl="0">
              <a:lnSpc>
                <a:spcPct val="150000"/>
              </a:lnSpc>
              <a:spcBef>
                <a:spcPts val="0"/>
              </a:spcBef>
              <a:spcAft>
                <a:spcPts val="0"/>
              </a:spcAft>
              <a:buNone/>
            </a:pPr>
            <a:r>
              <a:rPr lang="en-GB" sz="2000">
                <a:solidFill>
                  <a:schemeClr val="dk1"/>
                </a:solidFill>
                <a:latin typeface="Calibri"/>
                <a:ea typeface="Calibri"/>
                <a:cs typeface="Calibri"/>
                <a:sym typeface="Calibri"/>
              </a:rPr>
              <a:t>Calculate how many times the structure has been magnified.</a:t>
            </a:r>
            <a:endParaRPr/>
          </a:p>
          <a:p>
            <a:pPr marL="0" marR="0" lvl="0" indent="0" algn="l" rtl="0">
              <a:lnSpc>
                <a:spcPct val="150000"/>
              </a:lnSpc>
              <a:spcBef>
                <a:spcPts val="0"/>
              </a:spcBef>
              <a:spcAft>
                <a:spcPts val="0"/>
              </a:spcAft>
              <a:buNone/>
            </a:pPr>
            <a:endParaRPr sz="20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0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000">
              <a:solidFill>
                <a:schemeClr val="dk1"/>
              </a:solidFill>
              <a:latin typeface="Calibri"/>
              <a:ea typeface="Calibri"/>
              <a:cs typeface="Calibri"/>
              <a:sym typeface="Calibri"/>
            </a:endParaRPr>
          </a:p>
        </p:txBody>
      </p:sp>
      <p:sp>
        <p:nvSpPr>
          <p:cNvPr id="441" name="Google Shape;441;p30"/>
          <p:cNvSpPr/>
          <p:nvPr/>
        </p:nvSpPr>
        <p:spPr>
          <a:xfrm>
            <a:off x="5902229" y="3867663"/>
            <a:ext cx="913928" cy="369332"/>
          </a:xfrm>
          <a:prstGeom prst="rect">
            <a:avLst/>
          </a:prstGeom>
          <a:noFill/>
          <a:ln w="9525" cap="flat" cmpd="sng">
            <a:solidFill>
              <a:srgbClr val="E36C09"/>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accent6"/>
                </a:solidFill>
                <a:latin typeface="Calibri"/>
                <a:ea typeface="Calibri"/>
                <a:cs typeface="Calibri"/>
                <a:sym typeface="Calibri"/>
              </a:rPr>
              <a:t>OBJECT</a:t>
            </a:r>
            <a:endParaRPr sz="1800">
              <a:solidFill>
                <a:schemeClr val="accent6"/>
              </a:solidFill>
              <a:latin typeface="Calibri"/>
              <a:ea typeface="Calibri"/>
              <a:cs typeface="Calibri"/>
              <a:sym typeface="Calibri"/>
            </a:endParaRPr>
          </a:p>
        </p:txBody>
      </p:sp>
      <p:cxnSp>
        <p:nvCxnSpPr>
          <p:cNvPr id="442" name="Google Shape;442;p30"/>
          <p:cNvCxnSpPr/>
          <p:nvPr/>
        </p:nvCxnSpPr>
        <p:spPr>
          <a:xfrm flipH="1">
            <a:off x="5326165" y="4058728"/>
            <a:ext cx="576064" cy="16299"/>
          </a:xfrm>
          <a:prstGeom prst="straightConnector1">
            <a:avLst/>
          </a:prstGeom>
          <a:noFill/>
          <a:ln w="25400" cap="flat" cmpd="sng">
            <a:solidFill>
              <a:srgbClr val="E36C09"/>
            </a:solidFill>
            <a:prstDash val="solid"/>
            <a:round/>
            <a:headEnd type="none" w="sm" len="sm"/>
            <a:tailEnd type="triangle" w="med" len="med"/>
          </a:ln>
          <a:effectLst>
            <a:outerShdw blurRad="40000" dist="20000" dir="5400000" rotWithShape="0">
              <a:srgbClr val="000000">
                <a:alpha val="37647"/>
              </a:srgbClr>
            </a:outerShdw>
          </a:effectLst>
        </p:spPr>
      </p:cxnSp>
      <p:sp>
        <p:nvSpPr>
          <p:cNvPr id="443" name="Google Shape;443;p30"/>
          <p:cNvSpPr/>
          <p:nvPr/>
        </p:nvSpPr>
        <p:spPr>
          <a:xfrm>
            <a:off x="5508105" y="3401132"/>
            <a:ext cx="720080" cy="336490"/>
          </a:xfrm>
          <a:prstGeom prst="roundRect">
            <a:avLst>
              <a:gd name="adj" fmla="val 16667"/>
            </a:avLst>
          </a:prstGeom>
          <a:noFill/>
          <a:ln w="12700" cap="flat" cmpd="sng">
            <a:solidFill>
              <a:srgbClr val="E36C0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4" name="Google Shape;444;p30"/>
          <p:cNvSpPr/>
          <p:nvPr/>
        </p:nvSpPr>
        <p:spPr>
          <a:xfrm>
            <a:off x="6876256" y="3361891"/>
            <a:ext cx="892488" cy="369332"/>
          </a:xfrm>
          <a:prstGeom prst="rect">
            <a:avLst/>
          </a:prstGeom>
          <a:noFill/>
          <a:ln w="9525" cap="flat" cmpd="sng">
            <a:solidFill>
              <a:srgbClr val="E36C09"/>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accent6"/>
                </a:solidFill>
                <a:latin typeface="Calibri"/>
                <a:ea typeface="Calibri"/>
                <a:cs typeface="Calibri"/>
                <a:sym typeface="Calibri"/>
              </a:rPr>
              <a:t>IMAGE</a:t>
            </a:r>
            <a:endParaRPr sz="1800">
              <a:solidFill>
                <a:schemeClr val="accent6"/>
              </a:solidFill>
              <a:latin typeface="Calibri"/>
              <a:ea typeface="Calibri"/>
              <a:cs typeface="Calibri"/>
              <a:sym typeface="Calibri"/>
            </a:endParaRPr>
          </a:p>
        </p:txBody>
      </p:sp>
      <p:cxnSp>
        <p:nvCxnSpPr>
          <p:cNvPr id="445" name="Google Shape;445;p30"/>
          <p:cNvCxnSpPr/>
          <p:nvPr/>
        </p:nvCxnSpPr>
        <p:spPr>
          <a:xfrm flipH="1">
            <a:off x="6315720" y="3530258"/>
            <a:ext cx="576064" cy="16299"/>
          </a:xfrm>
          <a:prstGeom prst="straightConnector1">
            <a:avLst/>
          </a:prstGeom>
          <a:noFill/>
          <a:ln w="25400" cap="flat" cmpd="sng">
            <a:solidFill>
              <a:srgbClr val="E36C09"/>
            </a:solidFill>
            <a:prstDash val="solid"/>
            <a:round/>
            <a:headEnd type="none" w="sm" len="sm"/>
            <a:tailEnd type="triangle" w="med" len="med"/>
          </a:ln>
          <a:effectLst>
            <a:outerShdw blurRad="40000" dist="20000" dir="5400000" rotWithShape="0">
              <a:srgbClr val="000000">
                <a:alpha val="37647"/>
              </a:srgbClr>
            </a:outerShdw>
          </a:effectLst>
        </p:spPr>
      </p:cxnSp>
      <p:sp>
        <p:nvSpPr>
          <p:cNvPr id="446" name="Google Shape;446;p30"/>
          <p:cNvSpPr/>
          <p:nvPr/>
        </p:nvSpPr>
        <p:spPr>
          <a:xfrm>
            <a:off x="4211960" y="3867663"/>
            <a:ext cx="963010" cy="336490"/>
          </a:xfrm>
          <a:prstGeom prst="roundRect">
            <a:avLst>
              <a:gd name="adj" fmla="val 16667"/>
            </a:avLst>
          </a:prstGeom>
          <a:noFill/>
          <a:ln w="12700" cap="flat" cmpd="sng">
            <a:solidFill>
              <a:srgbClr val="E36C0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7" name="Google Shape;447;p30"/>
          <p:cNvSpPr txBox="1"/>
          <p:nvPr/>
        </p:nvSpPr>
        <p:spPr>
          <a:xfrm>
            <a:off x="3249910" y="5244855"/>
            <a:ext cx="7893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accent6"/>
                </a:solidFill>
                <a:latin typeface="Calibri"/>
                <a:ea typeface="Calibri"/>
                <a:cs typeface="Calibri"/>
                <a:sym typeface="Calibri"/>
              </a:rPr>
              <a:t>0.15</a:t>
            </a:r>
            <a:endParaRPr/>
          </a:p>
        </p:txBody>
      </p:sp>
      <p:sp>
        <p:nvSpPr>
          <p:cNvPr id="448" name="Google Shape;448;p30"/>
          <p:cNvSpPr/>
          <p:nvPr/>
        </p:nvSpPr>
        <p:spPr>
          <a:xfrm>
            <a:off x="2873385" y="4845778"/>
            <a:ext cx="4474998"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chemeClr val="dk1"/>
                </a:solidFill>
                <a:latin typeface="Calibri"/>
                <a:ea typeface="Calibri"/>
                <a:cs typeface="Calibri"/>
                <a:sym typeface="Calibri"/>
              </a:rPr>
              <a:t>M =   40</a:t>
            </a:r>
            <a:endParaRPr/>
          </a:p>
        </p:txBody>
      </p:sp>
      <p:cxnSp>
        <p:nvCxnSpPr>
          <p:cNvPr id="449" name="Google Shape;449;p30"/>
          <p:cNvCxnSpPr/>
          <p:nvPr/>
        </p:nvCxnSpPr>
        <p:spPr>
          <a:xfrm rot="-120000">
            <a:off x="3372414" y="5203311"/>
            <a:ext cx="544325" cy="22005"/>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sp>
        <p:nvSpPr>
          <p:cNvPr id="450" name="Google Shape;450;p30"/>
          <p:cNvSpPr/>
          <p:nvPr/>
        </p:nvSpPr>
        <p:spPr>
          <a:xfrm>
            <a:off x="1863765" y="4752648"/>
            <a:ext cx="297525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chemeClr val="accent6"/>
                </a:solidFill>
                <a:latin typeface="Calibri"/>
                <a:ea typeface="Calibri"/>
                <a:cs typeface="Calibri"/>
                <a:sym typeface="Calibri"/>
              </a:rPr>
              <a:t>M =   6</a:t>
            </a:r>
            <a:endParaRPr/>
          </a:p>
        </p:txBody>
      </p:sp>
      <p:sp>
        <p:nvSpPr>
          <p:cNvPr id="451" name="Google Shape;451;p30"/>
          <p:cNvSpPr txBox="1"/>
          <p:nvPr/>
        </p:nvSpPr>
        <p:spPr>
          <a:xfrm>
            <a:off x="6719904" y="5011430"/>
            <a:ext cx="2010008" cy="923330"/>
          </a:xfrm>
          <a:prstGeom prst="rect">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a:solidFill>
                  <a:schemeClr val="dk1"/>
                </a:solidFill>
                <a:latin typeface="Calibri"/>
                <a:ea typeface="Calibri"/>
                <a:cs typeface="Calibri"/>
                <a:sym typeface="Calibri"/>
              </a:rPr>
              <a:t>You may need to to write your answers in </a:t>
            </a:r>
            <a:r>
              <a:rPr lang="en-GB" sz="1800" b="1">
                <a:solidFill>
                  <a:schemeClr val="dk1"/>
                </a:solidFill>
                <a:latin typeface="Calibri"/>
                <a:ea typeface="Calibri"/>
                <a:cs typeface="Calibri"/>
                <a:sym typeface="Calibri"/>
              </a:rPr>
              <a:t>standard form. </a:t>
            </a:r>
            <a:endParaRPr/>
          </a:p>
        </p:txBody>
      </p:sp>
      <p:grpSp>
        <p:nvGrpSpPr>
          <p:cNvPr id="452" name="Google Shape;452;p30"/>
          <p:cNvGrpSpPr/>
          <p:nvPr/>
        </p:nvGrpSpPr>
        <p:grpSpPr>
          <a:xfrm>
            <a:off x="663007" y="4757690"/>
            <a:ext cx="1487627" cy="930387"/>
            <a:chOff x="2525944" y="3794165"/>
            <a:chExt cx="1487627" cy="930387"/>
          </a:xfrm>
        </p:grpSpPr>
        <p:sp>
          <p:nvSpPr>
            <p:cNvPr id="453" name="Google Shape;453;p30"/>
            <p:cNvSpPr txBox="1"/>
            <p:nvPr/>
          </p:nvSpPr>
          <p:spPr>
            <a:xfrm>
              <a:off x="3446488" y="4262887"/>
              <a:ext cx="30205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rgbClr val="E36C09"/>
                  </a:solidFill>
                  <a:latin typeface="Calibri"/>
                  <a:ea typeface="Calibri"/>
                  <a:cs typeface="Calibri"/>
                  <a:sym typeface="Calibri"/>
                </a:rPr>
                <a:t>A</a:t>
              </a:r>
              <a:endParaRPr/>
            </a:p>
          </p:txBody>
        </p:sp>
        <p:cxnSp>
          <p:nvCxnSpPr>
            <p:cNvPr id="454" name="Google Shape;454;p30"/>
            <p:cNvCxnSpPr/>
            <p:nvPr/>
          </p:nvCxnSpPr>
          <p:spPr>
            <a:xfrm>
              <a:off x="3415117" y="4254665"/>
              <a:ext cx="364795" cy="0"/>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sp>
          <p:nvSpPr>
            <p:cNvPr id="455" name="Google Shape;455;p30"/>
            <p:cNvSpPr/>
            <p:nvPr/>
          </p:nvSpPr>
          <p:spPr>
            <a:xfrm>
              <a:off x="2525944" y="3794165"/>
              <a:ext cx="14876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rgbClr val="E36C09"/>
                  </a:solidFill>
                  <a:latin typeface="Calibri"/>
                  <a:ea typeface="Calibri"/>
                  <a:cs typeface="Calibri"/>
                  <a:sym typeface="Calibri"/>
                </a:rPr>
                <a:t>M =   </a:t>
              </a:r>
              <a:r>
                <a:rPr lang="en-GB" sz="2400" b="1">
                  <a:solidFill>
                    <a:srgbClr val="E36C09"/>
                  </a:solidFill>
                  <a:latin typeface="Times"/>
                  <a:ea typeface="Times"/>
                  <a:cs typeface="Times"/>
                  <a:sym typeface="Times"/>
                </a:rPr>
                <a:t>I</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1"/>
          <p:cNvSpPr txBox="1">
            <a:spLocks noGrp="1"/>
          </p:cNvSpPr>
          <p:nvPr>
            <p:ph type="ctrTitle"/>
          </p:nvPr>
        </p:nvSpPr>
        <p:spPr>
          <a:xfrm>
            <a:off x="2256436" y="-14024"/>
            <a:ext cx="6876256"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accent6"/>
                </a:solidFill>
                <a:latin typeface="Calibri"/>
                <a:ea typeface="Calibri"/>
                <a:cs typeface="Calibri"/>
                <a:sym typeface="Calibri"/>
              </a:rPr>
              <a:t>Microscopy</a:t>
            </a:r>
            <a:endParaRPr/>
          </a:p>
        </p:txBody>
      </p:sp>
      <p:sp>
        <p:nvSpPr>
          <p:cNvPr id="462" name="Google Shape;462;p31"/>
          <p:cNvSpPr/>
          <p:nvPr/>
        </p:nvSpPr>
        <p:spPr>
          <a:xfrm>
            <a:off x="5488440" y="1921211"/>
            <a:ext cx="1352402" cy="369332"/>
          </a:xfrm>
          <a:prstGeom prst="rect">
            <a:avLst/>
          </a:prstGeom>
          <a:noFill/>
          <a:ln w="9525" cap="flat" cmpd="sng">
            <a:solidFill>
              <a:srgbClr val="E36C09"/>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accent6"/>
                </a:solidFill>
                <a:latin typeface="Calibri"/>
                <a:ea typeface="Calibri"/>
                <a:cs typeface="Calibri"/>
                <a:sym typeface="Calibri"/>
              </a:rPr>
              <a:t>OBJECT (A)</a:t>
            </a:r>
            <a:endParaRPr sz="1800">
              <a:solidFill>
                <a:schemeClr val="accent6"/>
              </a:solidFill>
              <a:latin typeface="Calibri"/>
              <a:ea typeface="Calibri"/>
              <a:cs typeface="Calibri"/>
              <a:sym typeface="Calibri"/>
            </a:endParaRPr>
          </a:p>
        </p:txBody>
      </p:sp>
      <p:sp>
        <p:nvSpPr>
          <p:cNvPr id="463" name="Google Shape;463;p31"/>
          <p:cNvSpPr/>
          <p:nvPr/>
        </p:nvSpPr>
        <p:spPr>
          <a:xfrm>
            <a:off x="107504" y="1511084"/>
            <a:ext cx="8928992" cy="5016758"/>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WORKED EXAMPLE 2:</a:t>
            </a:r>
            <a:endParaRPr/>
          </a:p>
          <a:p>
            <a:pPr marL="0" marR="0" lvl="0" indent="0" algn="l" rtl="0">
              <a:lnSpc>
                <a:spcPct val="150000"/>
              </a:lnSpc>
              <a:spcBef>
                <a:spcPts val="0"/>
              </a:spcBef>
              <a:spcAft>
                <a:spcPts val="0"/>
              </a:spcAft>
              <a:buNone/>
            </a:pPr>
            <a:r>
              <a:rPr lang="en-GB" sz="2000">
                <a:solidFill>
                  <a:schemeClr val="dk1"/>
                </a:solidFill>
                <a:latin typeface="Calibri"/>
                <a:ea typeface="Calibri"/>
                <a:cs typeface="Calibri"/>
                <a:sym typeface="Calibri"/>
              </a:rPr>
              <a:t>The actual length of a cell structure is 30𝛍m.</a:t>
            </a:r>
            <a:endParaRPr/>
          </a:p>
          <a:p>
            <a:pPr marL="0" marR="0" lvl="0" indent="0" algn="l" rtl="0">
              <a:lnSpc>
                <a:spcPct val="150000"/>
              </a:lnSpc>
              <a:spcBef>
                <a:spcPts val="0"/>
              </a:spcBef>
              <a:spcAft>
                <a:spcPts val="0"/>
              </a:spcAft>
              <a:buNone/>
            </a:pPr>
            <a:r>
              <a:rPr lang="en-GB" sz="2000">
                <a:solidFill>
                  <a:schemeClr val="dk1"/>
                </a:solidFill>
                <a:latin typeface="Calibri"/>
                <a:ea typeface="Calibri"/>
                <a:cs typeface="Calibri"/>
                <a:sym typeface="Calibri"/>
              </a:rPr>
              <a:t>It is magnified 40 times. </a:t>
            </a:r>
            <a:endParaRPr/>
          </a:p>
          <a:p>
            <a:pPr marL="0" marR="0" lvl="0" indent="0" algn="l" rtl="0">
              <a:lnSpc>
                <a:spcPct val="150000"/>
              </a:lnSpc>
              <a:spcBef>
                <a:spcPts val="0"/>
              </a:spcBef>
              <a:spcAft>
                <a:spcPts val="0"/>
              </a:spcAft>
              <a:buNone/>
            </a:pPr>
            <a:r>
              <a:rPr lang="en-GB" sz="2000">
                <a:solidFill>
                  <a:schemeClr val="dk1"/>
                </a:solidFill>
                <a:latin typeface="Calibri"/>
                <a:ea typeface="Calibri"/>
                <a:cs typeface="Calibri"/>
                <a:sym typeface="Calibri"/>
              </a:rPr>
              <a:t>Calculate the length of the magnified cell structure in mm. </a:t>
            </a:r>
            <a:endParaRPr/>
          </a:p>
          <a:p>
            <a:pPr marL="0" marR="0" lvl="0" indent="0" algn="l" rtl="0">
              <a:lnSpc>
                <a:spcPct val="150000"/>
              </a:lnSpc>
              <a:spcBef>
                <a:spcPts val="0"/>
              </a:spcBef>
              <a:spcAft>
                <a:spcPts val="0"/>
              </a:spcAft>
              <a:buNone/>
            </a:pPr>
            <a:r>
              <a:rPr lang="en-GB" sz="2000">
                <a:solidFill>
                  <a:schemeClr val="dk1"/>
                </a:solidFill>
                <a:latin typeface="Calibri"/>
                <a:ea typeface="Calibri"/>
                <a:cs typeface="Calibri"/>
                <a:sym typeface="Calibri"/>
              </a:rPr>
              <a:t>Rearrange the equation to make </a:t>
            </a:r>
            <a:r>
              <a:rPr lang="en-GB" sz="2000" b="1">
                <a:solidFill>
                  <a:schemeClr val="dk1"/>
                </a:solidFill>
                <a:latin typeface="Times"/>
                <a:ea typeface="Times"/>
                <a:cs typeface="Times"/>
                <a:sym typeface="Times"/>
              </a:rPr>
              <a:t>I </a:t>
            </a:r>
            <a:r>
              <a:rPr lang="en-GB" sz="2000">
                <a:solidFill>
                  <a:schemeClr val="dk1"/>
                </a:solidFill>
                <a:latin typeface="Calibri"/>
                <a:ea typeface="Calibri"/>
                <a:cs typeface="Calibri"/>
                <a:sym typeface="Calibri"/>
              </a:rPr>
              <a:t>the subject</a:t>
            </a:r>
            <a:endParaRPr/>
          </a:p>
          <a:p>
            <a:pPr marL="0" marR="0" lvl="0" indent="0" algn="l" rtl="0">
              <a:lnSpc>
                <a:spcPct val="150000"/>
              </a:lnSpc>
              <a:spcBef>
                <a:spcPts val="0"/>
              </a:spcBef>
              <a:spcAft>
                <a:spcPts val="0"/>
              </a:spcAft>
              <a:buNone/>
            </a:pPr>
            <a:r>
              <a:rPr lang="en-GB" sz="2000" b="1">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0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0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0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0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000">
              <a:solidFill>
                <a:schemeClr val="dk1"/>
              </a:solidFill>
              <a:latin typeface="Calibri"/>
              <a:ea typeface="Calibri"/>
              <a:cs typeface="Calibri"/>
              <a:sym typeface="Calibri"/>
            </a:endParaRPr>
          </a:p>
        </p:txBody>
      </p:sp>
      <p:cxnSp>
        <p:nvCxnSpPr>
          <p:cNvPr id="464" name="Google Shape;464;p31"/>
          <p:cNvCxnSpPr/>
          <p:nvPr/>
        </p:nvCxnSpPr>
        <p:spPr>
          <a:xfrm flipH="1">
            <a:off x="4869507" y="2101984"/>
            <a:ext cx="576064" cy="16299"/>
          </a:xfrm>
          <a:prstGeom prst="straightConnector1">
            <a:avLst/>
          </a:prstGeom>
          <a:noFill/>
          <a:ln w="25400" cap="flat" cmpd="sng">
            <a:solidFill>
              <a:srgbClr val="E36C09"/>
            </a:solidFill>
            <a:prstDash val="solid"/>
            <a:round/>
            <a:headEnd type="none" w="sm" len="sm"/>
            <a:tailEnd type="triangle" w="med" len="med"/>
          </a:ln>
          <a:effectLst>
            <a:outerShdw blurRad="40000" dist="20000" dir="5400000" rotWithShape="0">
              <a:srgbClr val="000000">
                <a:alpha val="37647"/>
              </a:srgbClr>
            </a:outerShdw>
          </a:effectLst>
        </p:spPr>
      </p:cxnSp>
      <p:sp>
        <p:nvSpPr>
          <p:cNvPr id="465" name="Google Shape;465;p31"/>
          <p:cNvSpPr/>
          <p:nvPr/>
        </p:nvSpPr>
        <p:spPr>
          <a:xfrm>
            <a:off x="4095194" y="1931097"/>
            <a:ext cx="720080" cy="336490"/>
          </a:xfrm>
          <a:prstGeom prst="roundRect">
            <a:avLst>
              <a:gd name="adj" fmla="val 16667"/>
            </a:avLst>
          </a:prstGeom>
          <a:noFill/>
          <a:ln w="12700" cap="flat" cmpd="sng">
            <a:solidFill>
              <a:srgbClr val="E36C0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6" name="Google Shape;466;p31"/>
          <p:cNvSpPr/>
          <p:nvPr/>
        </p:nvSpPr>
        <p:spPr>
          <a:xfrm>
            <a:off x="3322720" y="2384018"/>
            <a:ext cx="2165720" cy="369332"/>
          </a:xfrm>
          <a:prstGeom prst="rect">
            <a:avLst/>
          </a:prstGeom>
          <a:noFill/>
          <a:ln w="9525" cap="flat" cmpd="sng">
            <a:solidFill>
              <a:srgbClr val="E36C09"/>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accent6"/>
                </a:solidFill>
                <a:latin typeface="Calibri"/>
                <a:ea typeface="Calibri"/>
                <a:cs typeface="Calibri"/>
                <a:sym typeface="Calibri"/>
              </a:rPr>
              <a:t>MAGNIFICATION (M)</a:t>
            </a:r>
            <a:endParaRPr sz="1800">
              <a:solidFill>
                <a:schemeClr val="accent6"/>
              </a:solidFill>
              <a:latin typeface="Calibri"/>
              <a:ea typeface="Calibri"/>
              <a:cs typeface="Calibri"/>
              <a:sym typeface="Calibri"/>
            </a:endParaRPr>
          </a:p>
        </p:txBody>
      </p:sp>
      <p:cxnSp>
        <p:nvCxnSpPr>
          <p:cNvPr id="467" name="Google Shape;467;p31"/>
          <p:cNvCxnSpPr/>
          <p:nvPr/>
        </p:nvCxnSpPr>
        <p:spPr>
          <a:xfrm flipH="1">
            <a:off x="2702946" y="2576319"/>
            <a:ext cx="576064" cy="16299"/>
          </a:xfrm>
          <a:prstGeom prst="straightConnector1">
            <a:avLst/>
          </a:prstGeom>
          <a:noFill/>
          <a:ln w="25400" cap="flat" cmpd="sng">
            <a:solidFill>
              <a:srgbClr val="E36C09"/>
            </a:solidFill>
            <a:prstDash val="solid"/>
            <a:round/>
            <a:headEnd type="none" w="sm" len="sm"/>
            <a:tailEnd type="triangle" w="med" len="med"/>
          </a:ln>
          <a:effectLst>
            <a:outerShdw blurRad="40000" dist="20000" dir="5400000" rotWithShape="0">
              <a:srgbClr val="000000">
                <a:alpha val="37647"/>
              </a:srgbClr>
            </a:outerShdw>
          </a:effectLst>
        </p:spPr>
      </p:cxnSp>
      <p:sp>
        <p:nvSpPr>
          <p:cNvPr id="468" name="Google Shape;468;p31"/>
          <p:cNvSpPr/>
          <p:nvPr/>
        </p:nvSpPr>
        <p:spPr>
          <a:xfrm>
            <a:off x="1696226" y="2412492"/>
            <a:ext cx="963010" cy="336490"/>
          </a:xfrm>
          <a:prstGeom prst="roundRect">
            <a:avLst>
              <a:gd name="adj" fmla="val 16667"/>
            </a:avLst>
          </a:prstGeom>
          <a:noFill/>
          <a:ln w="12700" cap="flat" cmpd="sng">
            <a:solidFill>
              <a:srgbClr val="E36C09"/>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9" name="Google Shape;469;p31"/>
          <p:cNvSpPr txBox="1"/>
          <p:nvPr/>
        </p:nvSpPr>
        <p:spPr>
          <a:xfrm>
            <a:off x="6840842" y="2514489"/>
            <a:ext cx="1997145" cy="923330"/>
          </a:xfrm>
          <a:prstGeom prst="rect">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a:solidFill>
                  <a:schemeClr val="dk1"/>
                </a:solidFill>
                <a:latin typeface="Calibri"/>
                <a:ea typeface="Calibri"/>
                <a:cs typeface="Calibri"/>
                <a:sym typeface="Calibri"/>
              </a:rPr>
              <a:t>You may need to to write your answers in </a:t>
            </a:r>
            <a:r>
              <a:rPr lang="en-GB" sz="1800" b="1">
                <a:solidFill>
                  <a:schemeClr val="dk1"/>
                </a:solidFill>
                <a:latin typeface="Calibri"/>
                <a:ea typeface="Calibri"/>
                <a:cs typeface="Calibri"/>
                <a:sym typeface="Calibri"/>
              </a:rPr>
              <a:t>standard form. </a:t>
            </a:r>
            <a:endParaRPr/>
          </a:p>
        </p:txBody>
      </p:sp>
      <p:grpSp>
        <p:nvGrpSpPr>
          <p:cNvPr id="470" name="Google Shape;470;p31"/>
          <p:cNvGrpSpPr/>
          <p:nvPr/>
        </p:nvGrpSpPr>
        <p:grpSpPr>
          <a:xfrm>
            <a:off x="1539446" y="696003"/>
            <a:ext cx="4956502" cy="815081"/>
            <a:chOff x="1261143" y="1616911"/>
            <a:chExt cx="6153354" cy="815081"/>
          </a:xfrm>
        </p:grpSpPr>
        <p:sp>
          <p:nvSpPr>
            <p:cNvPr id="471" name="Google Shape;471;p31"/>
            <p:cNvSpPr txBox="1"/>
            <p:nvPr/>
          </p:nvSpPr>
          <p:spPr>
            <a:xfrm>
              <a:off x="3592419" y="2031882"/>
              <a:ext cx="382207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36C09"/>
                  </a:solidFill>
                  <a:latin typeface="Calibri"/>
                  <a:ea typeface="Calibri"/>
                  <a:cs typeface="Calibri"/>
                  <a:sym typeface="Calibri"/>
                </a:rPr>
                <a:t>real size of the </a:t>
              </a:r>
              <a:r>
                <a:rPr lang="en-GB" sz="2000" b="1">
                  <a:solidFill>
                    <a:schemeClr val="dk1"/>
                  </a:solidFill>
                  <a:latin typeface="Calibri"/>
                  <a:ea typeface="Calibri"/>
                  <a:cs typeface="Calibri"/>
                  <a:sym typeface="Calibri"/>
                </a:rPr>
                <a:t>object A</a:t>
              </a:r>
              <a:endParaRPr/>
            </a:p>
          </p:txBody>
        </p:sp>
        <p:sp>
          <p:nvSpPr>
            <p:cNvPr id="472" name="Google Shape;472;p31"/>
            <p:cNvSpPr/>
            <p:nvPr/>
          </p:nvSpPr>
          <p:spPr>
            <a:xfrm>
              <a:off x="1261143" y="1616911"/>
              <a:ext cx="555558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magnification M</a:t>
              </a:r>
              <a:r>
                <a:rPr lang="en-GB" sz="2000" b="1">
                  <a:solidFill>
                    <a:srgbClr val="E36C09"/>
                  </a:solidFill>
                  <a:latin typeface="Calibri"/>
                  <a:ea typeface="Calibri"/>
                  <a:cs typeface="Calibri"/>
                  <a:sym typeface="Calibri"/>
                </a:rPr>
                <a:t> =   size of </a:t>
              </a:r>
              <a:r>
                <a:rPr lang="en-GB" sz="2000" b="1">
                  <a:solidFill>
                    <a:schemeClr val="dk1"/>
                  </a:solidFill>
                  <a:latin typeface="Calibri"/>
                  <a:ea typeface="Calibri"/>
                  <a:cs typeface="Calibri"/>
                  <a:sym typeface="Calibri"/>
                </a:rPr>
                <a:t>image </a:t>
              </a:r>
              <a:r>
                <a:rPr lang="en-GB" sz="2000" b="1">
                  <a:solidFill>
                    <a:schemeClr val="dk1"/>
                  </a:solidFill>
                  <a:latin typeface="Times"/>
                  <a:ea typeface="Times"/>
                  <a:cs typeface="Times"/>
                  <a:sym typeface="Times"/>
                </a:rPr>
                <a:t>I</a:t>
              </a:r>
              <a:endParaRPr/>
            </a:p>
          </p:txBody>
        </p:sp>
        <p:cxnSp>
          <p:nvCxnSpPr>
            <p:cNvPr id="473" name="Google Shape;473;p31"/>
            <p:cNvCxnSpPr/>
            <p:nvPr/>
          </p:nvCxnSpPr>
          <p:spPr>
            <a:xfrm>
              <a:off x="4257647" y="2031882"/>
              <a:ext cx="2112097" cy="528"/>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grpSp>
      <p:grpSp>
        <p:nvGrpSpPr>
          <p:cNvPr id="474" name="Google Shape;474;p31"/>
          <p:cNvGrpSpPr/>
          <p:nvPr/>
        </p:nvGrpSpPr>
        <p:grpSpPr>
          <a:xfrm>
            <a:off x="882182" y="3711039"/>
            <a:ext cx="1353857" cy="861525"/>
            <a:chOff x="688723" y="3723571"/>
            <a:chExt cx="1353857" cy="861525"/>
          </a:xfrm>
        </p:grpSpPr>
        <p:sp>
          <p:nvSpPr>
            <p:cNvPr id="475" name="Google Shape;475;p31"/>
            <p:cNvSpPr txBox="1"/>
            <p:nvPr/>
          </p:nvSpPr>
          <p:spPr>
            <a:xfrm>
              <a:off x="1320835" y="4123431"/>
              <a:ext cx="302052"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rgbClr val="E36C09"/>
                  </a:solidFill>
                  <a:latin typeface="Calibri"/>
                  <a:ea typeface="Calibri"/>
                  <a:cs typeface="Calibri"/>
                  <a:sym typeface="Calibri"/>
                </a:rPr>
                <a:t>A</a:t>
              </a:r>
              <a:endParaRPr/>
            </a:p>
          </p:txBody>
        </p:sp>
        <p:cxnSp>
          <p:nvCxnSpPr>
            <p:cNvPr id="476" name="Google Shape;476;p31"/>
            <p:cNvCxnSpPr/>
            <p:nvPr/>
          </p:nvCxnSpPr>
          <p:spPr>
            <a:xfrm>
              <a:off x="1118215" y="4191162"/>
              <a:ext cx="828000" cy="0"/>
            </a:xfrm>
            <a:prstGeom prst="straightConnector1">
              <a:avLst/>
            </a:prstGeom>
            <a:noFill/>
            <a:ln w="25400" cap="flat" cmpd="sng">
              <a:solidFill>
                <a:srgbClr val="E36C09"/>
              </a:solidFill>
              <a:prstDash val="solid"/>
              <a:round/>
              <a:headEnd type="none" w="sm" len="sm"/>
              <a:tailEnd type="none" w="sm" len="sm"/>
            </a:ln>
            <a:effectLst>
              <a:outerShdw blurRad="40000" dist="20000" dir="5400000" rotWithShape="0">
                <a:srgbClr val="000000">
                  <a:alpha val="37647"/>
                </a:srgbClr>
              </a:outerShdw>
            </a:effectLst>
          </p:spPr>
        </p:cxnSp>
        <p:sp>
          <p:nvSpPr>
            <p:cNvPr id="477" name="Google Shape;477;p31"/>
            <p:cNvSpPr/>
            <p:nvPr/>
          </p:nvSpPr>
          <p:spPr>
            <a:xfrm>
              <a:off x="688723" y="3723571"/>
              <a:ext cx="135385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E36C09"/>
                  </a:solidFill>
                  <a:latin typeface="Calibri"/>
                  <a:ea typeface="Calibri"/>
                  <a:cs typeface="Calibri"/>
                  <a:sym typeface="Calibri"/>
                </a:rPr>
                <a:t>M =  </a:t>
              </a:r>
              <a:r>
                <a:rPr lang="en-GB" sz="2400" b="1">
                  <a:solidFill>
                    <a:srgbClr val="E36C09"/>
                  </a:solidFill>
                  <a:latin typeface="Times"/>
                  <a:ea typeface="Times"/>
                  <a:cs typeface="Times"/>
                  <a:sym typeface="Times"/>
                </a:rPr>
                <a:t>I </a:t>
              </a:r>
              <a:r>
                <a:rPr lang="en-GB" sz="2400" b="1">
                  <a:solidFill>
                    <a:schemeClr val="dk1"/>
                  </a:solidFill>
                  <a:latin typeface="Calibri"/>
                  <a:ea typeface="Calibri"/>
                  <a:cs typeface="Calibri"/>
                  <a:sym typeface="Calibri"/>
                </a:rPr>
                <a:t> </a:t>
              </a:r>
              <a:endParaRPr/>
            </a:p>
          </p:txBody>
        </p:sp>
      </p:grpSp>
      <p:sp>
        <p:nvSpPr>
          <p:cNvPr id="478" name="Google Shape;478;p31"/>
          <p:cNvSpPr txBox="1"/>
          <p:nvPr/>
        </p:nvSpPr>
        <p:spPr>
          <a:xfrm>
            <a:off x="2532849" y="3844229"/>
            <a:ext cx="307018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accent6"/>
                </a:solidFill>
                <a:latin typeface="Calibri"/>
                <a:ea typeface="Calibri"/>
                <a:cs typeface="Calibri"/>
                <a:sym typeface="Calibri"/>
              </a:rPr>
              <a:t>Multiply both sides by A </a:t>
            </a:r>
            <a:endParaRPr/>
          </a:p>
        </p:txBody>
      </p:sp>
      <p:sp>
        <p:nvSpPr>
          <p:cNvPr id="479" name="Google Shape;479;p31"/>
          <p:cNvSpPr txBox="1"/>
          <p:nvPr/>
        </p:nvSpPr>
        <p:spPr>
          <a:xfrm>
            <a:off x="2529268" y="4254820"/>
            <a:ext cx="307018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accent6"/>
                </a:solidFill>
                <a:latin typeface="Calibri"/>
                <a:ea typeface="Calibri"/>
                <a:cs typeface="Calibri"/>
                <a:sym typeface="Calibri"/>
              </a:rPr>
              <a:t>Cancel out the As</a:t>
            </a:r>
            <a:endParaRPr/>
          </a:p>
        </p:txBody>
      </p:sp>
      <p:sp>
        <p:nvSpPr>
          <p:cNvPr id="480" name="Google Shape;480;p31"/>
          <p:cNvSpPr/>
          <p:nvPr/>
        </p:nvSpPr>
        <p:spPr>
          <a:xfrm>
            <a:off x="258967" y="4871285"/>
            <a:ext cx="1487627"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a:solidFill>
                  <a:srgbClr val="E36C09"/>
                </a:solidFill>
                <a:latin typeface="Times"/>
                <a:ea typeface="Times"/>
                <a:cs typeface="Times"/>
                <a:sym typeface="Times"/>
              </a:rPr>
              <a:t>I</a:t>
            </a:r>
            <a:r>
              <a:rPr lang="en-GB" sz="2400" b="1">
                <a:solidFill>
                  <a:srgbClr val="E36C09"/>
                </a:solidFill>
                <a:latin typeface="Calibri"/>
                <a:ea typeface="Calibri"/>
                <a:cs typeface="Calibri"/>
                <a:sym typeface="Calibri"/>
              </a:rPr>
              <a:t> =   M x A</a:t>
            </a:r>
            <a:endParaRPr/>
          </a:p>
        </p:txBody>
      </p:sp>
      <p:sp>
        <p:nvSpPr>
          <p:cNvPr id="481" name="Google Shape;481;p31"/>
          <p:cNvSpPr txBox="1"/>
          <p:nvPr/>
        </p:nvSpPr>
        <p:spPr>
          <a:xfrm>
            <a:off x="2528276" y="4871157"/>
            <a:ext cx="397249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accent6"/>
                </a:solidFill>
                <a:latin typeface="Calibri"/>
                <a:ea typeface="Calibri"/>
                <a:cs typeface="Calibri"/>
                <a:sym typeface="Calibri"/>
              </a:rPr>
              <a:t>Put I on the left of the equation </a:t>
            </a:r>
            <a:endParaRPr/>
          </a:p>
        </p:txBody>
      </p:sp>
      <p:sp>
        <p:nvSpPr>
          <p:cNvPr id="482" name="Google Shape;482;p31"/>
          <p:cNvSpPr/>
          <p:nvPr/>
        </p:nvSpPr>
        <p:spPr>
          <a:xfrm>
            <a:off x="208599" y="5575503"/>
            <a:ext cx="245063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E36C09"/>
                </a:solidFill>
                <a:latin typeface="Times"/>
                <a:ea typeface="Times"/>
                <a:cs typeface="Times"/>
                <a:sym typeface="Times"/>
              </a:rPr>
              <a:t>I</a:t>
            </a:r>
            <a:r>
              <a:rPr lang="en-GB" sz="2400" b="1">
                <a:solidFill>
                  <a:srgbClr val="E36C09"/>
                </a:solidFill>
                <a:latin typeface="Calibri"/>
                <a:ea typeface="Calibri"/>
                <a:cs typeface="Calibri"/>
                <a:sym typeface="Calibri"/>
              </a:rPr>
              <a:t> =   40 x 30</a:t>
            </a:r>
            <a:endParaRPr/>
          </a:p>
        </p:txBody>
      </p:sp>
      <p:sp>
        <p:nvSpPr>
          <p:cNvPr id="483" name="Google Shape;483;p31"/>
          <p:cNvSpPr/>
          <p:nvPr/>
        </p:nvSpPr>
        <p:spPr>
          <a:xfrm>
            <a:off x="2315575" y="5555789"/>
            <a:ext cx="245063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rgbClr val="E36C09"/>
                </a:solidFill>
                <a:latin typeface="Times"/>
                <a:ea typeface="Times"/>
                <a:cs typeface="Times"/>
                <a:sym typeface="Times"/>
              </a:rPr>
              <a:t>I</a:t>
            </a:r>
            <a:r>
              <a:rPr lang="en-GB" sz="2400" b="1">
                <a:solidFill>
                  <a:srgbClr val="E36C09"/>
                </a:solidFill>
                <a:latin typeface="Calibri"/>
                <a:ea typeface="Calibri"/>
                <a:cs typeface="Calibri"/>
                <a:sym typeface="Calibri"/>
              </a:rPr>
              <a:t> =   1200</a:t>
            </a:r>
            <a:r>
              <a:rPr lang="en-GB" sz="2400">
                <a:solidFill>
                  <a:schemeClr val="dk1"/>
                </a:solidFill>
                <a:latin typeface="Calibri"/>
                <a:ea typeface="Calibri"/>
                <a:cs typeface="Calibri"/>
                <a:sym typeface="Calibri"/>
              </a:rPr>
              <a:t> </a:t>
            </a:r>
            <a:r>
              <a:rPr lang="en-GB" sz="2400">
                <a:solidFill>
                  <a:srgbClr val="E36C09"/>
                </a:solidFill>
                <a:latin typeface="Calibri"/>
                <a:ea typeface="Calibri"/>
                <a:cs typeface="Calibri"/>
                <a:sym typeface="Calibri"/>
              </a:rPr>
              <a:t>𝛍</a:t>
            </a:r>
            <a:r>
              <a:rPr lang="en-GB" sz="2400" b="1">
                <a:solidFill>
                  <a:srgbClr val="E36C09"/>
                </a:solidFill>
                <a:latin typeface="Calibri"/>
                <a:ea typeface="Calibri"/>
                <a:cs typeface="Calibri"/>
                <a:sym typeface="Calibri"/>
              </a:rPr>
              <a:t>m </a:t>
            </a:r>
            <a:endParaRPr/>
          </a:p>
        </p:txBody>
      </p:sp>
      <p:sp>
        <p:nvSpPr>
          <p:cNvPr id="484" name="Google Shape;484;p31"/>
          <p:cNvSpPr/>
          <p:nvPr/>
        </p:nvSpPr>
        <p:spPr>
          <a:xfrm>
            <a:off x="4486612" y="5602786"/>
            <a:ext cx="245063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dk1"/>
                </a:solidFill>
                <a:latin typeface="Times"/>
                <a:ea typeface="Times"/>
                <a:cs typeface="Times"/>
                <a:sym typeface="Times"/>
              </a:rPr>
              <a:t>I</a:t>
            </a:r>
            <a:r>
              <a:rPr lang="en-GB" sz="2400" b="1">
                <a:solidFill>
                  <a:schemeClr val="dk1"/>
                </a:solidFill>
                <a:latin typeface="Calibri"/>
                <a:ea typeface="Calibri"/>
                <a:cs typeface="Calibri"/>
                <a:sym typeface="Calibri"/>
              </a:rPr>
              <a:t> =   1.2mm </a:t>
            </a:r>
            <a:endParaRPr/>
          </a:p>
        </p:txBody>
      </p:sp>
      <p:sp>
        <p:nvSpPr>
          <p:cNvPr id="485" name="Google Shape;485;p31"/>
          <p:cNvSpPr/>
          <p:nvPr/>
        </p:nvSpPr>
        <p:spPr>
          <a:xfrm>
            <a:off x="6674083" y="4585096"/>
            <a:ext cx="2165720" cy="92333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dk1"/>
                </a:solidFill>
                <a:latin typeface="Calibri"/>
                <a:ea typeface="Calibri"/>
                <a:cs typeface="Calibri"/>
                <a:sym typeface="Calibri"/>
              </a:rPr>
              <a:t>To convert to mm you need to divide by 1000</a:t>
            </a:r>
            <a:endParaRPr sz="1800">
              <a:solidFill>
                <a:schemeClr val="dk1"/>
              </a:solidFill>
              <a:latin typeface="Calibri"/>
              <a:ea typeface="Calibri"/>
              <a:cs typeface="Calibri"/>
              <a:sym typeface="Calibri"/>
            </a:endParaRPr>
          </a:p>
        </p:txBody>
      </p:sp>
      <p:cxnSp>
        <p:nvCxnSpPr>
          <p:cNvPr id="486" name="Google Shape;486;p31"/>
          <p:cNvCxnSpPr>
            <a:stCxn id="485" idx="1"/>
          </p:cNvCxnSpPr>
          <p:nvPr/>
        </p:nvCxnSpPr>
        <p:spPr>
          <a:xfrm flipH="1">
            <a:off x="3908983" y="5046761"/>
            <a:ext cx="2765100" cy="55590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7647"/>
              </a:srgbClr>
            </a:outerShdw>
          </a:effectLst>
        </p:spPr>
      </p:cxnSp>
      <p:sp>
        <p:nvSpPr>
          <p:cNvPr id="487" name="Google Shape;487;p31"/>
          <p:cNvSpPr txBox="1"/>
          <p:nvPr/>
        </p:nvSpPr>
        <p:spPr>
          <a:xfrm>
            <a:off x="1671212" y="3705113"/>
            <a:ext cx="79135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dk1"/>
                </a:solidFill>
                <a:latin typeface="Calibri"/>
                <a:ea typeface="Calibri"/>
                <a:cs typeface="Calibri"/>
                <a:sym typeface="Calibri"/>
              </a:rPr>
              <a:t> x A</a:t>
            </a:r>
            <a:endParaRPr sz="1800">
              <a:solidFill>
                <a:schemeClr val="dk1"/>
              </a:solidFill>
              <a:latin typeface="Calibri"/>
              <a:ea typeface="Calibri"/>
              <a:cs typeface="Calibri"/>
              <a:sym typeface="Calibri"/>
            </a:endParaRPr>
          </a:p>
        </p:txBody>
      </p:sp>
      <p:sp>
        <p:nvSpPr>
          <p:cNvPr id="488" name="Google Shape;488;p31"/>
          <p:cNvSpPr/>
          <p:nvPr/>
        </p:nvSpPr>
        <p:spPr>
          <a:xfrm>
            <a:off x="5418907" y="1882873"/>
            <a:ext cx="1269349" cy="369332"/>
          </a:xfrm>
          <a:prstGeom prst="rect">
            <a:avLst/>
          </a:prstGeom>
          <a:noFill/>
          <a:ln w="9525" cap="flat" cmpd="sng">
            <a:solidFill>
              <a:srgbClr val="E36C09"/>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a:solidFill>
                  <a:schemeClr val="accent6"/>
                </a:solidFill>
                <a:latin typeface="Calibri"/>
                <a:ea typeface="Calibri"/>
                <a:cs typeface="Calibri"/>
                <a:sym typeface="Calibri"/>
              </a:rPr>
              <a:t>OBJECT (A)</a:t>
            </a:r>
            <a:endParaRPr sz="1800">
              <a:solidFill>
                <a:schemeClr val="accent6"/>
              </a:solidFill>
              <a:latin typeface="Calibri"/>
              <a:ea typeface="Calibri"/>
              <a:cs typeface="Calibri"/>
              <a:sym typeface="Calibri"/>
            </a:endParaRPr>
          </a:p>
        </p:txBody>
      </p:sp>
      <p:sp>
        <p:nvSpPr>
          <p:cNvPr id="489" name="Google Shape;489;p31"/>
          <p:cNvSpPr txBox="1"/>
          <p:nvPr/>
        </p:nvSpPr>
        <p:spPr>
          <a:xfrm>
            <a:off x="395536" y="3711039"/>
            <a:ext cx="6072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dk1"/>
                </a:solidFill>
                <a:latin typeface="Calibri"/>
                <a:ea typeface="Calibri"/>
                <a:cs typeface="Calibri"/>
                <a:sym typeface="Calibri"/>
              </a:rPr>
              <a:t>A x</a:t>
            </a:r>
            <a:r>
              <a:rPr lang="en-GB" sz="1800">
                <a:solidFill>
                  <a:schemeClr val="dk1"/>
                </a:solidFill>
                <a:latin typeface="Calibri"/>
                <a:ea typeface="Calibri"/>
                <a:cs typeface="Calibri"/>
                <a:sym typeface="Calibri"/>
              </a:rPr>
              <a:t> </a:t>
            </a:r>
            <a:endParaRPr/>
          </a:p>
        </p:txBody>
      </p:sp>
      <p:cxnSp>
        <p:nvCxnSpPr>
          <p:cNvPr id="490" name="Google Shape;490;p31"/>
          <p:cNvCxnSpPr/>
          <p:nvPr/>
        </p:nvCxnSpPr>
        <p:spPr>
          <a:xfrm flipH="1">
            <a:off x="1858257" y="3757996"/>
            <a:ext cx="412925" cy="360228"/>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cxnSp>
        <p:nvCxnSpPr>
          <p:cNvPr id="491" name="Google Shape;491;p31"/>
          <p:cNvCxnSpPr/>
          <p:nvPr/>
        </p:nvCxnSpPr>
        <p:spPr>
          <a:xfrm flipH="1">
            <a:off x="1489763" y="4183630"/>
            <a:ext cx="412925" cy="360228"/>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8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8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8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8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8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2"/>
          <p:cNvSpPr txBox="1">
            <a:spLocks noGrp="1"/>
          </p:cNvSpPr>
          <p:nvPr>
            <p:ph type="ctrTitle"/>
          </p:nvPr>
        </p:nvSpPr>
        <p:spPr>
          <a:xfrm>
            <a:off x="2267744" y="-20757"/>
            <a:ext cx="6876256" cy="641445"/>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accent6"/>
                </a:solidFill>
                <a:latin typeface="Calibri"/>
                <a:ea typeface="Calibri"/>
                <a:cs typeface="Calibri"/>
                <a:sym typeface="Calibri"/>
              </a:rPr>
              <a:t>Microscopy </a:t>
            </a:r>
            <a:endParaRPr/>
          </a:p>
        </p:txBody>
      </p:sp>
      <p:pic>
        <p:nvPicPr>
          <p:cNvPr id="498" name="Google Shape;498;p32"/>
          <p:cNvPicPr preferRelativeResize="0"/>
          <p:nvPr/>
        </p:nvPicPr>
        <p:blipFill rotWithShape="1">
          <a:blip r:embed="rId3">
            <a:alphaModFix/>
          </a:blip>
          <a:srcRect/>
          <a:stretch/>
        </p:blipFill>
        <p:spPr>
          <a:xfrm>
            <a:off x="243093" y="487872"/>
            <a:ext cx="4049302" cy="2901999"/>
          </a:xfrm>
          <a:prstGeom prst="rect">
            <a:avLst/>
          </a:prstGeom>
          <a:noFill/>
          <a:ln>
            <a:noFill/>
          </a:ln>
        </p:spPr>
      </p:pic>
      <p:sp>
        <p:nvSpPr>
          <p:cNvPr id="499" name="Google Shape;499;p32"/>
          <p:cNvSpPr/>
          <p:nvPr/>
        </p:nvSpPr>
        <p:spPr>
          <a:xfrm>
            <a:off x="716892" y="6236116"/>
            <a:ext cx="6631111"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b="1">
                <a:solidFill>
                  <a:schemeClr val="dk1"/>
                </a:solidFill>
                <a:latin typeface="Calibri"/>
                <a:ea typeface="Calibri"/>
                <a:cs typeface="Calibri"/>
                <a:sym typeface="Calibri"/>
              </a:rPr>
              <a:t>See GCSE Practical Guide - Biology – Microscopy on Huddle</a:t>
            </a:r>
            <a:r>
              <a:rPr lang="en-GB" sz="1400">
                <a:solidFill>
                  <a:schemeClr val="dk1"/>
                </a:solidFill>
                <a:latin typeface="Calibri"/>
                <a:ea typeface="Calibri"/>
                <a:cs typeface="Calibri"/>
                <a:sym typeface="Calibri"/>
              </a:rPr>
              <a:t> - </a:t>
            </a:r>
            <a:r>
              <a:rPr lang="en-GB" sz="14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Microscopy Practical guide</a:t>
            </a: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GB" sz="1400">
                <a:solidFill>
                  <a:schemeClr val="dk1"/>
                </a:solidFill>
                <a:latin typeface="Calibri"/>
                <a:ea typeface="Calibri"/>
                <a:cs typeface="Calibri"/>
                <a:sym typeface="Calibri"/>
              </a:rPr>
              <a:t> </a:t>
            </a:r>
            <a:endParaRPr/>
          </a:p>
        </p:txBody>
      </p:sp>
      <p:sp>
        <p:nvSpPr>
          <p:cNvPr id="500" name="Google Shape;500;p32"/>
          <p:cNvSpPr/>
          <p:nvPr/>
        </p:nvSpPr>
        <p:spPr>
          <a:xfrm>
            <a:off x="4173546" y="465639"/>
            <a:ext cx="5004048" cy="563231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dk1"/>
                </a:solidFill>
                <a:latin typeface="Calibri"/>
                <a:ea typeface="Calibri"/>
                <a:cs typeface="Calibri"/>
                <a:sym typeface="Calibri"/>
              </a:rPr>
              <a:t>Making a wet mount slide e.g. onion cells</a:t>
            </a:r>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Place a thin section of the </a:t>
            </a:r>
            <a:r>
              <a:rPr lang="en-GB" sz="1800" b="1">
                <a:solidFill>
                  <a:schemeClr val="dk1"/>
                </a:solidFill>
                <a:latin typeface="Calibri"/>
                <a:ea typeface="Calibri"/>
                <a:cs typeface="Calibri"/>
                <a:sym typeface="Calibri"/>
              </a:rPr>
              <a:t>specimen</a:t>
            </a:r>
            <a:r>
              <a:rPr lang="en-GB" sz="1800">
                <a:solidFill>
                  <a:schemeClr val="dk1"/>
                </a:solidFill>
                <a:latin typeface="Calibri"/>
                <a:ea typeface="Calibri"/>
                <a:cs typeface="Calibri"/>
                <a:sym typeface="Calibri"/>
              </a:rPr>
              <a:t> onto slide.</a:t>
            </a: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Place a drop of water in the middle of the slide or stain the specimen.</a:t>
            </a: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Gently lower cover slip onto the specimen without trapping air bubbles.</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Soak up any excess liquid with a paper towel.</a:t>
            </a:r>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Switch on the light source and place your slide on the stage.</a:t>
            </a: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Use the lowest objective lens and turn the focusing wheel to move the lens close to the slide.</a:t>
            </a:r>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Slowly adjust the focusing wheel until you can see a clear image.</a:t>
            </a:r>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Increase the magnification by changing the objective lens and re-focus. </a:t>
            </a:r>
            <a:endParaRPr/>
          </a:p>
        </p:txBody>
      </p:sp>
      <p:pic>
        <p:nvPicPr>
          <p:cNvPr id="501" name="Google Shape;501;p32"/>
          <p:cNvPicPr preferRelativeResize="0"/>
          <p:nvPr/>
        </p:nvPicPr>
        <p:blipFill rotWithShape="1">
          <a:blip r:embed="rId5">
            <a:alphaModFix/>
          </a:blip>
          <a:srcRect l="8497" t="4687" r="8497" b="16750"/>
          <a:stretch/>
        </p:blipFill>
        <p:spPr>
          <a:xfrm>
            <a:off x="5705872" y="2232253"/>
            <a:ext cx="1842048" cy="1260473"/>
          </a:xfrm>
          <a:prstGeom prst="rect">
            <a:avLst/>
          </a:prstGeom>
          <a:noFill/>
          <a:ln>
            <a:noFill/>
          </a:ln>
        </p:spPr>
      </p:pic>
      <p:sp>
        <p:nvSpPr>
          <p:cNvPr id="502" name="Google Shape;502;p32"/>
          <p:cNvSpPr txBox="1"/>
          <p:nvPr/>
        </p:nvSpPr>
        <p:spPr>
          <a:xfrm>
            <a:off x="361941" y="3227083"/>
            <a:ext cx="3811605" cy="31700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Drawing what you see</a:t>
            </a:r>
            <a:endParaRPr/>
          </a:p>
          <a:p>
            <a:pPr marL="285750" marR="0" lvl="0" indent="-285750" algn="l" rtl="0">
              <a:spcBef>
                <a:spcPts val="0"/>
              </a:spcBef>
              <a:spcAft>
                <a:spcPts val="0"/>
              </a:spcAft>
              <a:buClr>
                <a:srgbClr val="E36C09"/>
              </a:buClr>
              <a:buSzPts val="1800"/>
              <a:buFont typeface="Arial"/>
              <a:buChar char="•"/>
            </a:pPr>
            <a:r>
              <a:rPr lang="en-GB" sz="1800" b="1">
                <a:solidFill>
                  <a:srgbClr val="E36C09"/>
                </a:solidFill>
                <a:latin typeface="Calibri"/>
                <a:ea typeface="Calibri"/>
                <a:cs typeface="Calibri"/>
                <a:sym typeface="Calibri"/>
              </a:rPr>
              <a:t>Clear line drawing – no shading</a:t>
            </a:r>
            <a:endParaRPr/>
          </a:p>
          <a:p>
            <a:pPr marL="285750" marR="0" lvl="0" indent="-285750" algn="l" rtl="0">
              <a:spcBef>
                <a:spcPts val="0"/>
              </a:spcBef>
              <a:spcAft>
                <a:spcPts val="0"/>
              </a:spcAft>
              <a:buClr>
                <a:srgbClr val="E36C09"/>
              </a:buClr>
              <a:buSzPts val="1800"/>
              <a:buFont typeface="Arial"/>
              <a:buChar char="•"/>
            </a:pPr>
            <a:r>
              <a:rPr lang="en-GB" sz="1800" b="1">
                <a:solidFill>
                  <a:srgbClr val="E36C09"/>
                </a:solidFill>
                <a:latin typeface="Calibri"/>
                <a:ea typeface="Calibri"/>
                <a:cs typeface="Calibri"/>
                <a:sym typeface="Calibri"/>
              </a:rPr>
              <a:t>Label main cell structures</a:t>
            </a:r>
            <a:endParaRPr/>
          </a:p>
          <a:p>
            <a:pPr marL="285750" marR="0" lvl="0" indent="-285750" algn="l" rtl="0">
              <a:spcBef>
                <a:spcPts val="0"/>
              </a:spcBef>
              <a:spcAft>
                <a:spcPts val="0"/>
              </a:spcAft>
              <a:buClr>
                <a:srgbClr val="E36C09"/>
              </a:buClr>
              <a:buSzPts val="1800"/>
              <a:buFont typeface="Arial"/>
              <a:buChar char="•"/>
            </a:pPr>
            <a:r>
              <a:rPr lang="en-GB" sz="1800" b="1">
                <a:solidFill>
                  <a:srgbClr val="E36C09"/>
                </a:solidFill>
                <a:latin typeface="Calibri"/>
                <a:ea typeface="Calibri"/>
                <a:cs typeface="Calibri"/>
                <a:sym typeface="Calibri"/>
              </a:rPr>
              <a:t>Add a title and the magnification.</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503" name="Google Shape;503;p32"/>
          <p:cNvPicPr preferRelativeResize="0"/>
          <p:nvPr/>
        </p:nvPicPr>
        <p:blipFill rotWithShape="1">
          <a:blip r:embed="rId6">
            <a:alphaModFix/>
          </a:blip>
          <a:srcRect/>
          <a:stretch/>
        </p:blipFill>
        <p:spPr>
          <a:xfrm>
            <a:off x="1024787" y="4447667"/>
            <a:ext cx="2532810" cy="168141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3"/>
          <p:cNvSpPr/>
          <p:nvPr/>
        </p:nvSpPr>
        <p:spPr>
          <a:xfrm>
            <a:off x="4998692" y="528962"/>
            <a:ext cx="4037804" cy="5996381"/>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dk1"/>
                </a:solidFill>
                <a:latin typeface="Calibri"/>
                <a:ea typeface="Calibri"/>
                <a:cs typeface="Calibri"/>
                <a:sym typeface="Calibri"/>
              </a:rPr>
              <a:t>Effectiveness of disinfectants and antibiotics on bacteria experiment</a:t>
            </a:r>
            <a:endParaRPr/>
          </a:p>
          <a:p>
            <a:pPr marL="0" marR="0" lvl="0" indent="0" algn="ctr" rtl="0">
              <a:spcBef>
                <a:spcPts val="0"/>
              </a:spcBef>
              <a:spcAft>
                <a:spcPts val="0"/>
              </a:spcAft>
              <a:buNone/>
            </a:pPr>
            <a:endParaRPr sz="1800" b="1">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Agar inoculated with </a:t>
            </a:r>
            <a:r>
              <a:rPr lang="en-GB" sz="1800" b="1">
                <a:solidFill>
                  <a:schemeClr val="dk1"/>
                </a:solidFill>
                <a:latin typeface="Calibri"/>
                <a:ea typeface="Calibri"/>
                <a:cs typeface="Calibri"/>
                <a:sym typeface="Calibri"/>
              </a:rPr>
              <a:t>BACTERIA</a:t>
            </a:r>
            <a:r>
              <a:rPr lang="en-GB" sz="1800">
                <a:solidFill>
                  <a:schemeClr val="dk1"/>
                </a:solidFill>
                <a:latin typeface="Calibri"/>
                <a:ea typeface="Calibri"/>
                <a:cs typeface="Calibri"/>
                <a:sym typeface="Calibri"/>
              </a:rPr>
              <a:t>.</a:t>
            </a:r>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Calibri"/>
                <a:ea typeface="Calibri"/>
                <a:cs typeface="Calibri"/>
                <a:sym typeface="Calibri"/>
              </a:rPr>
              <a:t>Paper discs </a:t>
            </a:r>
            <a:r>
              <a:rPr lang="en-GB" sz="1800">
                <a:solidFill>
                  <a:schemeClr val="dk1"/>
                </a:solidFill>
                <a:latin typeface="Calibri"/>
                <a:ea typeface="Calibri"/>
                <a:cs typeface="Calibri"/>
                <a:sym typeface="Calibri"/>
              </a:rPr>
              <a:t>containing </a:t>
            </a:r>
            <a:r>
              <a:rPr lang="en-GB" sz="1800" b="1">
                <a:solidFill>
                  <a:schemeClr val="dk1"/>
                </a:solidFill>
                <a:latin typeface="Calibri"/>
                <a:ea typeface="Calibri"/>
                <a:cs typeface="Calibri"/>
                <a:sym typeface="Calibri"/>
              </a:rPr>
              <a:t>antiseptics</a:t>
            </a:r>
            <a:r>
              <a:rPr lang="en-GB" sz="1800">
                <a:solidFill>
                  <a:schemeClr val="dk1"/>
                </a:solidFill>
                <a:latin typeface="Calibri"/>
                <a:ea typeface="Calibri"/>
                <a:cs typeface="Calibri"/>
                <a:sym typeface="Calibri"/>
              </a:rPr>
              <a:t> and </a:t>
            </a:r>
            <a:r>
              <a:rPr lang="en-GB" sz="1800" b="1">
                <a:solidFill>
                  <a:schemeClr val="dk1"/>
                </a:solidFill>
                <a:latin typeface="Calibri"/>
                <a:ea typeface="Calibri"/>
                <a:cs typeface="Calibri"/>
                <a:sym typeface="Calibri"/>
              </a:rPr>
              <a:t>antibiotics</a:t>
            </a:r>
            <a:r>
              <a:rPr lang="en-GB" sz="1800">
                <a:solidFill>
                  <a:schemeClr val="dk1"/>
                </a:solidFill>
                <a:latin typeface="Calibri"/>
                <a:ea typeface="Calibri"/>
                <a:cs typeface="Calibri"/>
                <a:sym typeface="Calibri"/>
              </a:rPr>
              <a:t> placed on </a:t>
            </a:r>
            <a:r>
              <a:rPr lang="en-GB" sz="1800" b="1">
                <a:solidFill>
                  <a:schemeClr val="dk1"/>
                </a:solidFill>
                <a:latin typeface="Calibri"/>
                <a:ea typeface="Calibri"/>
                <a:cs typeface="Calibri"/>
                <a:sym typeface="Calibri"/>
              </a:rPr>
              <a:t>bacteria</a:t>
            </a:r>
            <a:r>
              <a:rPr lang="en-GB" sz="1800">
                <a:solidFill>
                  <a:schemeClr val="dk1"/>
                </a:solidFill>
                <a:latin typeface="Calibri"/>
                <a:ea typeface="Calibri"/>
                <a:cs typeface="Calibri"/>
                <a:sym typeface="Calibri"/>
              </a:rPr>
              <a:t> and </a:t>
            </a:r>
            <a:r>
              <a:rPr lang="en-GB" sz="1800" b="1">
                <a:solidFill>
                  <a:schemeClr val="dk1"/>
                </a:solidFill>
                <a:latin typeface="Calibri"/>
                <a:ea typeface="Calibri"/>
                <a:cs typeface="Calibri"/>
                <a:sym typeface="Calibri"/>
              </a:rPr>
              <a:t>left to grow.</a:t>
            </a:r>
            <a:endParaRPr/>
          </a:p>
          <a:p>
            <a:pPr marL="0" marR="0" lvl="0" indent="0" algn="ctr" rtl="0">
              <a:spcBef>
                <a:spcPts val="0"/>
              </a:spcBef>
              <a:spcAft>
                <a:spcPts val="0"/>
              </a:spcAft>
              <a:buNone/>
            </a:pPr>
            <a:r>
              <a:rPr lang="en-GB" sz="1800" b="1">
                <a:solidFill>
                  <a:schemeClr val="dk1"/>
                </a:solidFill>
                <a:latin typeface="Calibri"/>
                <a:ea typeface="Calibri"/>
                <a:cs typeface="Calibri"/>
                <a:sym typeface="Calibri"/>
              </a:rPr>
              <a:t>Water disc used as a CONTROL.</a:t>
            </a:r>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If </a:t>
            </a:r>
            <a:r>
              <a:rPr lang="en-GB" sz="1800" b="1">
                <a:solidFill>
                  <a:schemeClr val="dk1"/>
                </a:solidFill>
                <a:latin typeface="Calibri"/>
                <a:ea typeface="Calibri"/>
                <a:cs typeface="Calibri"/>
                <a:sym typeface="Calibri"/>
              </a:rPr>
              <a:t>bacteria don’t grow </a:t>
            </a:r>
            <a:r>
              <a:rPr lang="en-GB" sz="1800">
                <a:solidFill>
                  <a:schemeClr val="dk1"/>
                </a:solidFill>
                <a:latin typeface="Calibri"/>
                <a:ea typeface="Calibri"/>
                <a:cs typeface="Calibri"/>
                <a:sym typeface="Calibri"/>
              </a:rPr>
              <a:t>around the disc then the chemical is </a:t>
            </a:r>
            <a:r>
              <a:rPr lang="en-GB" sz="1800" b="1">
                <a:solidFill>
                  <a:schemeClr val="dk1"/>
                </a:solidFill>
                <a:latin typeface="Calibri"/>
                <a:ea typeface="Calibri"/>
                <a:cs typeface="Calibri"/>
                <a:sym typeface="Calibri"/>
              </a:rPr>
              <a:t>effective </a:t>
            </a:r>
            <a:r>
              <a:rPr lang="en-GB" sz="1800">
                <a:solidFill>
                  <a:schemeClr val="dk1"/>
                </a:solidFill>
                <a:latin typeface="Calibri"/>
                <a:ea typeface="Calibri"/>
                <a:cs typeface="Calibri"/>
                <a:sym typeface="Calibri"/>
              </a:rPr>
              <a:t>at killing bacteria.</a:t>
            </a:r>
            <a:endParaRPr/>
          </a:p>
          <a:p>
            <a:pPr marL="285750" marR="0" lvl="0" indent="-285750" algn="l" rtl="0">
              <a:spcBef>
                <a:spcPts val="0"/>
              </a:spcBef>
              <a:spcAft>
                <a:spcPts val="0"/>
              </a:spcAft>
              <a:buClr>
                <a:schemeClr val="dk1"/>
              </a:buClr>
              <a:buSzPts val="1800"/>
              <a:buFont typeface="Arial"/>
              <a:buChar char="•"/>
            </a:pPr>
            <a:r>
              <a:rPr lang="en-GB" sz="1800" b="1">
                <a:solidFill>
                  <a:schemeClr val="dk1"/>
                </a:solidFill>
                <a:latin typeface="Calibri"/>
                <a:ea typeface="Calibri"/>
                <a:cs typeface="Calibri"/>
                <a:sym typeface="Calibri"/>
              </a:rPr>
              <a:t>Area</a:t>
            </a:r>
            <a:r>
              <a:rPr lang="en-GB" sz="1800">
                <a:solidFill>
                  <a:schemeClr val="dk1"/>
                </a:solidFill>
                <a:latin typeface="Calibri"/>
                <a:ea typeface="Calibri"/>
                <a:cs typeface="Calibri"/>
                <a:sym typeface="Calibri"/>
              </a:rPr>
              <a:t> where </a:t>
            </a:r>
            <a:r>
              <a:rPr lang="en-GB" sz="1800" b="1">
                <a:solidFill>
                  <a:schemeClr val="dk1"/>
                </a:solidFill>
                <a:latin typeface="Calibri"/>
                <a:ea typeface="Calibri"/>
                <a:cs typeface="Calibri"/>
                <a:sym typeface="Calibri"/>
              </a:rPr>
              <a:t>bacteria don’t grow </a:t>
            </a:r>
            <a:r>
              <a:rPr lang="en-GB" sz="1800">
                <a:solidFill>
                  <a:schemeClr val="dk1"/>
                </a:solidFill>
                <a:latin typeface="Calibri"/>
                <a:ea typeface="Calibri"/>
                <a:cs typeface="Calibri"/>
                <a:sym typeface="Calibri"/>
              </a:rPr>
              <a:t>is called </a:t>
            </a:r>
            <a:r>
              <a:rPr lang="en-GB" sz="1800" b="1">
                <a:solidFill>
                  <a:schemeClr val="dk1"/>
                </a:solidFill>
                <a:latin typeface="Calibri"/>
                <a:ea typeface="Calibri"/>
                <a:cs typeface="Calibri"/>
                <a:sym typeface="Calibri"/>
              </a:rPr>
              <a:t>ZONE OF INHIBITION</a:t>
            </a:r>
            <a:r>
              <a:rPr lang="en-GB" sz="18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1600" b="1">
                <a:solidFill>
                  <a:schemeClr val="dk1"/>
                </a:solidFill>
                <a:latin typeface="Calibri"/>
                <a:ea typeface="Calibri"/>
                <a:cs typeface="Calibri"/>
                <a:sym typeface="Calibri"/>
              </a:rPr>
              <a:t>See GCSE Practical Guide - </a:t>
            </a:r>
            <a:r>
              <a:rPr lang="en-GB" sz="1600">
                <a:solidFill>
                  <a:schemeClr val="dk1"/>
                </a:solidFill>
                <a:latin typeface="Calibri"/>
                <a:ea typeface="Calibri"/>
                <a:cs typeface="Calibri"/>
                <a:sym typeface="Calibri"/>
              </a:rPr>
              <a:t> </a:t>
            </a:r>
            <a:r>
              <a:rPr lang="en-GB" sz="160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Practical guide - Microbiology</a:t>
            </a:r>
            <a:endParaRPr sz="1400">
              <a:solidFill>
                <a:schemeClr val="dk1"/>
              </a:solidFill>
              <a:latin typeface="Calibri"/>
              <a:ea typeface="Calibri"/>
              <a:cs typeface="Calibri"/>
              <a:sym typeface="Calibri"/>
            </a:endParaRPr>
          </a:p>
        </p:txBody>
      </p:sp>
      <p:sp>
        <p:nvSpPr>
          <p:cNvPr id="510" name="Google Shape;510;p33"/>
          <p:cNvSpPr txBox="1">
            <a:spLocks noGrp="1"/>
          </p:cNvSpPr>
          <p:nvPr>
            <p:ph type="ctrTitle"/>
          </p:nvPr>
        </p:nvSpPr>
        <p:spPr>
          <a:xfrm>
            <a:off x="1336963" y="-30635"/>
            <a:ext cx="7812360" cy="579315"/>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 </a:t>
            </a:r>
            <a:r>
              <a:rPr lang="en-GB" sz="2400" b="1" i="0" u="none" strike="noStrike" cap="none">
                <a:solidFill>
                  <a:schemeClr val="accent6"/>
                </a:solidFill>
                <a:latin typeface="Calibri"/>
                <a:ea typeface="Calibri"/>
                <a:cs typeface="Calibri"/>
                <a:sym typeface="Calibri"/>
              </a:rPr>
              <a:t>Culturing microorganisms (biology only)</a:t>
            </a:r>
            <a:endParaRPr/>
          </a:p>
        </p:txBody>
      </p:sp>
      <p:sp>
        <p:nvSpPr>
          <p:cNvPr id="511" name="Google Shape;511;p33"/>
          <p:cNvSpPr/>
          <p:nvPr/>
        </p:nvSpPr>
        <p:spPr>
          <a:xfrm>
            <a:off x="132866" y="692696"/>
            <a:ext cx="3214998" cy="19389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a:solidFill>
                  <a:schemeClr val="dk1"/>
                </a:solidFill>
                <a:latin typeface="Calibri"/>
                <a:ea typeface="Calibri"/>
                <a:cs typeface="Calibri"/>
                <a:sym typeface="Calibri"/>
              </a:rPr>
              <a:t>Bacteria multiply by binary fission (a cell division where two identical cells are formed).  In the right conditions cells can divide as often as every 20 minutes. </a:t>
            </a:r>
            <a:endParaRPr/>
          </a:p>
        </p:txBody>
      </p:sp>
      <p:pic>
        <p:nvPicPr>
          <p:cNvPr id="512" name="Google Shape;512;p33"/>
          <p:cNvPicPr preferRelativeResize="0"/>
          <p:nvPr/>
        </p:nvPicPr>
        <p:blipFill rotWithShape="1">
          <a:blip r:embed="rId4">
            <a:alphaModFix/>
          </a:blip>
          <a:srcRect l="5194" t="13859" r="16185"/>
          <a:stretch/>
        </p:blipFill>
        <p:spPr>
          <a:xfrm>
            <a:off x="3333505" y="908720"/>
            <a:ext cx="1552360" cy="1155811"/>
          </a:xfrm>
          <a:prstGeom prst="rect">
            <a:avLst/>
          </a:prstGeom>
          <a:noFill/>
          <a:ln>
            <a:noFill/>
          </a:ln>
        </p:spPr>
      </p:pic>
      <p:sp>
        <p:nvSpPr>
          <p:cNvPr id="513" name="Google Shape;513;p33"/>
          <p:cNvSpPr txBox="1"/>
          <p:nvPr/>
        </p:nvSpPr>
        <p:spPr>
          <a:xfrm>
            <a:off x="66214" y="2631687"/>
            <a:ext cx="4865826" cy="3893656"/>
          </a:xfrm>
          <a:prstGeom prst="rect">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Arial"/>
              <a:buNone/>
            </a:pPr>
            <a:r>
              <a:rPr lang="en-GB" sz="1800" b="1">
                <a:solidFill>
                  <a:schemeClr val="dk1"/>
                </a:solidFill>
                <a:latin typeface="Calibri"/>
                <a:ea typeface="Calibri"/>
                <a:cs typeface="Calibri"/>
                <a:sym typeface="Calibri"/>
              </a:rPr>
              <a:t>Bacteria can be grown in the lab</a:t>
            </a:r>
            <a:endParaRPr/>
          </a:p>
          <a:p>
            <a:pPr marL="342900" marR="0" lvl="0" indent="-342900" algn="l" rtl="0">
              <a:spcBef>
                <a:spcPts val="36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A </a:t>
            </a:r>
            <a:r>
              <a:rPr lang="en-GB" sz="1800" b="1" i="1">
                <a:solidFill>
                  <a:schemeClr val="dk1"/>
                </a:solidFill>
                <a:latin typeface="Calibri"/>
                <a:ea typeface="Calibri"/>
                <a:cs typeface="Calibri"/>
                <a:sym typeface="Calibri"/>
              </a:rPr>
              <a:t>culture medium (agar) </a:t>
            </a:r>
            <a:r>
              <a:rPr lang="en-GB" sz="1800">
                <a:solidFill>
                  <a:schemeClr val="dk1"/>
                </a:solidFill>
                <a:latin typeface="Calibri"/>
                <a:ea typeface="Calibri"/>
                <a:cs typeface="Calibri"/>
                <a:sym typeface="Calibri"/>
              </a:rPr>
              <a:t>used</a:t>
            </a:r>
            <a:r>
              <a:rPr lang="en-GB" sz="1800" b="1" i="1">
                <a:solidFill>
                  <a:schemeClr val="dk1"/>
                </a:solidFill>
                <a:latin typeface="Calibri"/>
                <a:ea typeface="Calibri"/>
                <a:cs typeface="Calibri"/>
                <a:sym typeface="Calibri"/>
              </a:rPr>
              <a:t> </a:t>
            </a:r>
            <a:r>
              <a:rPr lang="en-GB" sz="1800">
                <a:solidFill>
                  <a:schemeClr val="dk1"/>
                </a:solidFill>
                <a:latin typeface="Calibri"/>
                <a:ea typeface="Calibri"/>
                <a:cs typeface="Calibri"/>
                <a:sym typeface="Calibri"/>
              </a:rPr>
              <a:t>containing an </a:t>
            </a:r>
            <a:r>
              <a:rPr lang="en-GB" sz="1800" i="1">
                <a:solidFill>
                  <a:schemeClr val="dk1"/>
                </a:solidFill>
                <a:latin typeface="Calibri"/>
                <a:ea typeface="Calibri"/>
                <a:cs typeface="Calibri"/>
                <a:sym typeface="Calibri"/>
              </a:rPr>
              <a:t>energy</a:t>
            </a:r>
            <a:r>
              <a:rPr lang="en-GB" sz="1800">
                <a:solidFill>
                  <a:schemeClr val="dk1"/>
                </a:solidFill>
                <a:latin typeface="Calibri"/>
                <a:ea typeface="Calibri"/>
                <a:cs typeface="Calibri"/>
                <a:sym typeface="Calibri"/>
              </a:rPr>
              <a:t> source (carbohydrate) and minerals. </a:t>
            </a:r>
            <a:endParaRPr/>
          </a:p>
          <a:p>
            <a:pPr marL="342900" marR="0" lvl="0" indent="-342900" algn="l" rtl="0">
              <a:spcBef>
                <a:spcPts val="36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Petri dishes and agar must be </a:t>
            </a:r>
            <a:r>
              <a:rPr lang="en-GB" sz="1800" b="1">
                <a:solidFill>
                  <a:schemeClr val="dk1"/>
                </a:solidFill>
                <a:latin typeface="Calibri"/>
                <a:ea typeface="Calibri"/>
                <a:cs typeface="Calibri"/>
                <a:sym typeface="Calibri"/>
              </a:rPr>
              <a:t>sterilised before use to kill microorganisms.</a:t>
            </a:r>
            <a:endParaRPr/>
          </a:p>
          <a:p>
            <a:pPr marL="342900" marR="0" lvl="0" indent="-342900" algn="l" rtl="0">
              <a:spcBef>
                <a:spcPts val="360"/>
              </a:spcBef>
              <a:spcAft>
                <a:spcPts val="0"/>
              </a:spcAft>
              <a:buClr>
                <a:schemeClr val="dk1"/>
              </a:buClr>
              <a:buSzPts val="1800"/>
              <a:buFont typeface="Arial"/>
              <a:buChar char="•"/>
            </a:pPr>
            <a:r>
              <a:rPr lang="en-GB" sz="1800" b="1">
                <a:solidFill>
                  <a:schemeClr val="dk1"/>
                </a:solidFill>
                <a:latin typeface="Calibri"/>
                <a:ea typeface="Calibri"/>
                <a:cs typeface="Calibri"/>
                <a:sym typeface="Calibri"/>
              </a:rPr>
              <a:t>Inoculating loops </a:t>
            </a:r>
            <a:r>
              <a:rPr lang="en-GB" sz="1800">
                <a:solidFill>
                  <a:schemeClr val="dk1"/>
                </a:solidFill>
                <a:latin typeface="Calibri"/>
                <a:ea typeface="Calibri"/>
                <a:cs typeface="Calibri"/>
                <a:sym typeface="Calibri"/>
              </a:rPr>
              <a:t>used to transfer bacteria after being heated in a Bunsen flame. </a:t>
            </a:r>
            <a:endParaRPr/>
          </a:p>
          <a:p>
            <a:pPr marL="342900" marR="0" lvl="0" indent="-342900" algn="l" rtl="0">
              <a:spcBef>
                <a:spcPts val="36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The lid of the Petri dish should be </a:t>
            </a:r>
            <a:r>
              <a:rPr lang="en-GB" sz="1800" b="1">
                <a:solidFill>
                  <a:schemeClr val="dk1"/>
                </a:solidFill>
                <a:latin typeface="Calibri"/>
                <a:ea typeface="Calibri"/>
                <a:cs typeface="Calibri"/>
                <a:sym typeface="Calibri"/>
              </a:rPr>
              <a:t>sealed </a:t>
            </a:r>
            <a:r>
              <a:rPr lang="en-GB" sz="1800">
                <a:solidFill>
                  <a:schemeClr val="dk1"/>
                </a:solidFill>
                <a:latin typeface="Calibri"/>
                <a:ea typeface="Calibri"/>
                <a:cs typeface="Calibri"/>
                <a:sym typeface="Calibri"/>
              </a:rPr>
              <a:t>with </a:t>
            </a:r>
            <a:r>
              <a:rPr lang="en-GB" sz="1800" b="1">
                <a:solidFill>
                  <a:schemeClr val="dk1"/>
                </a:solidFill>
                <a:latin typeface="Calibri"/>
                <a:ea typeface="Calibri"/>
                <a:cs typeface="Calibri"/>
                <a:sym typeface="Calibri"/>
              </a:rPr>
              <a:t>tape to stop other microorganisms </a:t>
            </a:r>
            <a:r>
              <a:rPr lang="en-GB" sz="1800">
                <a:solidFill>
                  <a:schemeClr val="dk1"/>
                </a:solidFill>
                <a:latin typeface="Calibri"/>
                <a:ea typeface="Calibri"/>
                <a:cs typeface="Calibri"/>
                <a:sym typeface="Calibri"/>
              </a:rPr>
              <a:t>getting in (must </a:t>
            </a:r>
            <a:r>
              <a:rPr lang="en-GB" sz="1800" b="1">
                <a:solidFill>
                  <a:schemeClr val="dk1"/>
                </a:solidFill>
                <a:latin typeface="Calibri"/>
                <a:ea typeface="Calibri"/>
                <a:cs typeface="Calibri"/>
                <a:sym typeface="Calibri"/>
              </a:rPr>
              <a:t>not be fully sealed so oxygen</a:t>
            </a:r>
            <a:r>
              <a:rPr lang="en-GB" sz="1800">
                <a:solidFill>
                  <a:schemeClr val="dk1"/>
                </a:solidFill>
                <a:latin typeface="Calibri"/>
                <a:ea typeface="Calibri"/>
                <a:cs typeface="Calibri"/>
                <a:sym typeface="Calibri"/>
              </a:rPr>
              <a:t> can get in) </a:t>
            </a:r>
            <a:endParaRPr/>
          </a:p>
          <a:p>
            <a:pPr marL="342900" marR="0" lvl="0" indent="-342900" algn="l" rtl="0">
              <a:spcBef>
                <a:spcPts val="360"/>
              </a:spcBef>
              <a:spcAft>
                <a:spcPts val="0"/>
              </a:spcAft>
              <a:buClr>
                <a:schemeClr val="dk1"/>
              </a:buClr>
              <a:buSzPts val="1800"/>
              <a:buFont typeface="Arial"/>
              <a:buChar char="•"/>
            </a:pPr>
            <a:r>
              <a:rPr lang="en-GB" sz="1800">
                <a:solidFill>
                  <a:schemeClr val="dk1"/>
                </a:solidFill>
                <a:latin typeface="Calibri"/>
                <a:ea typeface="Calibri"/>
                <a:cs typeface="Calibri"/>
                <a:sym typeface="Calibri"/>
              </a:rPr>
              <a:t>In school, Petri dishes are </a:t>
            </a:r>
            <a:r>
              <a:rPr lang="en-GB" sz="1800" b="1">
                <a:solidFill>
                  <a:schemeClr val="dk1"/>
                </a:solidFill>
                <a:latin typeface="Calibri"/>
                <a:ea typeface="Calibri"/>
                <a:cs typeface="Calibri"/>
                <a:sym typeface="Calibri"/>
              </a:rPr>
              <a:t>incubated at 25°C to reduce risk </a:t>
            </a:r>
            <a:r>
              <a:rPr lang="en-GB" sz="1800">
                <a:solidFill>
                  <a:schemeClr val="dk1"/>
                </a:solidFill>
                <a:latin typeface="Calibri"/>
                <a:ea typeface="Calibri"/>
                <a:cs typeface="Calibri"/>
                <a:sym typeface="Calibri"/>
              </a:rPr>
              <a:t>of growth of </a:t>
            </a:r>
            <a:r>
              <a:rPr lang="en-GB" sz="1800" b="1">
                <a:solidFill>
                  <a:schemeClr val="dk1"/>
                </a:solidFill>
                <a:latin typeface="Calibri"/>
                <a:ea typeface="Calibri"/>
                <a:cs typeface="Calibri"/>
                <a:sym typeface="Calibri"/>
              </a:rPr>
              <a:t>pathogens</a:t>
            </a:r>
            <a:r>
              <a:rPr lang="en-GB" sz="1800">
                <a:solidFill>
                  <a:schemeClr val="dk1"/>
                </a:solidFill>
                <a:latin typeface="Calibri"/>
                <a:ea typeface="Calibri"/>
                <a:cs typeface="Calibri"/>
                <a:sym typeface="Calibri"/>
              </a:rPr>
              <a:t> that might be </a:t>
            </a:r>
            <a:r>
              <a:rPr lang="en-GB" sz="1800" b="1">
                <a:solidFill>
                  <a:schemeClr val="dk1"/>
                </a:solidFill>
                <a:latin typeface="Calibri"/>
                <a:ea typeface="Calibri"/>
                <a:cs typeface="Calibri"/>
                <a:sym typeface="Calibri"/>
              </a:rPr>
              <a:t>harmful to humans.</a:t>
            </a:r>
            <a:endParaRPr/>
          </a:p>
          <a:p>
            <a:pPr marL="342900" marR="0" lvl="0" indent="-228600" algn="l" rtl="0">
              <a:spcBef>
                <a:spcPts val="36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pic>
        <p:nvPicPr>
          <p:cNvPr id="514" name="Google Shape;514;p33"/>
          <p:cNvPicPr preferRelativeResize="0"/>
          <p:nvPr/>
        </p:nvPicPr>
        <p:blipFill rotWithShape="1">
          <a:blip r:embed="rId5">
            <a:alphaModFix/>
          </a:blip>
          <a:srcRect t="8047"/>
          <a:stretch/>
        </p:blipFill>
        <p:spPr>
          <a:xfrm>
            <a:off x="5406271" y="4293096"/>
            <a:ext cx="2353193" cy="1645356"/>
          </a:xfrm>
          <a:prstGeom prst="rect">
            <a:avLst/>
          </a:prstGeom>
          <a:noFill/>
          <a:ln>
            <a:noFill/>
          </a:ln>
        </p:spPr>
      </p:pic>
      <p:sp>
        <p:nvSpPr>
          <p:cNvPr id="515" name="Google Shape;515;p33"/>
          <p:cNvSpPr txBox="1"/>
          <p:nvPr/>
        </p:nvSpPr>
        <p:spPr>
          <a:xfrm>
            <a:off x="6678866" y="4105112"/>
            <a:ext cx="677456" cy="200055"/>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700">
                <a:solidFill>
                  <a:schemeClr val="dk1"/>
                </a:solidFill>
                <a:latin typeface="Calibri"/>
                <a:ea typeface="Calibri"/>
                <a:cs typeface="Calibri"/>
                <a:sym typeface="Calibri"/>
              </a:rPr>
              <a:t>Bacteria lines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34"/>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22" name="Google Shape;522;p34"/>
          <p:cNvSpPr txBox="1"/>
          <p:nvPr/>
        </p:nvSpPr>
        <p:spPr>
          <a:xfrm>
            <a:off x="113691" y="1041996"/>
            <a:ext cx="4716016" cy="51167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QuestionIT!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Part 3 </a:t>
            </a:r>
            <a:endParaRPr/>
          </a:p>
          <a:p>
            <a:pPr marL="0" marR="0" lvl="0" indent="0" algn="l" rtl="0">
              <a:spcBef>
                <a:spcPts val="0"/>
              </a:spcBef>
              <a:spcAft>
                <a:spcPts val="0"/>
              </a:spcAft>
              <a:buNone/>
            </a:pPr>
            <a:endParaRPr sz="28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Microscopy</a:t>
            </a:r>
            <a:endParaRPr/>
          </a:p>
          <a:p>
            <a:pPr marL="457200" marR="0" lvl="0" indent="-387350" algn="l" rtl="0">
              <a:lnSpc>
                <a:spcPct val="150000"/>
              </a:lnSpc>
              <a:spcBef>
                <a:spcPts val="0"/>
              </a:spcBef>
              <a:spcAft>
                <a:spcPts val="0"/>
              </a:spcAft>
              <a:buClr>
                <a:schemeClr val="dk1"/>
              </a:buClr>
              <a:buSzPts val="1100"/>
              <a:buFont typeface="Arial"/>
              <a:buNone/>
            </a:pPr>
            <a:endParaRPr sz="1100" b="1">
              <a:solidFill>
                <a:srgbClr val="7F7F7F"/>
              </a:solidFill>
              <a:latin typeface="Calibri"/>
              <a:ea typeface="Calibri"/>
              <a:cs typeface="Calibri"/>
              <a:sym typeface="Calibri"/>
            </a:endParaRPr>
          </a:p>
          <a:p>
            <a:pPr marL="457200" marR="0" lvl="0" indent="-457200" algn="l" rtl="0">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Culturing microorganisms (biology only)</a:t>
            </a:r>
            <a:endParaRPr/>
          </a:p>
        </p:txBody>
      </p:sp>
      <p:pic>
        <p:nvPicPr>
          <p:cNvPr id="523" name="Google Shape;523;p34"/>
          <p:cNvPicPr preferRelativeResize="0"/>
          <p:nvPr/>
        </p:nvPicPr>
        <p:blipFill rotWithShape="1">
          <a:blip r:embed="rId3">
            <a:alphaModFix/>
          </a:blip>
          <a:srcRect/>
          <a:stretch/>
        </p:blipFill>
        <p:spPr>
          <a:xfrm>
            <a:off x="4211960" y="886544"/>
            <a:ext cx="4914900" cy="5638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35"/>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QuestionIT</a:t>
            </a:r>
            <a:endParaRPr/>
          </a:p>
        </p:txBody>
      </p:sp>
      <p:sp>
        <p:nvSpPr>
          <p:cNvPr id="529" name="Google Shape;529;p35"/>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30" name="Google Shape;530;p35"/>
          <p:cNvSpPr txBox="1"/>
          <p:nvPr/>
        </p:nvSpPr>
        <p:spPr>
          <a:xfrm>
            <a:off x="149087" y="557947"/>
            <a:ext cx="8915400" cy="858696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 Define the term ‘resolution’.</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2. Copy and complete the table below.</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3. What are the advantages of the electron microscope?</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4. Name the smallest cell structures that can be seen by the light microscope?</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5. What are the smallest cell structures that can be seen by the electron microscope?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graphicFrame>
        <p:nvGraphicFramePr>
          <p:cNvPr id="531" name="Google Shape;531;p35"/>
          <p:cNvGraphicFramePr/>
          <p:nvPr/>
        </p:nvGraphicFramePr>
        <p:xfrm>
          <a:off x="222514" y="1771743"/>
          <a:ext cx="8768525" cy="2058395"/>
        </p:xfrm>
        <a:graphic>
          <a:graphicData uri="http://schemas.openxmlformats.org/drawingml/2006/table">
            <a:tbl>
              <a:tblPr firstRow="1" bandRow="1">
                <a:noFill/>
                <a:tableStyleId>{BE5FCA4E-7378-46B0-B8AC-BF7E9694FEB7}</a:tableStyleId>
              </a:tblPr>
              <a:tblGrid>
                <a:gridCol w="2219100">
                  <a:extLst>
                    <a:ext uri="{9D8B030D-6E8A-4147-A177-3AD203B41FA5}">
                      <a16:colId xmlns:a16="http://schemas.microsoft.com/office/drawing/2014/main" val="20000"/>
                    </a:ext>
                  </a:extLst>
                </a:gridCol>
                <a:gridCol w="2648600">
                  <a:extLst>
                    <a:ext uri="{9D8B030D-6E8A-4147-A177-3AD203B41FA5}">
                      <a16:colId xmlns:a16="http://schemas.microsoft.com/office/drawing/2014/main" val="20001"/>
                    </a:ext>
                  </a:extLst>
                </a:gridCol>
                <a:gridCol w="3900825">
                  <a:extLst>
                    <a:ext uri="{9D8B030D-6E8A-4147-A177-3AD203B41FA5}">
                      <a16:colId xmlns:a16="http://schemas.microsoft.com/office/drawing/2014/main" val="20002"/>
                    </a:ext>
                  </a:extLst>
                </a:gridCol>
              </a:tblGrid>
              <a:tr h="312475">
                <a:tc>
                  <a:txBody>
                    <a:bodyPr/>
                    <a:lstStyle/>
                    <a:p>
                      <a:pPr marL="0" marR="0" lvl="0" indent="0" algn="ctr" rtl="0">
                        <a:spcBef>
                          <a:spcPts val="0"/>
                        </a:spcBef>
                        <a:spcAft>
                          <a:spcPts val="0"/>
                        </a:spcAft>
                        <a:buNone/>
                      </a:pPr>
                      <a:r>
                        <a:rPr lang="en-GB" sz="1800"/>
                        <a:t>Feature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tc>
                  <a:txBody>
                    <a:bodyPr/>
                    <a:lstStyle/>
                    <a:p>
                      <a:pPr marL="0" marR="0" lvl="0" indent="0" algn="ctr" rtl="0">
                        <a:spcBef>
                          <a:spcPts val="0"/>
                        </a:spcBef>
                        <a:spcAft>
                          <a:spcPts val="0"/>
                        </a:spcAft>
                        <a:buNone/>
                      </a:pPr>
                      <a:r>
                        <a:rPr lang="en-GB" sz="1800"/>
                        <a:t>Light (optical)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tc>
                  <a:txBody>
                    <a:bodyPr/>
                    <a:lstStyle/>
                    <a:p>
                      <a:pPr marL="0" marR="0" lvl="0" indent="0" algn="ctr" rtl="0">
                        <a:spcBef>
                          <a:spcPts val="0"/>
                        </a:spcBef>
                        <a:spcAft>
                          <a:spcPts val="0"/>
                        </a:spcAft>
                        <a:buNone/>
                      </a:pPr>
                      <a:r>
                        <a:rPr lang="en-GB" sz="1800"/>
                        <a:t>Electron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extLst>
                  <a:ext uri="{0D108BD9-81ED-4DB2-BD59-A6C34878D82A}">
                    <a16:rowId xmlns:a16="http://schemas.microsoft.com/office/drawing/2014/main" val="10000"/>
                  </a:ext>
                </a:extLst>
              </a:tr>
              <a:tr h="338525">
                <a:tc>
                  <a:txBody>
                    <a:bodyPr/>
                    <a:lstStyle/>
                    <a:p>
                      <a:pPr marL="0" marR="0" lvl="0" indent="0" algn="ctr" rtl="0">
                        <a:spcBef>
                          <a:spcPts val="0"/>
                        </a:spcBef>
                        <a:spcAft>
                          <a:spcPts val="0"/>
                        </a:spcAft>
                        <a:buNone/>
                      </a:pPr>
                      <a:r>
                        <a:rPr lang="en-GB" sz="1600" b="1"/>
                        <a:t>Radiation used</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38525">
                <a:tc>
                  <a:txBody>
                    <a:bodyPr/>
                    <a:lstStyle/>
                    <a:p>
                      <a:pPr marL="0" marR="0" lvl="0" indent="0" algn="ctr" rtl="0">
                        <a:spcBef>
                          <a:spcPts val="0"/>
                        </a:spcBef>
                        <a:spcAft>
                          <a:spcPts val="0"/>
                        </a:spcAft>
                        <a:buNone/>
                      </a:pPr>
                      <a:r>
                        <a:rPr lang="en-GB" sz="1600" b="1"/>
                        <a:t>Max magnification </a:t>
                      </a:r>
                      <a:endParaRPr sz="16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38525">
                <a:tc>
                  <a:txBody>
                    <a:bodyPr/>
                    <a:lstStyle/>
                    <a:p>
                      <a:pPr marL="0" marR="0" lvl="0" indent="0" algn="ctr" rtl="0">
                        <a:spcBef>
                          <a:spcPts val="0"/>
                        </a:spcBef>
                        <a:spcAft>
                          <a:spcPts val="0"/>
                        </a:spcAft>
                        <a:buNone/>
                      </a:pPr>
                      <a:r>
                        <a:rPr lang="en-GB" sz="1600" b="1"/>
                        <a:t>Resolution</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38525">
                <a:tc>
                  <a:txBody>
                    <a:bodyPr/>
                    <a:lstStyle/>
                    <a:p>
                      <a:pPr marL="0" marR="0" lvl="0" indent="0" algn="ctr" rtl="0">
                        <a:spcBef>
                          <a:spcPts val="0"/>
                        </a:spcBef>
                        <a:spcAft>
                          <a:spcPts val="0"/>
                        </a:spcAft>
                        <a:buNone/>
                      </a:pPr>
                      <a:r>
                        <a:rPr lang="en-GB" sz="1600" b="1"/>
                        <a:t>Size of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38525">
                <a:tc>
                  <a:txBody>
                    <a:bodyPr/>
                    <a:lstStyle/>
                    <a:p>
                      <a:pPr marL="0" marR="0" lvl="0" indent="0" algn="ctr" rtl="0">
                        <a:spcBef>
                          <a:spcPts val="0"/>
                        </a:spcBef>
                        <a:spcAft>
                          <a:spcPts val="0"/>
                        </a:spcAft>
                        <a:buNone/>
                      </a:pPr>
                      <a:r>
                        <a:rPr lang="en-GB" sz="1600" b="1"/>
                        <a:t>Cost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16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36"/>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QuestionIT</a:t>
            </a:r>
            <a:endParaRPr/>
          </a:p>
        </p:txBody>
      </p:sp>
      <p:sp>
        <p:nvSpPr>
          <p:cNvPr id="537" name="Google Shape;537;p36"/>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38" name="Google Shape;538;p36"/>
          <p:cNvSpPr txBox="1"/>
          <p:nvPr/>
        </p:nvSpPr>
        <p:spPr>
          <a:xfrm>
            <a:off x="149087" y="557947"/>
            <a:ext cx="8915400" cy="914096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6. Write down the magnification equation. </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7. Rearrange the equation to change the subject for the two other factors.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8. A magnified cell structure has a diameter of 375𝛍m.</a:t>
            </a:r>
            <a:endParaRPr/>
          </a:p>
          <a:p>
            <a:pPr marL="457200" marR="0" lvl="1" indent="0" algn="l" rtl="0">
              <a:lnSpc>
                <a:spcPct val="150000"/>
              </a:lnSpc>
              <a:spcBef>
                <a:spcPts val="0"/>
              </a:spcBef>
              <a:spcAft>
                <a:spcPts val="0"/>
              </a:spcAft>
              <a:buNone/>
            </a:pPr>
            <a:r>
              <a:rPr lang="en-GB" sz="2400" b="0" i="0" u="none" strike="noStrike" cap="none">
                <a:solidFill>
                  <a:schemeClr val="dk1"/>
                </a:solidFill>
                <a:latin typeface="Calibri"/>
                <a:ea typeface="Calibri"/>
                <a:cs typeface="Calibri"/>
                <a:sym typeface="Calibri"/>
              </a:rPr>
              <a:t>The actual diameter of the structure is 2.5𝛍m. </a:t>
            </a:r>
            <a:endParaRPr/>
          </a:p>
          <a:p>
            <a:pPr marL="457200" marR="0" lvl="1" indent="0" algn="l" rtl="0">
              <a:lnSpc>
                <a:spcPct val="150000"/>
              </a:lnSpc>
              <a:spcBef>
                <a:spcPts val="0"/>
              </a:spcBef>
              <a:spcAft>
                <a:spcPts val="0"/>
              </a:spcAft>
              <a:buNone/>
            </a:pPr>
            <a:r>
              <a:rPr lang="en-GB" sz="2400" b="1" i="0" u="none" strike="noStrike" cap="none">
                <a:solidFill>
                  <a:schemeClr val="dk1"/>
                </a:solidFill>
                <a:latin typeface="Calibri"/>
                <a:ea typeface="Calibri"/>
                <a:cs typeface="Calibri"/>
                <a:sym typeface="Calibri"/>
              </a:rPr>
              <a:t>Calculate how many times the structure has been magnified.</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9. The actual length of a cell structure is 3𝛍m.</a:t>
            </a:r>
            <a:endParaRPr/>
          </a:p>
          <a:p>
            <a:pPr marL="457200" marR="0" lvl="1" indent="0" algn="l" rtl="0">
              <a:lnSpc>
                <a:spcPct val="150000"/>
              </a:lnSpc>
              <a:spcBef>
                <a:spcPts val="0"/>
              </a:spcBef>
              <a:spcAft>
                <a:spcPts val="0"/>
              </a:spcAft>
              <a:buNone/>
            </a:pPr>
            <a:r>
              <a:rPr lang="en-GB" sz="2400" b="0" i="0" u="none" strike="noStrike" cap="none">
                <a:solidFill>
                  <a:schemeClr val="dk1"/>
                </a:solidFill>
                <a:latin typeface="Calibri"/>
                <a:ea typeface="Calibri"/>
                <a:cs typeface="Calibri"/>
                <a:sym typeface="Calibri"/>
              </a:rPr>
              <a:t>It is magnified 1,500 times. </a:t>
            </a:r>
            <a:endParaRPr/>
          </a:p>
          <a:p>
            <a:pPr marL="457200" marR="0" lvl="1" indent="0" algn="l" rtl="0">
              <a:lnSpc>
                <a:spcPct val="150000"/>
              </a:lnSpc>
              <a:spcBef>
                <a:spcPts val="0"/>
              </a:spcBef>
              <a:spcAft>
                <a:spcPts val="0"/>
              </a:spcAft>
              <a:buNone/>
            </a:pPr>
            <a:r>
              <a:rPr lang="en-GB" sz="2400" b="1" i="0" u="none" strike="noStrike" cap="none">
                <a:solidFill>
                  <a:schemeClr val="dk1"/>
                </a:solidFill>
                <a:latin typeface="Calibri"/>
                <a:ea typeface="Calibri"/>
                <a:cs typeface="Calibri"/>
                <a:sym typeface="Calibri"/>
              </a:rPr>
              <a:t>Calculate the length of the magnified cell structure in mm. </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37"/>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QuestionIT</a:t>
            </a:r>
            <a:endParaRPr/>
          </a:p>
        </p:txBody>
      </p:sp>
      <p:sp>
        <p:nvSpPr>
          <p:cNvPr id="544" name="Google Shape;544;p37"/>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45" name="Google Shape;545;p37"/>
          <p:cNvSpPr txBox="1"/>
          <p:nvPr/>
        </p:nvSpPr>
        <p:spPr>
          <a:xfrm>
            <a:off x="149087" y="557947"/>
            <a:ext cx="8915400" cy="969496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10. Name the parts of the light microscope in the diagram below.</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11. How would you make an onion cell slide?</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12. How would you use the light microscope to view onion cells?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 </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pic>
        <p:nvPicPr>
          <p:cNvPr id="546" name="Google Shape;546;p37"/>
          <p:cNvPicPr preferRelativeResize="0"/>
          <p:nvPr/>
        </p:nvPicPr>
        <p:blipFill rotWithShape="1">
          <a:blip r:embed="rId3">
            <a:alphaModFix/>
          </a:blip>
          <a:srcRect/>
          <a:stretch/>
        </p:blipFill>
        <p:spPr>
          <a:xfrm>
            <a:off x="1428750" y="1104900"/>
            <a:ext cx="6191140" cy="37211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38"/>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QuestionIT (Biology ONLY)</a:t>
            </a:r>
            <a:endParaRPr/>
          </a:p>
        </p:txBody>
      </p:sp>
      <p:sp>
        <p:nvSpPr>
          <p:cNvPr id="552" name="Google Shape;552;p38"/>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53" name="Google Shape;553;p38"/>
          <p:cNvSpPr txBox="1"/>
          <p:nvPr/>
        </p:nvSpPr>
        <p:spPr>
          <a:xfrm>
            <a:off x="0" y="557947"/>
            <a:ext cx="9144000" cy="618630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b="1">
                <a:solidFill>
                  <a:schemeClr val="dk1"/>
                </a:solidFill>
                <a:latin typeface="Calibri"/>
                <a:ea typeface="Calibri"/>
                <a:cs typeface="Calibri"/>
                <a:sym typeface="Calibri"/>
              </a:rPr>
              <a:t>13. What is ‘binary fission’?</a:t>
            </a:r>
            <a:endParaRPr/>
          </a:p>
          <a:p>
            <a:pPr marL="0" marR="0" lvl="0" indent="0" algn="l" rtl="0">
              <a:lnSpc>
                <a:spcPct val="150000"/>
              </a:lnSpc>
              <a:spcBef>
                <a:spcPts val="0"/>
              </a:spcBef>
              <a:spcAft>
                <a:spcPts val="0"/>
              </a:spcAft>
              <a:buNone/>
            </a:pPr>
            <a:r>
              <a:rPr lang="en-GB" sz="2400" b="1">
                <a:solidFill>
                  <a:schemeClr val="dk1"/>
                </a:solidFill>
                <a:latin typeface="Calibri"/>
                <a:ea typeface="Calibri"/>
                <a:cs typeface="Calibri"/>
                <a:sym typeface="Calibri"/>
              </a:rPr>
              <a:t>14. Why do you need to sterilise Petri dishes and culture mediums    before use?</a:t>
            </a:r>
            <a:endParaRPr/>
          </a:p>
          <a:p>
            <a:pPr marL="0" marR="0" lvl="0" indent="0" algn="l" rtl="0">
              <a:lnSpc>
                <a:spcPct val="150000"/>
              </a:lnSpc>
              <a:spcBef>
                <a:spcPts val="0"/>
              </a:spcBef>
              <a:spcAft>
                <a:spcPts val="0"/>
              </a:spcAft>
              <a:buNone/>
            </a:pPr>
            <a:r>
              <a:rPr lang="en-GB" sz="2400" b="1">
                <a:solidFill>
                  <a:schemeClr val="dk1"/>
                </a:solidFill>
                <a:latin typeface="Calibri"/>
                <a:ea typeface="Calibri"/>
                <a:cs typeface="Calibri"/>
                <a:sym typeface="Calibri"/>
              </a:rPr>
              <a:t>15. What would you use an inoculating loop for?</a:t>
            </a:r>
            <a:endParaRPr/>
          </a:p>
          <a:p>
            <a:pPr marL="0" marR="0" lvl="0" indent="0" algn="l" rtl="0">
              <a:lnSpc>
                <a:spcPct val="150000"/>
              </a:lnSpc>
              <a:spcBef>
                <a:spcPts val="0"/>
              </a:spcBef>
              <a:spcAft>
                <a:spcPts val="0"/>
              </a:spcAft>
              <a:buNone/>
            </a:pPr>
            <a:r>
              <a:rPr lang="en-GB" sz="2400" b="1">
                <a:solidFill>
                  <a:schemeClr val="dk1"/>
                </a:solidFill>
                <a:latin typeface="Calibri"/>
                <a:ea typeface="Calibri"/>
                <a:cs typeface="Calibri"/>
                <a:sym typeface="Calibri"/>
              </a:rPr>
              <a:t>16. How do you sterilise an inoculating loop?</a:t>
            </a:r>
            <a:endParaRPr/>
          </a:p>
          <a:p>
            <a:pPr marL="0" marR="0" lvl="0" indent="0" algn="l" rtl="0">
              <a:lnSpc>
                <a:spcPct val="150000"/>
              </a:lnSpc>
              <a:spcBef>
                <a:spcPts val="0"/>
              </a:spcBef>
              <a:spcAft>
                <a:spcPts val="0"/>
              </a:spcAft>
              <a:buNone/>
            </a:pPr>
            <a:r>
              <a:rPr lang="en-GB" sz="2400" b="1">
                <a:solidFill>
                  <a:schemeClr val="dk1"/>
                </a:solidFill>
                <a:latin typeface="Calibri"/>
                <a:ea typeface="Calibri"/>
                <a:cs typeface="Calibri"/>
                <a:sym typeface="Calibri"/>
              </a:rPr>
              <a:t>17. How would you secure the lid of the Petri dish?</a:t>
            </a:r>
            <a:endParaRPr/>
          </a:p>
          <a:p>
            <a:pPr marL="0" marR="0" lvl="0" indent="0" algn="l" rtl="0">
              <a:lnSpc>
                <a:spcPct val="150000"/>
              </a:lnSpc>
              <a:spcBef>
                <a:spcPts val="0"/>
              </a:spcBef>
              <a:spcAft>
                <a:spcPts val="0"/>
              </a:spcAft>
              <a:buNone/>
            </a:pPr>
            <a:r>
              <a:rPr lang="en-GB" sz="2400" b="1">
                <a:solidFill>
                  <a:schemeClr val="dk1"/>
                </a:solidFill>
                <a:latin typeface="Calibri"/>
                <a:ea typeface="Calibri"/>
                <a:cs typeface="Calibri"/>
                <a:sym typeface="Calibri"/>
              </a:rPr>
              <a:t>18. What temperature would you incubate the samples at in a school and why should you use this temperature? </a:t>
            </a:r>
            <a:endParaRPr/>
          </a:p>
          <a:p>
            <a:pPr marL="0" marR="0" lvl="0" indent="0" algn="l" rtl="0">
              <a:lnSpc>
                <a:spcPct val="150000"/>
              </a:lnSpc>
              <a:spcBef>
                <a:spcPts val="0"/>
              </a:spcBef>
              <a:spcAft>
                <a:spcPts val="0"/>
              </a:spcAft>
              <a:buNone/>
            </a:pPr>
            <a:r>
              <a:rPr lang="en-GB" sz="2400" b="1">
                <a:solidFill>
                  <a:schemeClr val="dk1"/>
                </a:solidFill>
                <a:latin typeface="Calibri"/>
                <a:ea typeface="Calibri"/>
                <a:cs typeface="Calibri"/>
                <a:sym typeface="Calibri"/>
              </a:rPr>
              <a:t>19. How can you test the effectiveness of antibiotics and disinfectants on bacteria?</a:t>
            </a:r>
            <a:endParaRPr/>
          </a:p>
          <a:p>
            <a:pPr marL="0" marR="0" lvl="0" indent="0" algn="l" rtl="0">
              <a:lnSpc>
                <a:spcPct val="150000"/>
              </a:lnSpc>
              <a:spcBef>
                <a:spcPts val="0"/>
              </a:spcBef>
              <a:spcAft>
                <a:spcPts val="0"/>
              </a:spcAft>
              <a:buNone/>
            </a:pPr>
            <a:r>
              <a:rPr lang="en-GB" sz="2400" b="1">
                <a:solidFill>
                  <a:schemeClr val="dk1"/>
                </a:solidFill>
                <a:latin typeface="Calibri"/>
                <a:ea typeface="Calibri"/>
                <a:cs typeface="Calibri"/>
                <a:sym typeface="Calibri"/>
              </a:rPr>
              <a:t>20. What is the zone of inhibition?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39"/>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60" name="Google Shape;560;p39"/>
          <p:cNvSpPr txBox="1"/>
          <p:nvPr/>
        </p:nvSpPr>
        <p:spPr>
          <a:xfrm>
            <a:off x="0" y="980728"/>
            <a:ext cx="4716016" cy="56938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AnswerIT!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structure </a:t>
            </a:r>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Part 3 </a:t>
            </a:r>
            <a:endParaRPr/>
          </a:p>
          <a:p>
            <a:pPr marL="0" marR="0" lvl="0" indent="0" algn="l" rtl="0">
              <a:spcBef>
                <a:spcPts val="0"/>
              </a:spcBef>
              <a:spcAft>
                <a:spcPts val="0"/>
              </a:spcAft>
              <a:buNone/>
            </a:pPr>
            <a:endParaRPr sz="2800">
              <a:solidFill>
                <a:srgbClr val="7F7F7F"/>
              </a:solidFill>
              <a:latin typeface="Calibri"/>
              <a:ea typeface="Calibri"/>
              <a:cs typeface="Calibri"/>
              <a:sym typeface="Calibri"/>
            </a:endParaRPr>
          </a:p>
          <a:p>
            <a:pPr marL="457200" marR="0" lvl="0" indent="-457200" algn="l" rtl="0">
              <a:lnSpc>
                <a:spcPct val="150000"/>
              </a:lnSpc>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Microscopy</a:t>
            </a:r>
            <a:endParaRPr/>
          </a:p>
          <a:p>
            <a:pPr marL="457200" marR="0" lvl="0" indent="-304800" algn="l" rtl="0">
              <a:lnSpc>
                <a:spcPct val="150000"/>
              </a:lnSpc>
              <a:spcBef>
                <a:spcPts val="0"/>
              </a:spcBef>
              <a:spcAft>
                <a:spcPts val="0"/>
              </a:spcAft>
              <a:buClr>
                <a:schemeClr val="dk1"/>
              </a:buClr>
              <a:buSzPts val="2400"/>
              <a:buFont typeface="Arial"/>
              <a:buNone/>
            </a:pPr>
            <a:endParaRPr sz="2400" b="1">
              <a:solidFill>
                <a:srgbClr val="7F7F7F"/>
              </a:solidFill>
              <a:latin typeface="Calibri"/>
              <a:ea typeface="Calibri"/>
              <a:cs typeface="Calibri"/>
              <a:sym typeface="Calibri"/>
            </a:endParaRPr>
          </a:p>
          <a:p>
            <a:pPr marL="457200" marR="0" lvl="0" indent="-457200" algn="l" rtl="0">
              <a:spcBef>
                <a:spcPts val="0"/>
              </a:spcBef>
              <a:spcAft>
                <a:spcPts val="0"/>
              </a:spcAft>
              <a:buClr>
                <a:srgbClr val="7F7F7F"/>
              </a:buClr>
              <a:buSzPts val="2400"/>
              <a:buFont typeface="Arial"/>
              <a:buChar char="•"/>
            </a:pPr>
            <a:r>
              <a:rPr lang="en-GB" sz="2400" b="1">
                <a:solidFill>
                  <a:srgbClr val="7F7F7F"/>
                </a:solidFill>
                <a:latin typeface="Calibri"/>
                <a:ea typeface="Calibri"/>
                <a:cs typeface="Calibri"/>
                <a:sym typeface="Calibri"/>
              </a:rPr>
              <a:t>Culturing microorganisms (biology only)</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61" name="Google Shape;561;p39"/>
          <p:cNvPicPr preferRelativeResize="0"/>
          <p:nvPr/>
        </p:nvPicPr>
        <p:blipFill rotWithShape="1">
          <a:blip r:embed="rId3">
            <a:alphaModFix/>
          </a:blip>
          <a:srcRect/>
          <a:stretch/>
        </p:blipFill>
        <p:spPr>
          <a:xfrm>
            <a:off x="4139952" y="704918"/>
            <a:ext cx="4824536" cy="5257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0"/>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QuestionIT</a:t>
            </a:r>
            <a:endParaRPr/>
          </a:p>
        </p:txBody>
      </p:sp>
      <p:sp>
        <p:nvSpPr>
          <p:cNvPr id="567" name="Google Shape;567;p40"/>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68" name="Google Shape;568;p40"/>
          <p:cNvSpPr txBox="1"/>
          <p:nvPr/>
        </p:nvSpPr>
        <p:spPr>
          <a:xfrm>
            <a:off x="34786" y="657041"/>
            <a:ext cx="9144000" cy="8309967"/>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000"/>
              <a:buFont typeface="Calibri"/>
              <a:buAutoNum type="arabicPeriod"/>
            </a:pPr>
            <a:r>
              <a:rPr lang="en-GB" sz="2000">
                <a:solidFill>
                  <a:schemeClr val="dk1"/>
                </a:solidFill>
                <a:latin typeface="Calibri"/>
                <a:ea typeface="Calibri"/>
                <a:cs typeface="Calibri"/>
                <a:sym typeface="Calibri"/>
              </a:rPr>
              <a:t>Define the term resolution.</a:t>
            </a:r>
            <a:endParaRPr/>
          </a:p>
          <a:p>
            <a:pPr marL="0" marR="0" lvl="0" indent="0" algn="l" rtl="0">
              <a:spcBef>
                <a:spcPts val="0"/>
              </a:spcBef>
              <a:spcAft>
                <a:spcPts val="0"/>
              </a:spcAft>
              <a:buNone/>
            </a:pPr>
            <a:r>
              <a:rPr lang="en-GB" sz="2000" b="1">
                <a:solidFill>
                  <a:srgbClr val="00B050"/>
                </a:solidFill>
                <a:latin typeface="Calibri"/>
                <a:ea typeface="Calibri"/>
                <a:cs typeface="Calibri"/>
                <a:sym typeface="Calibri"/>
              </a:rPr>
              <a:t>The shortest distance between two objects that can be seen clearly.</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2. Copy and complete the table below.</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3. </a:t>
            </a:r>
            <a:r>
              <a:rPr lang="en-GB" sz="2200">
                <a:solidFill>
                  <a:schemeClr val="dk1"/>
                </a:solidFill>
                <a:latin typeface="Calibri"/>
                <a:ea typeface="Calibri"/>
                <a:cs typeface="Calibri"/>
                <a:sym typeface="Calibri"/>
              </a:rPr>
              <a:t>What are the advantages of the electron microscope? </a:t>
            </a:r>
            <a:r>
              <a:rPr lang="en-GB" sz="2200" b="1">
                <a:solidFill>
                  <a:srgbClr val="00B050"/>
                </a:solidFill>
                <a:latin typeface="Calibri"/>
                <a:ea typeface="Calibri"/>
                <a:cs typeface="Calibri"/>
                <a:sym typeface="Calibri"/>
              </a:rPr>
              <a:t>Electron microscopes have a higher magnification and resolution than light microscopes; scientists can see more sub-cellular structures.</a:t>
            </a:r>
            <a:endParaRPr sz="2200" b="1">
              <a:solidFill>
                <a:schemeClr val="dk1"/>
              </a:solidFill>
              <a:latin typeface="Calibri"/>
              <a:ea typeface="Calibri"/>
              <a:cs typeface="Calibri"/>
              <a:sym typeface="Calibri"/>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4. Name the smallest cell structures that can be seen by the light microscope?</a:t>
            </a:r>
            <a:endParaRPr/>
          </a:p>
          <a:p>
            <a:pPr marL="0" marR="0" lvl="0" indent="0" algn="l" rtl="0">
              <a:spcBef>
                <a:spcPts val="0"/>
              </a:spcBef>
              <a:spcAft>
                <a:spcPts val="0"/>
              </a:spcAft>
              <a:buNone/>
            </a:pPr>
            <a:r>
              <a:rPr lang="en-GB" sz="2200" b="1">
                <a:solidFill>
                  <a:srgbClr val="00B050"/>
                </a:solidFill>
                <a:latin typeface="Calibri"/>
                <a:ea typeface="Calibri"/>
                <a:cs typeface="Calibri"/>
                <a:sym typeface="Calibri"/>
              </a:rPr>
              <a:t>Nuclei and mitochondria</a:t>
            </a:r>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5. What are the smallest cell structures that can be seen by the electron microscope? </a:t>
            </a:r>
            <a:r>
              <a:rPr lang="en-GB" sz="2200" b="1">
                <a:solidFill>
                  <a:srgbClr val="00B050"/>
                </a:solidFill>
                <a:latin typeface="Calibri"/>
                <a:ea typeface="Calibri"/>
                <a:cs typeface="Calibri"/>
                <a:sym typeface="Calibri"/>
              </a:rPr>
              <a:t>Internal structures of mitochondria and chloroplasts.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graphicFrame>
        <p:nvGraphicFramePr>
          <p:cNvPr id="569" name="Google Shape;569;p40"/>
          <p:cNvGraphicFramePr/>
          <p:nvPr/>
        </p:nvGraphicFramePr>
        <p:xfrm>
          <a:off x="222513" y="1748790"/>
          <a:ext cx="8768525" cy="2194620"/>
        </p:xfrm>
        <a:graphic>
          <a:graphicData uri="http://schemas.openxmlformats.org/drawingml/2006/table">
            <a:tbl>
              <a:tblPr firstRow="1" bandRow="1">
                <a:noFill/>
                <a:tableStyleId>{BE5FCA4E-7378-46B0-B8AC-BF7E9694FEB7}</a:tableStyleId>
              </a:tblPr>
              <a:tblGrid>
                <a:gridCol w="2219100">
                  <a:extLst>
                    <a:ext uri="{9D8B030D-6E8A-4147-A177-3AD203B41FA5}">
                      <a16:colId xmlns:a16="http://schemas.microsoft.com/office/drawing/2014/main" val="20000"/>
                    </a:ext>
                  </a:extLst>
                </a:gridCol>
                <a:gridCol w="2648600">
                  <a:extLst>
                    <a:ext uri="{9D8B030D-6E8A-4147-A177-3AD203B41FA5}">
                      <a16:colId xmlns:a16="http://schemas.microsoft.com/office/drawing/2014/main" val="20001"/>
                    </a:ext>
                  </a:extLst>
                </a:gridCol>
                <a:gridCol w="3900825">
                  <a:extLst>
                    <a:ext uri="{9D8B030D-6E8A-4147-A177-3AD203B41FA5}">
                      <a16:colId xmlns:a16="http://schemas.microsoft.com/office/drawing/2014/main" val="20002"/>
                    </a:ext>
                  </a:extLst>
                </a:gridCol>
              </a:tblGrid>
              <a:tr h="274425">
                <a:tc>
                  <a:txBody>
                    <a:bodyPr/>
                    <a:lstStyle/>
                    <a:p>
                      <a:pPr marL="0" marR="0" lvl="0" indent="0" algn="ctr" rtl="0">
                        <a:spcBef>
                          <a:spcPts val="0"/>
                        </a:spcBef>
                        <a:spcAft>
                          <a:spcPts val="0"/>
                        </a:spcAft>
                        <a:buNone/>
                      </a:pPr>
                      <a:r>
                        <a:rPr lang="en-GB" sz="1800"/>
                        <a:t>Feature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tc>
                  <a:txBody>
                    <a:bodyPr/>
                    <a:lstStyle/>
                    <a:p>
                      <a:pPr marL="0" marR="0" lvl="0" indent="0" algn="ctr" rtl="0">
                        <a:spcBef>
                          <a:spcPts val="0"/>
                        </a:spcBef>
                        <a:spcAft>
                          <a:spcPts val="0"/>
                        </a:spcAft>
                        <a:buNone/>
                      </a:pPr>
                      <a:r>
                        <a:rPr lang="en-GB" sz="1800"/>
                        <a:t>Light (optical)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tc>
                  <a:txBody>
                    <a:bodyPr/>
                    <a:lstStyle/>
                    <a:p>
                      <a:pPr marL="0" marR="0" lvl="0" indent="0" algn="ctr" rtl="0">
                        <a:spcBef>
                          <a:spcPts val="0"/>
                        </a:spcBef>
                        <a:spcAft>
                          <a:spcPts val="0"/>
                        </a:spcAft>
                        <a:buNone/>
                      </a:pPr>
                      <a:r>
                        <a:rPr lang="en-GB" sz="1800"/>
                        <a:t>Electron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6C09"/>
                    </a:solidFill>
                  </a:tcPr>
                </a:tc>
                <a:extLst>
                  <a:ext uri="{0D108BD9-81ED-4DB2-BD59-A6C34878D82A}">
                    <a16:rowId xmlns:a16="http://schemas.microsoft.com/office/drawing/2014/main" val="10000"/>
                  </a:ext>
                </a:extLst>
              </a:tr>
              <a:tr h="338525">
                <a:tc>
                  <a:txBody>
                    <a:bodyPr/>
                    <a:lstStyle/>
                    <a:p>
                      <a:pPr marL="0" marR="0" lvl="0" indent="0" algn="ctr" rtl="0">
                        <a:spcBef>
                          <a:spcPts val="0"/>
                        </a:spcBef>
                        <a:spcAft>
                          <a:spcPts val="0"/>
                        </a:spcAft>
                        <a:buNone/>
                      </a:pPr>
                      <a:r>
                        <a:rPr lang="en-GB" sz="1600" b="1"/>
                        <a:t>Radiation used</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Light rays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Electron beams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38525">
                <a:tc>
                  <a:txBody>
                    <a:bodyPr/>
                    <a:lstStyle/>
                    <a:p>
                      <a:pPr marL="0" marR="0" lvl="0" indent="0" algn="ctr" rtl="0">
                        <a:spcBef>
                          <a:spcPts val="0"/>
                        </a:spcBef>
                        <a:spcAft>
                          <a:spcPts val="0"/>
                        </a:spcAft>
                        <a:buNone/>
                      </a:pPr>
                      <a:r>
                        <a:rPr lang="en-GB" sz="1600" b="1"/>
                        <a:t>Max magnification </a:t>
                      </a:r>
                      <a:endParaRPr sz="1600" b="1"/>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 1500 times</a:t>
                      </a:r>
                      <a:endParaRPr sz="1800" b="1">
                        <a:solidFill>
                          <a:srgbClr val="00B050"/>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 2 000 000 times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38525">
                <a:tc>
                  <a:txBody>
                    <a:bodyPr/>
                    <a:lstStyle/>
                    <a:p>
                      <a:pPr marL="0" marR="0" lvl="0" indent="0" algn="ctr" rtl="0">
                        <a:spcBef>
                          <a:spcPts val="0"/>
                        </a:spcBef>
                        <a:spcAft>
                          <a:spcPts val="0"/>
                        </a:spcAft>
                        <a:buNone/>
                      </a:pPr>
                      <a:r>
                        <a:rPr lang="en-GB" sz="1600" b="1"/>
                        <a:t>Resolution</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200nm</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0.2nm</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38525">
                <a:tc>
                  <a:txBody>
                    <a:bodyPr/>
                    <a:lstStyle/>
                    <a:p>
                      <a:pPr marL="0" marR="0" lvl="0" indent="0" algn="ctr" rtl="0">
                        <a:spcBef>
                          <a:spcPts val="0"/>
                        </a:spcBef>
                        <a:spcAft>
                          <a:spcPts val="0"/>
                        </a:spcAft>
                        <a:buNone/>
                      </a:pPr>
                      <a:r>
                        <a:rPr lang="en-GB" sz="1600" b="1"/>
                        <a:t>Size of microscope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Small and portable</a:t>
                      </a:r>
                      <a:endParaRPr sz="1800" b="1">
                        <a:solidFill>
                          <a:srgbClr val="00B050"/>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Very large and not portable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38525">
                <a:tc>
                  <a:txBody>
                    <a:bodyPr/>
                    <a:lstStyle/>
                    <a:p>
                      <a:pPr marL="0" marR="0" lvl="0" indent="0" algn="ctr" rtl="0">
                        <a:spcBef>
                          <a:spcPts val="0"/>
                        </a:spcBef>
                        <a:spcAft>
                          <a:spcPts val="0"/>
                        </a:spcAft>
                        <a:buNone/>
                      </a:pPr>
                      <a:r>
                        <a:rPr lang="en-GB" sz="1600" b="1"/>
                        <a:t>Cost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 ~£100 for a school one</a:t>
                      </a:r>
                      <a:endParaRPr sz="1800" b="1">
                        <a:solidFill>
                          <a:srgbClr val="00B050"/>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a:solidFill>
                            <a:srgbClr val="00B050"/>
                          </a:solidFill>
                        </a:rPr>
                        <a:t>Several £100,000 to £1 million plus</a:t>
                      </a:r>
                      <a:endParaRPr sz="1800" b="1">
                        <a:solidFill>
                          <a:srgbClr val="00B050"/>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41"/>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AnswerIT</a:t>
            </a:r>
            <a:endParaRPr/>
          </a:p>
        </p:txBody>
      </p:sp>
      <p:sp>
        <p:nvSpPr>
          <p:cNvPr id="575" name="Google Shape;575;p41"/>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76" name="Google Shape;576;p41"/>
          <p:cNvSpPr txBox="1"/>
          <p:nvPr/>
        </p:nvSpPr>
        <p:spPr>
          <a:xfrm>
            <a:off x="0" y="685432"/>
            <a:ext cx="9144000" cy="78790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200">
                <a:solidFill>
                  <a:schemeClr val="dk1"/>
                </a:solidFill>
                <a:latin typeface="Calibri"/>
                <a:ea typeface="Calibri"/>
                <a:cs typeface="Calibri"/>
                <a:sym typeface="Calibri"/>
              </a:rPr>
              <a:t>6. Write down the magnification equation. </a:t>
            </a:r>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7. Rearrange the equation to change the subject for the two other factors.</a:t>
            </a:r>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8. A magnified cell structure has a diameter of 375𝛍m.</a:t>
            </a:r>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The actual diameter of the structure is 2.5𝛍m. </a:t>
            </a:r>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Calculate how many times the structure has been magnified.</a:t>
            </a:r>
            <a:endParaRPr/>
          </a:p>
          <a:p>
            <a:pPr marL="0" marR="0" lvl="0" indent="0" algn="ctr" rtl="0">
              <a:spcBef>
                <a:spcPts val="0"/>
              </a:spcBef>
              <a:spcAft>
                <a:spcPts val="0"/>
              </a:spcAft>
              <a:buNone/>
            </a:pPr>
            <a:r>
              <a:rPr lang="en-GB" sz="2200" b="1">
                <a:solidFill>
                  <a:srgbClr val="00B050"/>
                </a:solidFill>
                <a:latin typeface="Calibri"/>
                <a:ea typeface="Calibri"/>
                <a:cs typeface="Calibri"/>
                <a:sym typeface="Calibri"/>
              </a:rPr>
              <a:t>M = I/A 		M = 375/2.5 = 150  	</a:t>
            </a:r>
            <a:r>
              <a:rPr lang="en-GB" sz="2200" b="1" u="sng">
                <a:solidFill>
                  <a:srgbClr val="00B050"/>
                </a:solidFill>
                <a:latin typeface="Calibri"/>
                <a:ea typeface="Calibri"/>
                <a:cs typeface="Calibri"/>
                <a:sym typeface="Calibri"/>
              </a:rPr>
              <a:t>M = 150 times</a:t>
            </a:r>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9. The actual length of a cell structure is 3𝛍m.</a:t>
            </a:r>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It is magnified 1,500 times. </a:t>
            </a:r>
            <a:endParaRPr/>
          </a:p>
          <a:p>
            <a:pPr marL="0" marR="0" lvl="0" indent="0" algn="l" rtl="0">
              <a:spcBef>
                <a:spcPts val="0"/>
              </a:spcBef>
              <a:spcAft>
                <a:spcPts val="0"/>
              </a:spcAft>
              <a:buNone/>
            </a:pPr>
            <a:r>
              <a:rPr lang="en-GB" sz="2200">
                <a:solidFill>
                  <a:schemeClr val="dk1"/>
                </a:solidFill>
                <a:latin typeface="Calibri"/>
                <a:ea typeface="Calibri"/>
                <a:cs typeface="Calibri"/>
                <a:sym typeface="Calibri"/>
              </a:rPr>
              <a:t>Calculate the length of the magnified cell structure in mm. </a:t>
            </a:r>
            <a:endParaRPr/>
          </a:p>
          <a:p>
            <a:pPr marL="0" marR="0" lvl="0" indent="0" algn="ctr" rtl="0">
              <a:spcBef>
                <a:spcPts val="0"/>
              </a:spcBef>
              <a:spcAft>
                <a:spcPts val="0"/>
              </a:spcAft>
              <a:buNone/>
            </a:pPr>
            <a:r>
              <a:rPr lang="en-GB" sz="2200" b="1">
                <a:solidFill>
                  <a:srgbClr val="00B050"/>
                </a:solidFill>
                <a:latin typeface="Calibri"/>
                <a:ea typeface="Calibri"/>
                <a:cs typeface="Calibri"/>
                <a:sym typeface="Calibri"/>
              </a:rPr>
              <a:t>I = M x A 	I = 1500 x 3 	I = 4500 𝛍m        4500 / 1000 = 4.5mm</a:t>
            </a:r>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p:txBody>
      </p:sp>
      <p:grpSp>
        <p:nvGrpSpPr>
          <p:cNvPr id="577" name="Google Shape;577;p41"/>
          <p:cNvGrpSpPr/>
          <p:nvPr/>
        </p:nvGrpSpPr>
        <p:grpSpPr>
          <a:xfrm>
            <a:off x="1579596" y="1038488"/>
            <a:ext cx="4956502" cy="815081"/>
            <a:chOff x="1261143" y="1616911"/>
            <a:chExt cx="6153354" cy="815081"/>
          </a:xfrm>
        </p:grpSpPr>
        <p:sp>
          <p:nvSpPr>
            <p:cNvPr id="578" name="Google Shape;578;p41"/>
            <p:cNvSpPr txBox="1"/>
            <p:nvPr/>
          </p:nvSpPr>
          <p:spPr>
            <a:xfrm>
              <a:off x="3592419" y="2031882"/>
              <a:ext cx="382207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00B050"/>
                  </a:solidFill>
                  <a:latin typeface="Calibri"/>
                  <a:ea typeface="Calibri"/>
                  <a:cs typeface="Calibri"/>
                  <a:sym typeface="Calibri"/>
                </a:rPr>
                <a:t>real size of the object (A)</a:t>
              </a:r>
              <a:endParaRPr/>
            </a:p>
          </p:txBody>
        </p:sp>
        <p:sp>
          <p:nvSpPr>
            <p:cNvPr id="579" name="Google Shape;579;p41"/>
            <p:cNvSpPr/>
            <p:nvPr/>
          </p:nvSpPr>
          <p:spPr>
            <a:xfrm>
              <a:off x="1261143" y="1616911"/>
              <a:ext cx="5555580"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00B050"/>
                  </a:solidFill>
                  <a:latin typeface="Calibri"/>
                  <a:ea typeface="Calibri"/>
                  <a:cs typeface="Calibri"/>
                  <a:sym typeface="Calibri"/>
                </a:rPr>
                <a:t>magnification (M) =   size of image (</a:t>
              </a:r>
              <a:r>
                <a:rPr lang="en-GB" sz="2000" b="1">
                  <a:solidFill>
                    <a:srgbClr val="00B050"/>
                  </a:solidFill>
                  <a:latin typeface="Times"/>
                  <a:ea typeface="Times"/>
                  <a:cs typeface="Times"/>
                  <a:sym typeface="Times"/>
                </a:rPr>
                <a:t>I)</a:t>
              </a:r>
              <a:endParaRPr/>
            </a:p>
          </p:txBody>
        </p:sp>
        <p:cxnSp>
          <p:nvCxnSpPr>
            <p:cNvPr id="580" name="Google Shape;580;p41"/>
            <p:cNvCxnSpPr/>
            <p:nvPr/>
          </p:nvCxnSpPr>
          <p:spPr>
            <a:xfrm>
              <a:off x="4257647" y="2031882"/>
              <a:ext cx="2112097" cy="528"/>
            </a:xfrm>
            <a:prstGeom prst="straightConnector1">
              <a:avLst/>
            </a:prstGeom>
            <a:noFill/>
            <a:ln w="25400" cap="flat" cmpd="sng">
              <a:solidFill>
                <a:srgbClr val="00B050"/>
              </a:solidFill>
              <a:prstDash val="solid"/>
              <a:round/>
              <a:headEnd type="none" w="sm" len="sm"/>
              <a:tailEnd type="none" w="sm" len="sm"/>
            </a:ln>
            <a:effectLst>
              <a:outerShdw blurRad="40000" dist="20000" dir="5400000" rotWithShape="0">
                <a:srgbClr val="000000">
                  <a:alpha val="37647"/>
                </a:srgbClr>
              </a:outerShdw>
            </a:effectLst>
          </p:spPr>
        </p:cxnSp>
      </p:grpSp>
      <p:sp>
        <p:nvSpPr>
          <p:cNvPr id="581" name="Google Shape;581;p41"/>
          <p:cNvSpPr/>
          <p:nvPr/>
        </p:nvSpPr>
        <p:spPr>
          <a:xfrm>
            <a:off x="809785" y="2089533"/>
            <a:ext cx="7294085"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00B050"/>
                </a:solidFill>
                <a:latin typeface="Calibri"/>
                <a:ea typeface="Calibri"/>
                <a:cs typeface="Calibri"/>
                <a:sym typeface="Calibri"/>
              </a:rPr>
              <a:t>size of image (</a:t>
            </a:r>
            <a:r>
              <a:rPr lang="en-GB" sz="2000" b="1">
                <a:solidFill>
                  <a:srgbClr val="00B050"/>
                </a:solidFill>
                <a:latin typeface="Times"/>
                <a:ea typeface="Times"/>
                <a:cs typeface="Times"/>
                <a:sym typeface="Times"/>
              </a:rPr>
              <a:t>I) = </a:t>
            </a:r>
            <a:r>
              <a:rPr lang="en-GB" sz="2000" b="1">
                <a:solidFill>
                  <a:srgbClr val="00B050"/>
                </a:solidFill>
                <a:latin typeface="Calibri"/>
                <a:ea typeface="Calibri"/>
                <a:cs typeface="Calibri"/>
                <a:sym typeface="Calibri"/>
              </a:rPr>
              <a:t>magnification (M) x real size of the object (A)</a:t>
            </a:r>
            <a:endParaRPr sz="2000" b="1">
              <a:solidFill>
                <a:srgbClr val="00B050"/>
              </a:solidFill>
              <a:latin typeface="Times"/>
              <a:ea typeface="Times"/>
              <a:cs typeface="Times"/>
              <a:sym typeface="Times"/>
            </a:endParaRPr>
          </a:p>
        </p:txBody>
      </p:sp>
      <p:grpSp>
        <p:nvGrpSpPr>
          <p:cNvPr id="582" name="Google Shape;582;p41"/>
          <p:cNvGrpSpPr/>
          <p:nvPr/>
        </p:nvGrpSpPr>
        <p:grpSpPr>
          <a:xfrm>
            <a:off x="1002284" y="2618860"/>
            <a:ext cx="6909085" cy="839583"/>
            <a:chOff x="1261143" y="1616911"/>
            <a:chExt cx="6933321" cy="839583"/>
          </a:xfrm>
        </p:grpSpPr>
        <p:sp>
          <p:nvSpPr>
            <p:cNvPr id="583" name="Google Shape;583;p41"/>
            <p:cNvSpPr txBox="1"/>
            <p:nvPr/>
          </p:nvSpPr>
          <p:spPr>
            <a:xfrm>
              <a:off x="4372385" y="2056384"/>
              <a:ext cx="382207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00B050"/>
                  </a:solidFill>
                  <a:latin typeface="Calibri"/>
                  <a:ea typeface="Calibri"/>
                  <a:cs typeface="Calibri"/>
                  <a:sym typeface="Calibri"/>
                </a:rPr>
                <a:t>magnification (M)</a:t>
              </a:r>
              <a:endParaRPr/>
            </a:p>
          </p:txBody>
        </p:sp>
        <p:sp>
          <p:nvSpPr>
            <p:cNvPr id="584" name="Google Shape;584;p41"/>
            <p:cNvSpPr/>
            <p:nvPr/>
          </p:nvSpPr>
          <p:spPr>
            <a:xfrm>
              <a:off x="1261143" y="1616911"/>
              <a:ext cx="5555579"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00B050"/>
                  </a:solidFill>
                  <a:latin typeface="Calibri"/>
                  <a:ea typeface="Calibri"/>
                  <a:cs typeface="Calibri"/>
                  <a:sym typeface="Calibri"/>
                </a:rPr>
                <a:t>real size of the object (A) =   size of image (</a:t>
              </a:r>
              <a:r>
                <a:rPr lang="en-GB" sz="2000" b="1">
                  <a:solidFill>
                    <a:srgbClr val="00B050"/>
                  </a:solidFill>
                  <a:latin typeface="Times"/>
                  <a:ea typeface="Times"/>
                  <a:cs typeface="Times"/>
                  <a:sym typeface="Times"/>
                </a:rPr>
                <a:t>I)</a:t>
              </a:r>
              <a:endParaRPr/>
            </a:p>
          </p:txBody>
        </p:sp>
        <p:cxnSp>
          <p:nvCxnSpPr>
            <p:cNvPr id="585" name="Google Shape;585;p41"/>
            <p:cNvCxnSpPr/>
            <p:nvPr/>
          </p:nvCxnSpPr>
          <p:spPr>
            <a:xfrm>
              <a:off x="4257647" y="2031882"/>
              <a:ext cx="2112097" cy="528"/>
            </a:xfrm>
            <a:prstGeom prst="straightConnector1">
              <a:avLst/>
            </a:prstGeom>
            <a:noFill/>
            <a:ln w="25400" cap="flat" cmpd="sng">
              <a:solidFill>
                <a:srgbClr val="00B050"/>
              </a:solidFill>
              <a:prstDash val="solid"/>
              <a:round/>
              <a:headEnd type="none" w="sm" len="sm"/>
              <a:tailEnd type="none" w="sm" len="sm"/>
            </a:ln>
            <a:effectLst>
              <a:outerShdw blurRad="40000" dist="20000" dir="5400000" rotWithShape="0">
                <a:srgbClr val="000000">
                  <a:alpha val="37647"/>
                </a:srgbClr>
              </a:outerShdw>
            </a:effectLst>
          </p:spPr>
        </p:cxn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42"/>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QuestionIT</a:t>
            </a:r>
            <a:endParaRPr/>
          </a:p>
        </p:txBody>
      </p:sp>
      <p:sp>
        <p:nvSpPr>
          <p:cNvPr id="591" name="Google Shape;591;p42"/>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592" name="Google Shape;592;p42"/>
          <p:cNvSpPr txBox="1"/>
          <p:nvPr/>
        </p:nvSpPr>
        <p:spPr>
          <a:xfrm>
            <a:off x="149087" y="557947"/>
            <a:ext cx="8915400" cy="858696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10. Name the parts of the light microscope in the diagram below.</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 </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pic>
        <p:nvPicPr>
          <p:cNvPr id="593" name="Google Shape;593;p42"/>
          <p:cNvPicPr preferRelativeResize="0"/>
          <p:nvPr/>
        </p:nvPicPr>
        <p:blipFill rotWithShape="1">
          <a:blip r:embed="rId3">
            <a:alphaModFix/>
          </a:blip>
          <a:srcRect/>
          <a:stretch/>
        </p:blipFill>
        <p:spPr>
          <a:xfrm>
            <a:off x="419100" y="1384239"/>
            <a:ext cx="7962900" cy="44323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3"/>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QuestionIT</a:t>
            </a:r>
            <a:endParaRPr/>
          </a:p>
        </p:txBody>
      </p:sp>
      <p:sp>
        <p:nvSpPr>
          <p:cNvPr id="599" name="Google Shape;599;p43"/>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600" name="Google Shape;600;p43"/>
          <p:cNvSpPr txBox="1"/>
          <p:nvPr/>
        </p:nvSpPr>
        <p:spPr>
          <a:xfrm>
            <a:off x="0" y="557947"/>
            <a:ext cx="9064487" cy="1024896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11. Describe how you would make an onion cell slide.</a:t>
            </a:r>
            <a:endParaRPr/>
          </a:p>
          <a:p>
            <a:pPr marL="285750" marR="0" lvl="0" indent="-285750" algn="l" rtl="0">
              <a:spcBef>
                <a:spcPts val="0"/>
              </a:spcBef>
              <a:spcAft>
                <a:spcPts val="0"/>
              </a:spcAft>
              <a:buClr>
                <a:srgbClr val="00B050"/>
              </a:buClr>
              <a:buSzPts val="2400"/>
              <a:buFont typeface="Arial"/>
              <a:buChar char="•"/>
            </a:pPr>
            <a:r>
              <a:rPr lang="en-GB" sz="2400" b="1">
                <a:solidFill>
                  <a:srgbClr val="00B050"/>
                </a:solidFill>
                <a:latin typeface="Calibri"/>
                <a:ea typeface="Calibri"/>
                <a:cs typeface="Calibri"/>
                <a:sym typeface="Calibri"/>
              </a:rPr>
              <a:t>Place thin section of onion epidermis onto slide.</a:t>
            </a:r>
            <a:endParaRPr sz="2400" b="1">
              <a:solidFill>
                <a:srgbClr val="00B050"/>
              </a:solidFill>
              <a:latin typeface="Calibri"/>
              <a:ea typeface="Calibri"/>
              <a:cs typeface="Calibri"/>
              <a:sym typeface="Calibri"/>
            </a:endParaRPr>
          </a:p>
          <a:p>
            <a:pPr marL="285750" marR="0" lvl="0" indent="-285750" algn="l" rtl="0">
              <a:spcBef>
                <a:spcPts val="0"/>
              </a:spcBef>
              <a:spcAft>
                <a:spcPts val="0"/>
              </a:spcAft>
              <a:buClr>
                <a:srgbClr val="00B050"/>
              </a:buClr>
              <a:buSzPts val="2400"/>
              <a:buFont typeface="Arial"/>
              <a:buChar char="•"/>
            </a:pPr>
            <a:r>
              <a:rPr lang="en-GB" sz="2400" b="1">
                <a:solidFill>
                  <a:srgbClr val="00B050"/>
                </a:solidFill>
                <a:latin typeface="Calibri"/>
                <a:ea typeface="Calibri"/>
                <a:cs typeface="Calibri"/>
                <a:sym typeface="Calibri"/>
              </a:rPr>
              <a:t>Place a drop of iodine in the middle of the slide to stain the onion. </a:t>
            </a:r>
            <a:endParaRPr sz="2400" b="1">
              <a:solidFill>
                <a:srgbClr val="00B050"/>
              </a:solidFill>
              <a:latin typeface="Calibri"/>
              <a:ea typeface="Calibri"/>
              <a:cs typeface="Calibri"/>
              <a:sym typeface="Calibri"/>
            </a:endParaRPr>
          </a:p>
          <a:p>
            <a:pPr marL="285750" marR="0" lvl="0" indent="-285750" algn="l" rtl="0">
              <a:spcBef>
                <a:spcPts val="0"/>
              </a:spcBef>
              <a:spcAft>
                <a:spcPts val="0"/>
              </a:spcAft>
              <a:buClr>
                <a:srgbClr val="00B050"/>
              </a:buClr>
              <a:buSzPts val="2400"/>
              <a:buFont typeface="Arial"/>
              <a:buChar char="•"/>
            </a:pPr>
            <a:r>
              <a:rPr lang="en-GB" sz="2400" b="1">
                <a:solidFill>
                  <a:srgbClr val="00B050"/>
                </a:solidFill>
                <a:latin typeface="Calibri"/>
                <a:ea typeface="Calibri"/>
                <a:cs typeface="Calibri"/>
                <a:sym typeface="Calibri"/>
              </a:rPr>
              <a:t>Gently lower cover slip onto the onion without trapping air bubbles.</a:t>
            </a:r>
            <a:endParaRPr/>
          </a:p>
          <a:p>
            <a:pPr marL="285750" marR="0" lvl="0" indent="-285750" algn="l" rtl="0">
              <a:spcBef>
                <a:spcPts val="0"/>
              </a:spcBef>
              <a:spcAft>
                <a:spcPts val="0"/>
              </a:spcAft>
              <a:buClr>
                <a:srgbClr val="00B050"/>
              </a:buClr>
              <a:buSzPts val="2400"/>
              <a:buFont typeface="Arial"/>
              <a:buChar char="•"/>
            </a:pPr>
            <a:r>
              <a:rPr lang="en-GB" sz="2400" b="1">
                <a:solidFill>
                  <a:srgbClr val="00B050"/>
                </a:solidFill>
                <a:latin typeface="Calibri"/>
                <a:ea typeface="Calibri"/>
                <a:cs typeface="Calibri"/>
                <a:sym typeface="Calibri"/>
              </a:rPr>
              <a:t>Soak up any excess liquid with a paper towel.</a:t>
            </a:r>
            <a:endParaRPr/>
          </a:p>
          <a:p>
            <a:pPr marL="285750" marR="0" lvl="0" indent="-133350" algn="l" rtl="0">
              <a:spcBef>
                <a:spcPts val="0"/>
              </a:spcBef>
              <a:spcAft>
                <a:spcPts val="0"/>
              </a:spcAft>
              <a:buClr>
                <a:schemeClr val="dk1"/>
              </a:buClr>
              <a:buSzPts val="2400"/>
              <a:buFont typeface="Arial"/>
              <a:buNone/>
            </a:pPr>
            <a:endParaRPr sz="2400" b="1">
              <a:solidFill>
                <a:srgbClr val="00B050"/>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12. Describe how you would use the light microscope to view onion cells. </a:t>
            </a:r>
            <a:endParaRPr/>
          </a:p>
          <a:p>
            <a:pPr marL="285750" marR="0" lvl="0" indent="-285750" algn="l" rtl="0">
              <a:spcBef>
                <a:spcPts val="0"/>
              </a:spcBef>
              <a:spcAft>
                <a:spcPts val="0"/>
              </a:spcAft>
              <a:buClr>
                <a:srgbClr val="00B050"/>
              </a:buClr>
              <a:buSzPts val="2400"/>
              <a:buFont typeface="Arial"/>
              <a:buChar char="•"/>
            </a:pPr>
            <a:r>
              <a:rPr lang="en-GB" sz="2400" b="1">
                <a:solidFill>
                  <a:srgbClr val="00B050"/>
                </a:solidFill>
                <a:latin typeface="Calibri"/>
                <a:ea typeface="Calibri"/>
                <a:cs typeface="Calibri"/>
                <a:sym typeface="Calibri"/>
              </a:rPr>
              <a:t>Switch on the light source and place your slide on the stage.</a:t>
            </a:r>
            <a:endParaRPr sz="2400" b="1">
              <a:solidFill>
                <a:srgbClr val="00B050"/>
              </a:solidFill>
              <a:latin typeface="Calibri"/>
              <a:ea typeface="Calibri"/>
              <a:cs typeface="Calibri"/>
              <a:sym typeface="Calibri"/>
            </a:endParaRPr>
          </a:p>
          <a:p>
            <a:pPr marL="285750" marR="0" lvl="0" indent="-285750" algn="l" rtl="0">
              <a:spcBef>
                <a:spcPts val="0"/>
              </a:spcBef>
              <a:spcAft>
                <a:spcPts val="0"/>
              </a:spcAft>
              <a:buClr>
                <a:srgbClr val="00B050"/>
              </a:buClr>
              <a:buSzPts val="2400"/>
              <a:buFont typeface="Arial"/>
              <a:buChar char="•"/>
            </a:pPr>
            <a:r>
              <a:rPr lang="en-GB" sz="2400" b="1">
                <a:solidFill>
                  <a:srgbClr val="00B050"/>
                </a:solidFill>
                <a:latin typeface="Calibri"/>
                <a:ea typeface="Calibri"/>
                <a:cs typeface="Calibri"/>
                <a:sym typeface="Calibri"/>
              </a:rPr>
              <a:t>Use the lowest objective lens and turn the focusing wheel to move the lens close to the slide.</a:t>
            </a:r>
            <a:endParaRPr/>
          </a:p>
          <a:p>
            <a:pPr marL="285750" marR="0" lvl="0" indent="-285750" algn="l" rtl="0">
              <a:spcBef>
                <a:spcPts val="0"/>
              </a:spcBef>
              <a:spcAft>
                <a:spcPts val="0"/>
              </a:spcAft>
              <a:buClr>
                <a:srgbClr val="00B050"/>
              </a:buClr>
              <a:buSzPts val="2400"/>
              <a:buFont typeface="Arial"/>
              <a:buChar char="•"/>
            </a:pPr>
            <a:r>
              <a:rPr lang="en-GB" sz="2400" b="1">
                <a:solidFill>
                  <a:srgbClr val="00B050"/>
                </a:solidFill>
                <a:latin typeface="Calibri"/>
                <a:ea typeface="Calibri"/>
                <a:cs typeface="Calibri"/>
                <a:sym typeface="Calibri"/>
              </a:rPr>
              <a:t>Slowly adjust the focusing wheel until you can see a clear image.</a:t>
            </a:r>
            <a:endParaRPr/>
          </a:p>
          <a:p>
            <a:pPr marL="285750" marR="0" lvl="0" indent="-285750" algn="l" rtl="0">
              <a:spcBef>
                <a:spcPts val="0"/>
              </a:spcBef>
              <a:spcAft>
                <a:spcPts val="0"/>
              </a:spcAft>
              <a:buClr>
                <a:srgbClr val="00B050"/>
              </a:buClr>
              <a:buSzPts val="2400"/>
              <a:buFont typeface="Arial"/>
              <a:buChar char="•"/>
            </a:pPr>
            <a:r>
              <a:rPr lang="en-GB" sz="2400" b="1">
                <a:solidFill>
                  <a:srgbClr val="00B050"/>
                </a:solidFill>
                <a:latin typeface="Calibri"/>
                <a:ea typeface="Calibri"/>
                <a:cs typeface="Calibri"/>
                <a:sym typeface="Calibri"/>
              </a:rPr>
              <a:t>Increase the magnification by changing the objective lens and re-focus.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 </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4"/>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structure part 3 – </a:t>
            </a:r>
            <a:r>
              <a:rPr lang="en-GB" sz="2400" b="1" i="0" u="none" strike="noStrike" cap="none">
                <a:solidFill>
                  <a:schemeClr val="dk1"/>
                </a:solidFill>
                <a:latin typeface="Calibri"/>
                <a:ea typeface="Calibri"/>
                <a:cs typeface="Calibri"/>
                <a:sym typeface="Calibri"/>
              </a:rPr>
              <a:t>QuestionIT (Biology ONLY)</a:t>
            </a:r>
            <a:endParaRPr/>
          </a:p>
        </p:txBody>
      </p:sp>
      <p:sp>
        <p:nvSpPr>
          <p:cNvPr id="606" name="Google Shape;606;p44"/>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607" name="Google Shape;607;p44"/>
          <p:cNvSpPr txBox="1"/>
          <p:nvPr/>
        </p:nvSpPr>
        <p:spPr>
          <a:xfrm>
            <a:off x="0" y="657041"/>
            <a:ext cx="9144000" cy="75405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200" b="1">
                <a:solidFill>
                  <a:schemeClr val="dk1"/>
                </a:solidFill>
                <a:latin typeface="Calibri"/>
                <a:ea typeface="Calibri"/>
                <a:cs typeface="Calibri"/>
                <a:sym typeface="Calibri"/>
              </a:rPr>
              <a:t>13. What is ‘binary fission’? </a:t>
            </a:r>
            <a:r>
              <a:rPr lang="en-GB" sz="2200" b="1">
                <a:solidFill>
                  <a:srgbClr val="00B050"/>
                </a:solidFill>
                <a:latin typeface="Calibri"/>
                <a:ea typeface="Calibri"/>
                <a:cs typeface="Calibri"/>
                <a:sym typeface="Calibri"/>
              </a:rPr>
              <a:t>Cell division where two identical cells to the parent cell are formed.</a:t>
            </a:r>
            <a:endParaRPr sz="2200" b="1">
              <a:solidFill>
                <a:srgbClr val="00B050"/>
              </a:solidFill>
              <a:latin typeface="Calibri"/>
              <a:ea typeface="Calibri"/>
              <a:cs typeface="Calibri"/>
              <a:sym typeface="Calibri"/>
            </a:endParaRPr>
          </a:p>
          <a:p>
            <a:pPr marL="0" marR="0" lvl="0" indent="0" algn="l" rtl="0">
              <a:spcBef>
                <a:spcPts val="0"/>
              </a:spcBef>
              <a:spcAft>
                <a:spcPts val="0"/>
              </a:spcAft>
              <a:buNone/>
            </a:pPr>
            <a:r>
              <a:rPr lang="en-GB" sz="2200" b="1">
                <a:solidFill>
                  <a:schemeClr val="dk1"/>
                </a:solidFill>
                <a:latin typeface="Calibri"/>
                <a:ea typeface="Calibri"/>
                <a:cs typeface="Calibri"/>
                <a:sym typeface="Calibri"/>
              </a:rPr>
              <a:t>14. Why do you need to sterilise Petri dished and culture mediums before use? </a:t>
            </a:r>
            <a:r>
              <a:rPr lang="en-GB" sz="2200" b="1">
                <a:solidFill>
                  <a:srgbClr val="00B050"/>
                </a:solidFill>
                <a:latin typeface="Calibri"/>
                <a:ea typeface="Calibri"/>
                <a:cs typeface="Calibri"/>
                <a:sym typeface="Calibri"/>
              </a:rPr>
              <a:t>To kill any unwanted microorganisms. </a:t>
            </a:r>
            <a:endParaRPr/>
          </a:p>
          <a:p>
            <a:pPr marL="0" marR="0" lvl="0" indent="0" algn="l" rtl="0">
              <a:spcBef>
                <a:spcPts val="0"/>
              </a:spcBef>
              <a:spcAft>
                <a:spcPts val="0"/>
              </a:spcAft>
              <a:buNone/>
            </a:pPr>
            <a:r>
              <a:rPr lang="en-GB" sz="2200" b="1">
                <a:solidFill>
                  <a:schemeClr val="dk1"/>
                </a:solidFill>
                <a:latin typeface="Calibri"/>
                <a:ea typeface="Calibri"/>
                <a:cs typeface="Calibri"/>
                <a:sym typeface="Calibri"/>
              </a:rPr>
              <a:t>15. What would you use an inoculating loop for? </a:t>
            </a:r>
            <a:r>
              <a:rPr lang="en-GB" sz="2200" b="1">
                <a:solidFill>
                  <a:srgbClr val="00B050"/>
                </a:solidFill>
                <a:latin typeface="Calibri"/>
                <a:ea typeface="Calibri"/>
                <a:cs typeface="Calibri"/>
                <a:sym typeface="Calibri"/>
              </a:rPr>
              <a:t>To transfer bacteria onto the agar.  </a:t>
            </a:r>
            <a:endParaRPr/>
          </a:p>
          <a:p>
            <a:pPr marL="0" marR="0" lvl="0" indent="0" algn="l" rtl="0">
              <a:spcBef>
                <a:spcPts val="0"/>
              </a:spcBef>
              <a:spcAft>
                <a:spcPts val="0"/>
              </a:spcAft>
              <a:buNone/>
            </a:pPr>
            <a:r>
              <a:rPr lang="en-GB" sz="2200" b="1">
                <a:solidFill>
                  <a:schemeClr val="dk1"/>
                </a:solidFill>
                <a:latin typeface="Calibri"/>
                <a:ea typeface="Calibri"/>
                <a:cs typeface="Calibri"/>
                <a:sym typeface="Calibri"/>
              </a:rPr>
              <a:t>16. How do you sterilise an inoculating loop? </a:t>
            </a:r>
            <a:r>
              <a:rPr lang="en-GB" sz="2200" b="1">
                <a:solidFill>
                  <a:srgbClr val="00B050"/>
                </a:solidFill>
                <a:latin typeface="Calibri"/>
                <a:ea typeface="Calibri"/>
                <a:cs typeface="Calibri"/>
                <a:sym typeface="Calibri"/>
              </a:rPr>
              <a:t>By heating in a Bunsen flame. </a:t>
            </a:r>
            <a:endParaRPr/>
          </a:p>
          <a:p>
            <a:pPr marL="0" marR="0" lvl="0" indent="0" algn="l" rtl="0">
              <a:spcBef>
                <a:spcPts val="0"/>
              </a:spcBef>
              <a:spcAft>
                <a:spcPts val="0"/>
              </a:spcAft>
              <a:buNone/>
            </a:pPr>
            <a:r>
              <a:rPr lang="en-GB" sz="2200" b="1">
                <a:solidFill>
                  <a:schemeClr val="dk1"/>
                </a:solidFill>
                <a:latin typeface="Calibri"/>
                <a:ea typeface="Calibri"/>
                <a:cs typeface="Calibri"/>
                <a:sym typeface="Calibri"/>
              </a:rPr>
              <a:t>17. How would you secure the lid of the Petri dish? </a:t>
            </a:r>
            <a:r>
              <a:rPr lang="en-GB" sz="2200" b="1">
                <a:solidFill>
                  <a:srgbClr val="00B050"/>
                </a:solidFill>
                <a:latin typeface="Calibri"/>
                <a:ea typeface="Calibri"/>
                <a:cs typeface="Calibri"/>
                <a:sym typeface="Calibri"/>
              </a:rPr>
              <a:t>With tape but not sealed all the way around. </a:t>
            </a:r>
            <a:endParaRPr/>
          </a:p>
          <a:p>
            <a:pPr marL="0" marR="0" lvl="0" indent="0" algn="l" rtl="0">
              <a:spcBef>
                <a:spcPts val="0"/>
              </a:spcBef>
              <a:spcAft>
                <a:spcPts val="0"/>
              </a:spcAft>
              <a:buNone/>
            </a:pPr>
            <a:r>
              <a:rPr lang="en-GB" sz="2200" b="1">
                <a:solidFill>
                  <a:schemeClr val="dk1"/>
                </a:solidFill>
                <a:latin typeface="Calibri"/>
                <a:ea typeface="Calibri"/>
                <a:cs typeface="Calibri"/>
                <a:sym typeface="Calibri"/>
              </a:rPr>
              <a:t>18. What temperature would you incubate the samples at in a school and why should you use this temperature?</a:t>
            </a:r>
            <a:r>
              <a:rPr lang="en-GB" sz="2200">
                <a:solidFill>
                  <a:schemeClr val="dk1"/>
                </a:solidFill>
                <a:latin typeface="Calibri"/>
                <a:ea typeface="Calibri"/>
                <a:cs typeface="Calibri"/>
                <a:sym typeface="Calibri"/>
              </a:rPr>
              <a:t> </a:t>
            </a:r>
            <a:r>
              <a:rPr lang="en-GB" sz="2200" b="1">
                <a:solidFill>
                  <a:srgbClr val="00B050"/>
                </a:solidFill>
                <a:latin typeface="Calibri"/>
                <a:ea typeface="Calibri"/>
                <a:cs typeface="Calibri"/>
                <a:sym typeface="Calibri"/>
              </a:rPr>
              <a:t>25</a:t>
            </a:r>
            <a:r>
              <a:rPr lang="en-GB" sz="2200" b="1" baseline="30000">
                <a:solidFill>
                  <a:srgbClr val="00B050"/>
                </a:solidFill>
                <a:latin typeface="Calibri"/>
                <a:ea typeface="Calibri"/>
                <a:cs typeface="Calibri"/>
                <a:sym typeface="Calibri"/>
              </a:rPr>
              <a:t>o</a:t>
            </a:r>
            <a:r>
              <a:rPr lang="en-GB" sz="2200" b="1">
                <a:solidFill>
                  <a:srgbClr val="00B050"/>
                </a:solidFill>
                <a:latin typeface="Calibri"/>
                <a:ea typeface="Calibri"/>
                <a:cs typeface="Calibri"/>
                <a:sym typeface="Calibri"/>
              </a:rPr>
              <a:t>C, to prevent the growth of pathogens harmful to humans.</a:t>
            </a:r>
            <a:endParaRPr/>
          </a:p>
          <a:p>
            <a:pPr marL="0" marR="0" lvl="0" indent="0" algn="l" rtl="0">
              <a:spcBef>
                <a:spcPts val="0"/>
              </a:spcBef>
              <a:spcAft>
                <a:spcPts val="0"/>
              </a:spcAft>
              <a:buNone/>
            </a:pPr>
            <a:r>
              <a:rPr lang="en-GB" sz="2200" b="1">
                <a:solidFill>
                  <a:schemeClr val="dk1"/>
                </a:solidFill>
                <a:latin typeface="Calibri"/>
                <a:ea typeface="Calibri"/>
                <a:cs typeface="Calibri"/>
                <a:sym typeface="Calibri"/>
              </a:rPr>
              <a:t>19. How can you test the effectiveness of antibiotics and disinfectants on bacteria? </a:t>
            </a:r>
            <a:r>
              <a:rPr lang="en-GB" sz="2200" b="1">
                <a:solidFill>
                  <a:srgbClr val="00B050"/>
                </a:solidFill>
                <a:latin typeface="Calibri"/>
                <a:ea typeface="Calibri"/>
                <a:cs typeface="Calibri"/>
                <a:sym typeface="Calibri"/>
              </a:rPr>
              <a:t>Inoculate agar with bacteria, place discs soaked in the solutions (water as a control) and place the discs on the agar containing bacteria. Incubate at 25</a:t>
            </a:r>
            <a:r>
              <a:rPr lang="en-GB" sz="2200" b="1" baseline="30000">
                <a:solidFill>
                  <a:srgbClr val="00B050"/>
                </a:solidFill>
                <a:latin typeface="Calibri"/>
                <a:ea typeface="Calibri"/>
                <a:cs typeface="Calibri"/>
                <a:sym typeface="Calibri"/>
              </a:rPr>
              <a:t>o</a:t>
            </a:r>
            <a:r>
              <a:rPr lang="en-GB" sz="2200" b="1">
                <a:solidFill>
                  <a:srgbClr val="00B050"/>
                </a:solidFill>
                <a:latin typeface="Calibri"/>
                <a:ea typeface="Calibri"/>
                <a:cs typeface="Calibri"/>
                <a:sym typeface="Calibri"/>
              </a:rPr>
              <a:t>C. </a:t>
            </a:r>
            <a:endParaRPr/>
          </a:p>
          <a:p>
            <a:pPr marL="0" marR="0" lvl="0" indent="0" algn="l" rtl="0">
              <a:spcBef>
                <a:spcPts val="0"/>
              </a:spcBef>
              <a:spcAft>
                <a:spcPts val="0"/>
              </a:spcAft>
              <a:buNone/>
            </a:pPr>
            <a:r>
              <a:rPr lang="en-GB" sz="2200" b="1">
                <a:solidFill>
                  <a:schemeClr val="dk1"/>
                </a:solidFill>
                <a:latin typeface="Calibri"/>
                <a:ea typeface="Calibri"/>
                <a:cs typeface="Calibri"/>
                <a:sym typeface="Calibri"/>
              </a:rPr>
              <a:t>20. What is the zone of inhibition? </a:t>
            </a:r>
            <a:r>
              <a:rPr lang="en-GB" sz="2200" b="1">
                <a:solidFill>
                  <a:srgbClr val="00B050"/>
                </a:solidFill>
                <a:latin typeface="Calibri"/>
                <a:ea typeface="Calibri"/>
                <a:cs typeface="Calibri"/>
                <a:sym typeface="Calibri"/>
              </a:rPr>
              <a:t>An area where bacteria don’t grow. </a:t>
            </a:r>
            <a:endParaRPr/>
          </a:p>
          <a:p>
            <a:pPr marL="0" marR="0" lvl="0" indent="0" algn="l" rtl="0">
              <a:spcBef>
                <a:spcPts val="0"/>
              </a:spcBef>
              <a:spcAft>
                <a:spcPts val="0"/>
              </a:spcAft>
              <a:buNone/>
            </a:pPr>
            <a:endParaRPr sz="2200" b="1">
              <a:solidFill>
                <a:schemeClr val="dk1"/>
              </a:solidFill>
              <a:latin typeface="Calibri"/>
              <a:ea typeface="Calibri"/>
              <a:cs typeface="Calibri"/>
              <a:sym typeface="Calibri"/>
            </a:endParaRPr>
          </a:p>
          <a:p>
            <a:pPr marL="0" marR="0" lvl="0" indent="0" algn="l" rtl="0">
              <a:spcBef>
                <a:spcPts val="0"/>
              </a:spcBef>
              <a:spcAft>
                <a:spcPts val="0"/>
              </a:spcAft>
              <a:buNone/>
            </a:pPr>
            <a:endParaRPr sz="2200" b="1">
              <a:solidFill>
                <a:schemeClr val="dk1"/>
              </a:solidFill>
              <a:latin typeface="Calibri"/>
              <a:ea typeface="Calibri"/>
              <a:cs typeface="Calibri"/>
              <a:sym typeface="Calibri"/>
            </a:endParaRPr>
          </a:p>
          <a:p>
            <a:pPr marL="0" marR="0" lvl="0" indent="0" algn="l" rtl="0">
              <a:spcBef>
                <a:spcPts val="0"/>
              </a:spcBef>
              <a:spcAft>
                <a:spcPts val="0"/>
              </a:spcAft>
              <a:buNone/>
            </a:pPr>
            <a:endParaRPr sz="2200" b="1">
              <a:solidFill>
                <a:schemeClr val="dk1"/>
              </a:solidFill>
              <a:latin typeface="Calibri"/>
              <a:ea typeface="Calibri"/>
              <a:cs typeface="Calibri"/>
              <a:sym typeface="Calibri"/>
            </a:endParaRPr>
          </a:p>
          <a:p>
            <a:pPr marL="0" marR="0" lvl="0" indent="0" algn="l" rtl="0">
              <a:spcBef>
                <a:spcPts val="0"/>
              </a:spcBef>
              <a:spcAft>
                <a:spcPts val="0"/>
              </a:spcAft>
              <a:buNone/>
            </a:pPr>
            <a:endParaRPr sz="2200" b="1">
              <a:solidFill>
                <a:schemeClr val="dk1"/>
              </a:solidFill>
              <a:latin typeface="Calibri"/>
              <a:ea typeface="Calibri"/>
              <a:cs typeface="Calibri"/>
              <a:sym typeface="Calibri"/>
            </a:endParaRPr>
          </a:p>
          <a:p>
            <a:pPr marL="0" marR="0" lvl="0" indent="0" algn="l" rtl="0">
              <a:spcBef>
                <a:spcPts val="0"/>
              </a:spcBef>
              <a:spcAft>
                <a:spcPts val="0"/>
              </a:spcAft>
              <a:buNone/>
            </a:pPr>
            <a:endParaRPr sz="2200" b="1">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45"/>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614" name="Google Shape;614;p45"/>
          <p:cNvSpPr txBox="1"/>
          <p:nvPr/>
        </p:nvSpPr>
        <p:spPr>
          <a:xfrm>
            <a:off x="-22696" y="675435"/>
            <a:ext cx="45720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LearnIT!</a:t>
            </a:r>
            <a:endParaRPr/>
          </a:p>
          <a:p>
            <a:pPr marL="0" marR="0" lvl="0" indent="0" algn="l" rtl="0">
              <a:spcBef>
                <a:spcPts val="0"/>
              </a:spcBef>
              <a:spcAft>
                <a:spcPts val="0"/>
              </a:spcAft>
              <a:buNone/>
            </a:pPr>
            <a:r>
              <a:rPr lang="en-GB" sz="7200" b="1">
                <a:solidFill>
                  <a:schemeClr val="dk1"/>
                </a:solidFill>
                <a:latin typeface="Calibri"/>
                <a:ea typeface="Calibri"/>
                <a:cs typeface="Calibri"/>
                <a:sym typeface="Calibri"/>
              </a:rPr>
              <a:t>KnowIT!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division</a:t>
            </a:r>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Chromosomes</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Mitosis and the cell cycle</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Stem cells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15" name="Google Shape;615;p45"/>
          <p:cNvPicPr preferRelativeResize="0"/>
          <p:nvPr/>
        </p:nvPicPr>
        <p:blipFill rotWithShape="1">
          <a:blip r:embed="rId3">
            <a:alphaModFix/>
          </a:blip>
          <a:srcRect/>
          <a:stretch/>
        </p:blipFill>
        <p:spPr>
          <a:xfrm>
            <a:off x="2642398" y="0"/>
            <a:ext cx="6538114" cy="652534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46"/>
          <p:cNvSpPr txBox="1">
            <a:spLocks noGrp="1"/>
          </p:cNvSpPr>
          <p:nvPr>
            <p:ph type="ctrTitle"/>
          </p:nvPr>
        </p:nvSpPr>
        <p:spPr>
          <a:xfrm>
            <a:off x="1619672" y="0"/>
            <a:ext cx="7524328"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Cell division - Chromosomes</a:t>
            </a:r>
            <a:endParaRPr sz="2400" b="1">
              <a:solidFill>
                <a:schemeClr val="accent6"/>
              </a:solidFill>
            </a:endParaRPr>
          </a:p>
        </p:txBody>
      </p:sp>
      <p:pic>
        <p:nvPicPr>
          <p:cNvPr id="622" name="Google Shape;622;p46"/>
          <p:cNvPicPr preferRelativeResize="0"/>
          <p:nvPr/>
        </p:nvPicPr>
        <p:blipFill rotWithShape="1">
          <a:blip r:embed="rId3">
            <a:alphaModFix/>
          </a:blip>
          <a:srcRect/>
          <a:stretch/>
        </p:blipFill>
        <p:spPr>
          <a:xfrm>
            <a:off x="187111" y="750627"/>
            <a:ext cx="4067944" cy="3076170"/>
          </a:xfrm>
          <a:prstGeom prst="rect">
            <a:avLst/>
          </a:prstGeom>
          <a:noFill/>
          <a:ln>
            <a:noFill/>
          </a:ln>
        </p:spPr>
      </p:pic>
      <p:sp>
        <p:nvSpPr>
          <p:cNvPr id="623" name="Google Shape;623;p46"/>
          <p:cNvSpPr/>
          <p:nvPr/>
        </p:nvSpPr>
        <p:spPr>
          <a:xfrm>
            <a:off x="187111" y="3843765"/>
            <a:ext cx="4318297" cy="2554545"/>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nucleus</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of a cell contains the </a:t>
            </a:r>
            <a:r>
              <a:rPr lang="en-GB" sz="2000" b="1">
                <a:solidFill>
                  <a:srgbClr val="E36C09"/>
                </a:solidFill>
                <a:latin typeface="Calibri"/>
                <a:ea typeface="Calibri"/>
                <a:cs typeface="Calibri"/>
                <a:sym typeface="Calibri"/>
              </a:rPr>
              <a:t>instructions</a:t>
            </a:r>
            <a:r>
              <a:rPr lang="en-GB" sz="2000">
                <a:solidFill>
                  <a:schemeClr val="dk1"/>
                </a:solidFill>
                <a:latin typeface="Calibri"/>
                <a:ea typeface="Calibri"/>
                <a:cs typeface="Calibri"/>
                <a:sym typeface="Calibri"/>
              </a:rPr>
              <a:t> for </a:t>
            </a:r>
            <a:r>
              <a:rPr lang="en-GB" sz="2000" b="1">
                <a:solidFill>
                  <a:srgbClr val="E36C09"/>
                </a:solidFill>
                <a:latin typeface="Calibri"/>
                <a:ea typeface="Calibri"/>
                <a:cs typeface="Calibri"/>
                <a:sym typeface="Calibri"/>
              </a:rPr>
              <a:t>making proteins </a:t>
            </a:r>
            <a:r>
              <a:rPr lang="en-GB" sz="2000">
                <a:solidFill>
                  <a:schemeClr val="dk1"/>
                </a:solidFill>
                <a:latin typeface="Calibri"/>
                <a:ea typeface="Calibri"/>
                <a:cs typeface="Calibri"/>
                <a:sym typeface="Calibri"/>
              </a:rPr>
              <a:t>and new cells. In the nucleus there are structures called </a:t>
            </a:r>
            <a:r>
              <a:rPr lang="en-GB" sz="2000" b="1">
                <a:solidFill>
                  <a:srgbClr val="E36C09"/>
                </a:solidFill>
                <a:latin typeface="Calibri"/>
                <a:ea typeface="Calibri"/>
                <a:cs typeface="Calibri"/>
                <a:sym typeface="Calibri"/>
              </a:rPr>
              <a:t>chromosomes</a:t>
            </a:r>
            <a:r>
              <a:rPr lang="en-GB" sz="2000">
                <a:solidFill>
                  <a:schemeClr val="dk1"/>
                </a:solidFill>
                <a:latin typeface="Calibri"/>
                <a:ea typeface="Calibri"/>
                <a:cs typeface="Calibri"/>
                <a:sym typeface="Calibri"/>
              </a:rPr>
              <a:t>. The chromosomes are made of coiled strands of </a:t>
            </a:r>
            <a:r>
              <a:rPr lang="en-GB" sz="2000" b="1">
                <a:solidFill>
                  <a:srgbClr val="E36C09"/>
                </a:solidFill>
                <a:latin typeface="Calibri"/>
                <a:ea typeface="Calibri"/>
                <a:cs typeface="Calibri"/>
                <a:sym typeface="Calibri"/>
              </a:rPr>
              <a:t>DNA </a:t>
            </a:r>
            <a:r>
              <a:rPr lang="en-GB" sz="2000">
                <a:solidFill>
                  <a:schemeClr val="dk1"/>
                </a:solidFill>
                <a:latin typeface="Calibri"/>
                <a:ea typeface="Calibri"/>
                <a:cs typeface="Calibri"/>
                <a:sym typeface="Calibri"/>
              </a:rPr>
              <a:t>molecules. A section of DNA that codes for a specific protein or characteristic is called a </a:t>
            </a:r>
            <a:r>
              <a:rPr lang="en-GB" sz="2000" b="1">
                <a:solidFill>
                  <a:srgbClr val="E36C09"/>
                </a:solidFill>
                <a:latin typeface="Calibri"/>
                <a:ea typeface="Calibri"/>
                <a:cs typeface="Calibri"/>
                <a:sym typeface="Calibri"/>
              </a:rPr>
              <a:t>gene</a:t>
            </a:r>
            <a:r>
              <a:rPr lang="en-GB" sz="2000">
                <a:solidFill>
                  <a:schemeClr val="dk1"/>
                </a:solidFill>
                <a:latin typeface="Calibri"/>
                <a:ea typeface="Calibri"/>
                <a:cs typeface="Calibri"/>
                <a:sym typeface="Calibri"/>
              </a:rPr>
              <a:t>. </a:t>
            </a:r>
            <a:endParaRPr/>
          </a:p>
        </p:txBody>
      </p:sp>
      <p:sp>
        <p:nvSpPr>
          <p:cNvPr id="624" name="Google Shape;624;p46"/>
          <p:cNvSpPr/>
          <p:nvPr/>
        </p:nvSpPr>
        <p:spPr>
          <a:xfrm>
            <a:off x="4716016" y="750627"/>
            <a:ext cx="4288880" cy="13234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a:solidFill>
                  <a:schemeClr val="dk1"/>
                </a:solidFill>
                <a:latin typeface="Calibri"/>
                <a:ea typeface="Calibri"/>
                <a:cs typeface="Calibri"/>
                <a:sym typeface="Calibri"/>
              </a:rPr>
              <a:t>In </a:t>
            </a:r>
            <a:r>
              <a:rPr lang="en-GB" sz="2000" b="1">
                <a:solidFill>
                  <a:srgbClr val="E36C09"/>
                </a:solidFill>
                <a:latin typeface="Calibri"/>
                <a:ea typeface="Calibri"/>
                <a:cs typeface="Calibri"/>
                <a:sym typeface="Calibri"/>
              </a:rPr>
              <a:t>human</a:t>
            </a:r>
            <a:r>
              <a:rPr lang="en-GB" sz="2000">
                <a:solidFill>
                  <a:schemeClr val="dk1"/>
                </a:solidFill>
                <a:latin typeface="Calibri"/>
                <a:ea typeface="Calibri"/>
                <a:cs typeface="Calibri"/>
                <a:sym typeface="Calibri"/>
              </a:rPr>
              <a:t> </a:t>
            </a:r>
            <a:r>
              <a:rPr lang="en-GB" sz="2000" b="1">
                <a:solidFill>
                  <a:srgbClr val="E36C09"/>
                </a:solidFill>
                <a:latin typeface="Calibri"/>
                <a:ea typeface="Calibri"/>
                <a:cs typeface="Calibri"/>
                <a:sym typeface="Calibri"/>
              </a:rPr>
              <a:t>body cells </a:t>
            </a: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chromosomes</a:t>
            </a:r>
            <a:r>
              <a:rPr lang="en-GB" sz="2000">
                <a:solidFill>
                  <a:schemeClr val="dk1"/>
                </a:solidFill>
                <a:latin typeface="Calibri"/>
                <a:ea typeface="Calibri"/>
                <a:cs typeface="Calibri"/>
                <a:sym typeface="Calibri"/>
              </a:rPr>
              <a:t> are normally found in </a:t>
            </a:r>
            <a:r>
              <a:rPr lang="en-GB" sz="2000" b="1">
                <a:solidFill>
                  <a:srgbClr val="E36C09"/>
                </a:solidFill>
                <a:latin typeface="Calibri"/>
                <a:ea typeface="Calibri"/>
                <a:cs typeface="Calibri"/>
                <a:sym typeface="Calibri"/>
              </a:rPr>
              <a:t>pairs</a:t>
            </a:r>
            <a:r>
              <a:rPr lang="en-GB" sz="2000">
                <a:solidFill>
                  <a:schemeClr val="dk1"/>
                </a:solidFill>
                <a:latin typeface="Calibri"/>
                <a:ea typeface="Calibri"/>
                <a:cs typeface="Calibri"/>
                <a:sym typeface="Calibri"/>
              </a:rPr>
              <a:t>. The karyotype diagram below shows the </a:t>
            </a:r>
            <a:r>
              <a:rPr lang="en-GB" sz="2000" b="1">
                <a:solidFill>
                  <a:srgbClr val="E36C09"/>
                </a:solidFill>
                <a:latin typeface="Calibri"/>
                <a:ea typeface="Calibri"/>
                <a:cs typeface="Calibri"/>
                <a:sym typeface="Calibri"/>
              </a:rPr>
              <a:t>23 chromosome pairs </a:t>
            </a:r>
            <a:r>
              <a:rPr lang="en-GB" sz="2000">
                <a:solidFill>
                  <a:schemeClr val="dk1"/>
                </a:solidFill>
                <a:latin typeface="Calibri"/>
                <a:ea typeface="Calibri"/>
                <a:cs typeface="Calibri"/>
                <a:sym typeface="Calibri"/>
              </a:rPr>
              <a:t>for a female human. </a:t>
            </a:r>
            <a:endParaRPr/>
          </a:p>
        </p:txBody>
      </p:sp>
      <p:pic>
        <p:nvPicPr>
          <p:cNvPr id="625" name="Google Shape;625;p46"/>
          <p:cNvPicPr preferRelativeResize="0"/>
          <p:nvPr/>
        </p:nvPicPr>
        <p:blipFill rotWithShape="1">
          <a:blip r:embed="rId4">
            <a:alphaModFix/>
          </a:blip>
          <a:srcRect t="11706" b="36808"/>
          <a:stretch/>
        </p:blipFill>
        <p:spPr>
          <a:xfrm>
            <a:off x="4966922" y="2097713"/>
            <a:ext cx="3787068" cy="2662673"/>
          </a:xfrm>
          <a:prstGeom prst="rect">
            <a:avLst/>
          </a:prstGeom>
          <a:noFill/>
          <a:ln>
            <a:noFill/>
          </a:ln>
        </p:spPr>
      </p:pic>
      <p:sp>
        <p:nvSpPr>
          <p:cNvPr id="626" name="Google Shape;626;p46"/>
          <p:cNvSpPr/>
          <p:nvPr/>
        </p:nvSpPr>
        <p:spPr>
          <a:xfrm>
            <a:off x="4687391" y="5047857"/>
            <a:ext cx="4288879"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a:solidFill>
                  <a:schemeClr val="dk1"/>
                </a:solidFill>
                <a:latin typeface="Calibri"/>
                <a:ea typeface="Calibri"/>
                <a:cs typeface="Calibri"/>
                <a:sym typeface="Calibri"/>
              </a:rPr>
              <a:t>Human have are around </a:t>
            </a:r>
            <a:r>
              <a:rPr lang="en-GB" sz="2000" b="1">
                <a:solidFill>
                  <a:srgbClr val="E36C09"/>
                </a:solidFill>
                <a:latin typeface="Calibri"/>
                <a:ea typeface="Calibri"/>
                <a:cs typeface="Calibri"/>
                <a:sym typeface="Calibri"/>
              </a:rPr>
              <a:t>24,000 genes </a:t>
            </a:r>
            <a:r>
              <a:rPr lang="en-GB" sz="2000">
                <a:solidFill>
                  <a:schemeClr val="dk1"/>
                </a:solidFill>
                <a:latin typeface="Calibri"/>
                <a:ea typeface="Calibri"/>
                <a:cs typeface="Calibri"/>
                <a:sym typeface="Calibri"/>
              </a:rPr>
              <a:t>and there are up to </a:t>
            </a:r>
            <a:r>
              <a:rPr lang="en-GB" sz="2000" b="1">
                <a:solidFill>
                  <a:srgbClr val="E36C09"/>
                </a:solidFill>
                <a:latin typeface="Calibri"/>
                <a:ea typeface="Calibri"/>
                <a:cs typeface="Calibri"/>
                <a:sym typeface="Calibri"/>
              </a:rPr>
              <a:t>2,000 genes </a:t>
            </a:r>
            <a:r>
              <a:rPr lang="en-GB" sz="2000">
                <a:solidFill>
                  <a:schemeClr val="dk1"/>
                </a:solidFill>
                <a:latin typeface="Calibri"/>
                <a:ea typeface="Calibri"/>
                <a:cs typeface="Calibri"/>
                <a:sym typeface="Calibri"/>
              </a:rPr>
              <a:t>in </a:t>
            </a:r>
            <a:r>
              <a:rPr lang="en-GB" sz="2000" b="1">
                <a:solidFill>
                  <a:srgbClr val="E36C09"/>
                </a:solidFill>
                <a:latin typeface="Calibri"/>
                <a:ea typeface="Calibri"/>
                <a:cs typeface="Calibri"/>
                <a:sym typeface="Calibri"/>
              </a:rPr>
              <a:t>one</a:t>
            </a:r>
            <a:r>
              <a:rPr lang="en-GB" sz="2000">
                <a:solidFill>
                  <a:schemeClr val="dk1"/>
                </a:solidFill>
                <a:latin typeface="Calibri"/>
                <a:ea typeface="Calibri"/>
                <a:cs typeface="Calibri"/>
                <a:sym typeface="Calibri"/>
              </a:rPr>
              <a:t> human chromosome.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47"/>
          <p:cNvSpPr txBox="1">
            <a:spLocks noGrp="1"/>
          </p:cNvSpPr>
          <p:nvPr>
            <p:ph type="ctrTitle"/>
          </p:nvPr>
        </p:nvSpPr>
        <p:spPr>
          <a:xfrm>
            <a:off x="1619672" y="0"/>
            <a:ext cx="7524328"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Cell division - Mitosis and the cell cycle</a:t>
            </a:r>
            <a:endParaRPr/>
          </a:p>
        </p:txBody>
      </p:sp>
      <p:sp>
        <p:nvSpPr>
          <p:cNvPr id="633" name="Google Shape;633;p47"/>
          <p:cNvSpPr/>
          <p:nvPr/>
        </p:nvSpPr>
        <p:spPr>
          <a:xfrm>
            <a:off x="107504" y="1676941"/>
            <a:ext cx="8856533" cy="70788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36C09"/>
                </a:solidFill>
                <a:latin typeface="Calibri"/>
                <a:ea typeface="Calibri"/>
                <a:cs typeface="Calibri"/>
                <a:sym typeface="Calibri"/>
              </a:rPr>
              <a:t>Stage 1  – Growth: </a:t>
            </a:r>
            <a:r>
              <a:rPr lang="en-GB" sz="2000">
                <a:solidFill>
                  <a:schemeClr val="dk1"/>
                </a:solidFill>
                <a:latin typeface="Calibri"/>
                <a:ea typeface="Calibri"/>
                <a:cs typeface="Calibri"/>
                <a:sym typeface="Calibri"/>
              </a:rPr>
              <a:t>Before a cell can divide it needs to grow and increase the number of sub-cellular structures such as ribosomes and mitochondria. </a:t>
            </a:r>
            <a:endParaRPr sz="2000">
              <a:solidFill>
                <a:schemeClr val="dk1"/>
              </a:solidFill>
              <a:latin typeface="Calibri"/>
              <a:ea typeface="Calibri"/>
              <a:cs typeface="Calibri"/>
              <a:sym typeface="Calibri"/>
            </a:endParaRPr>
          </a:p>
        </p:txBody>
      </p:sp>
      <p:sp>
        <p:nvSpPr>
          <p:cNvPr id="634" name="Google Shape;634;p47"/>
          <p:cNvSpPr/>
          <p:nvPr/>
        </p:nvSpPr>
        <p:spPr>
          <a:xfrm>
            <a:off x="122313" y="2486762"/>
            <a:ext cx="8841724" cy="70788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36C09"/>
                </a:solidFill>
                <a:latin typeface="Calibri"/>
                <a:ea typeface="Calibri"/>
                <a:cs typeface="Calibri"/>
                <a:sym typeface="Calibri"/>
              </a:rPr>
              <a:t>Stage 2 - DNA synthesis: </a:t>
            </a:r>
            <a:r>
              <a:rPr lang="en-GB" sz="2000">
                <a:solidFill>
                  <a:schemeClr val="dk1"/>
                </a:solidFill>
                <a:latin typeface="Calibri"/>
                <a:ea typeface="Calibri"/>
                <a:cs typeface="Calibri"/>
                <a:sym typeface="Calibri"/>
              </a:rPr>
              <a:t>The DNA replicates to form two copies of each chromosome.</a:t>
            </a:r>
            <a:endParaRPr/>
          </a:p>
        </p:txBody>
      </p:sp>
      <p:sp>
        <p:nvSpPr>
          <p:cNvPr id="635" name="Google Shape;635;p47"/>
          <p:cNvSpPr/>
          <p:nvPr/>
        </p:nvSpPr>
        <p:spPr>
          <a:xfrm>
            <a:off x="122313" y="3292438"/>
            <a:ext cx="8805722" cy="101566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36C09"/>
                </a:solidFill>
                <a:latin typeface="Calibri"/>
                <a:ea typeface="Calibri"/>
                <a:cs typeface="Calibri"/>
                <a:sym typeface="Calibri"/>
              </a:rPr>
              <a:t>Stage 3 – Mitosis: </a:t>
            </a:r>
            <a:r>
              <a:rPr lang="en-GB" sz="2000">
                <a:solidFill>
                  <a:schemeClr val="dk1"/>
                </a:solidFill>
                <a:latin typeface="Calibri"/>
                <a:ea typeface="Calibri"/>
                <a:cs typeface="Calibri"/>
                <a:sym typeface="Calibri"/>
              </a:rPr>
              <a:t>One set of chromosomes is pulled to each end of the cell and the nucleus divides. Then the cytoplasm and cell membranes divide to form two cells that are identical to the parent cell. </a:t>
            </a:r>
            <a:endParaRPr/>
          </a:p>
        </p:txBody>
      </p:sp>
      <p:sp>
        <p:nvSpPr>
          <p:cNvPr id="636" name="Google Shape;636;p47"/>
          <p:cNvSpPr/>
          <p:nvPr/>
        </p:nvSpPr>
        <p:spPr>
          <a:xfrm>
            <a:off x="239106" y="817870"/>
            <a:ext cx="8724931"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a:solidFill>
                  <a:schemeClr val="dk1"/>
                </a:solidFill>
                <a:latin typeface="Calibri"/>
                <a:ea typeface="Calibri"/>
                <a:cs typeface="Calibri"/>
                <a:sym typeface="Calibri"/>
              </a:rPr>
              <a:t>In the </a:t>
            </a:r>
            <a:r>
              <a:rPr lang="en-GB" sz="2400" b="1">
                <a:solidFill>
                  <a:srgbClr val="E36C09"/>
                </a:solidFill>
                <a:latin typeface="Calibri"/>
                <a:ea typeface="Calibri"/>
                <a:cs typeface="Calibri"/>
                <a:sym typeface="Calibri"/>
              </a:rPr>
              <a:t>cell cycle, </a:t>
            </a:r>
            <a:r>
              <a:rPr lang="en-GB" sz="2400">
                <a:solidFill>
                  <a:schemeClr val="dk1"/>
                </a:solidFill>
                <a:latin typeface="Calibri"/>
                <a:ea typeface="Calibri"/>
                <a:cs typeface="Calibri"/>
                <a:sym typeface="Calibri"/>
              </a:rPr>
              <a:t>cells divide in a series of </a:t>
            </a:r>
            <a:r>
              <a:rPr lang="en-GB" sz="2400" b="1">
                <a:solidFill>
                  <a:srgbClr val="E36C09"/>
                </a:solidFill>
                <a:latin typeface="Calibri"/>
                <a:ea typeface="Calibri"/>
                <a:cs typeface="Calibri"/>
                <a:sym typeface="Calibri"/>
              </a:rPr>
              <a:t>stages</a:t>
            </a:r>
            <a:r>
              <a:rPr lang="en-GB" sz="2400">
                <a:solidFill>
                  <a:schemeClr val="dk1"/>
                </a:solidFill>
                <a:latin typeface="Calibri"/>
                <a:ea typeface="Calibri"/>
                <a:cs typeface="Calibri"/>
                <a:sym typeface="Calibri"/>
              </a:rPr>
              <a:t>. The </a:t>
            </a:r>
            <a:r>
              <a:rPr lang="en-GB" sz="2400" b="1">
                <a:solidFill>
                  <a:srgbClr val="E36C09"/>
                </a:solidFill>
                <a:latin typeface="Calibri"/>
                <a:ea typeface="Calibri"/>
                <a:cs typeface="Calibri"/>
                <a:sym typeface="Calibri"/>
              </a:rPr>
              <a:t>genetic material </a:t>
            </a:r>
            <a:r>
              <a:rPr lang="en-GB" sz="2400">
                <a:solidFill>
                  <a:schemeClr val="dk1"/>
                </a:solidFill>
                <a:latin typeface="Calibri"/>
                <a:ea typeface="Calibri"/>
                <a:cs typeface="Calibri"/>
                <a:sym typeface="Calibri"/>
              </a:rPr>
              <a:t>is </a:t>
            </a:r>
            <a:r>
              <a:rPr lang="en-GB" sz="2400" b="1">
                <a:solidFill>
                  <a:srgbClr val="E36C09"/>
                </a:solidFill>
                <a:latin typeface="Calibri"/>
                <a:ea typeface="Calibri"/>
                <a:cs typeface="Calibri"/>
                <a:sym typeface="Calibri"/>
              </a:rPr>
              <a:t>doubled</a:t>
            </a:r>
            <a:r>
              <a:rPr lang="en-GB" sz="2400">
                <a:solidFill>
                  <a:srgbClr val="E36C09"/>
                </a:solidFill>
                <a:latin typeface="Calibri"/>
                <a:ea typeface="Calibri"/>
                <a:cs typeface="Calibri"/>
                <a:sym typeface="Calibri"/>
              </a:rPr>
              <a:t> </a:t>
            </a:r>
            <a:r>
              <a:rPr lang="en-GB" sz="2400">
                <a:solidFill>
                  <a:schemeClr val="dk1"/>
                </a:solidFill>
                <a:latin typeface="Calibri"/>
                <a:ea typeface="Calibri"/>
                <a:cs typeface="Calibri"/>
                <a:sym typeface="Calibri"/>
              </a:rPr>
              <a:t>and then </a:t>
            </a:r>
            <a:r>
              <a:rPr lang="en-GB" sz="2400" b="1">
                <a:solidFill>
                  <a:srgbClr val="E36C09"/>
                </a:solidFill>
                <a:latin typeface="Calibri"/>
                <a:ea typeface="Calibri"/>
                <a:cs typeface="Calibri"/>
                <a:sym typeface="Calibri"/>
              </a:rPr>
              <a:t>divided</a:t>
            </a:r>
            <a:r>
              <a:rPr lang="en-GB" sz="2400">
                <a:solidFill>
                  <a:schemeClr val="dk1"/>
                </a:solidFill>
                <a:latin typeface="Calibri"/>
                <a:ea typeface="Calibri"/>
                <a:cs typeface="Calibri"/>
                <a:sym typeface="Calibri"/>
              </a:rPr>
              <a:t>  into </a:t>
            </a:r>
            <a:r>
              <a:rPr lang="en-GB" sz="2400" b="1">
                <a:solidFill>
                  <a:srgbClr val="E36C09"/>
                </a:solidFill>
                <a:latin typeface="Calibri"/>
                <a:ea typeface="Calibri"/>
                <a:cs typeface="Calibri"/>
                <a:sym typeface="Calibri"/>
              </a:rPr>
              <a:t>two identical cells</a:t>
            </a:r>
            <a:r>
              <a:rPr lang="en-GB" sz="2400">
                <a:solidFill>
                  <a:schemeClr val="dk1"/>
                </a:solidFill>
                <a:latin typeface="Calibri"/>
                <a:ea typeface="Calibri"/>
                <a:cs typeface="Calibri"/>
                <a:sym typeface="Calibri"/>
              </a:rPr>
              <a:t>.</a:t>
            </a:r>
            <a:endParaRPr/>
          </a:p>
        </p:txBody>
      </p:sp>
      <p:pic>
        <p:nvPicPr>
          <p:cNvPr id="637" name="Google Shape;637;p47"/>
          <p:cNvPicPr preferRelativeResize="0"/>
          <p:nvPr/>
        </p:nvPicPr>
        <p:blipFill rotWithShape="1">
          <a:blip r:embed="rId3">
            <a:alphaModFix/>
          </a:blip>
          <a:srcRect/>
          <a:stretch/>
        </p:blipFill>
        <p:spPr>
          <a:xfrm>
            <a:off x="127495" y="4149322"/>
            <a:ext cx="6222768" cy="2261976"/>
          </a:xfrm>
          <a:prstGeom prst="rect">
            <a:avLst/>
          </a:prstGeom>
          <a:noFill/>
          <a:ln>
            <a:noFill/>
          </a:ln>
        </p:spPr>
      </p:pic>
      <p:sp>
        <p:nvSpPr>
          <p:cNvPr id="638" name="Google Shape;638;p47"/>
          <p:cNvSpPr txBox="1"/>
          <p:nvPr/>
        </p:nvSpPr>
        <p:spPr>
          <a:xfrm>
            <a:off x="6141856" y="4149322"/>
            <a:ext cx="2857791" cy="22467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E36C09"/>
                </a:solidFill>
                <a:latin typeface="Calibri"/>
                <a:ea typeface="Calibri"/>
                <a:cs typeface="Calibri"/>
                <a:sym typeface="Calibri"/>
              </a:rPr>
              <a:t>Mitosis occurs during growth and to repair or replace damaged cells. </a:t>
            </a:r>
            <a:endParaRPr/>
          </a:p>
          <a:p>
            <a:pPr marL="0" marR="0" lvl="0" indent="0" algn="ctr" rtl="0">
              <a:spcBef>
                <a:spcPts val="0"/>
              </a:spcBef>
              <a:spcAft>
                <a:spcPts val="0"/>
              </a:spcAft>
              <a:buNone/>
            </a:pPr>
            <a:r>
              <a:rPr lang="en-GB" sz="2000" b="1">
                <a:solidFill>
                  <a:srgbClr val="E36C09"/>
                </a:solidFill>
                <a:latin typeface="Calibri"/>
                <a:ea typeface="Calibri"/>
                <a:cs typeface="Calibri"/>
                <a:sym typeface="Calibri"/>
              </a:rPr>
              <a:t>Asexual reproduction occurs by mitosis in both plants and simple animals.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48"/>
          <p:cNvSpPr txBox="1">
            <a:spLocks noGrp="1"/>
          </p:cNvSpPr>
          <p:nvPr>
            <p:ph type="ctrTitle"/>
          </p:nvPr>
        </p:nvSpPr>
        <p:spPr>
          <a:xfrm>
            <a:off x="2267744" y="0"/>
            <a:ext cx="6876256"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division - </a:t>
            </a:r>
            <a:r>
              <a:rPr lang="en-GB" sz="2400" b="1" i="0" u="none" strike="noStrike" cap="none">
                <a:solidFill>
                  <a:schemeClr val="accent6"/>
                </a:solidFill>
                <a:latin typeface="Calibri"/>
                <a:ea typeface="Calibri"/>
                <a:cs typeface="Calibri"/>
                <a:sym typeface="Calibri"/>
              </a:rPr>
              <a:t>Stem Cells - animals</a:t>
            </a:r>
            <a:endParaRPr/>
          </a:p>
        </p:txBody>
      </p:sp>
      <p:sp>
        <p:nvSpPr>
          <p:cNvPr id="644" name="Google Shape;644;p48"/>
          <p:cNvSpPr/>
          <p:nvPr/>
        </p:nvSpPr>
        <p:spPr>
          <a:xfrm>
            <a:off x="120424" y="1729834"/>
            <a:ext cx="5891736" cy="1938992"/>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E36C09"/>
                </a:solidFill>
                <a:latin typeface="Calibri"/>
                <a:ea typeface="Calibri"/>
                <a:cs typeface="Calibri"/>
                <a:sym typeface="Calibri"/>
              </a:rPr>
              <a:t>Human embryo</a:t>
            </a:r>
            <a:r>
              <a:rPr lang="en-GB" sz="2000">
                <a:solidFill>
                  <a:srgbClr val="E36C09"/>
                </a:solidFill>
                <a:latin typeface="Calibri"/>
                <a:ea typeface="Calibri"/>
                <a:cs typeface="Calibri"/>
                <a:sym typeface="Calibri"/>
              </a:rPr>
              <a:t> </a:t>
            </a:r>
            <a:r>
              <a:rPr lang="en-GB" sz="2000" b="1">
                <a:solidFill>
                  <a:srgbClr val="E36C09"/>
                </a:solidFill>
                <a:latin typeface="Calibri"/>
                <a:ea typeface="Calibri"/>
                <a:cs typeface="Calibri"/>
                <a:sym typeface="Calibri"/>
              </a:rPr>
              <a:t>stem cells: </a:t>
            </a:r>
            <a:r>
              <a:rPr lang="en-GB" sz="2000">
                <a:solidFill>
                  <a:schemeClr val="dk1"/>
                </a:solidFill>
                <a:latin typeface="Calibri"/>
                <a:ea typeface="Calibri"/>
                <a:cs typeface="Calibri"/>
                <a:sym typeface="Calibri"/>
              </a:rPr>
              <a:t>can be cloned and made to </a:t>
            </a:r>
            <a:r>
              <a:rPr lang="en-GB" sz="2000" b="1">
                <a:solidFill>
                  <a:srgbClr val="E36C09"/>
                </a:solidFill>
                <a:latin typeface="Calibri"/>
                <a:ea typeface="Calibri"/>
                <a:cs typeface="Calibri"/>
                <a:sym typeface="Calibri"/>
              </a:rPr>
              <a:t>differentiate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into </a:t>
            </a:r>
            <a:r>
              <a:rPr lang="en-GB" sz="2000" b="1">
                <a:solidFill>
                  <a:srgbClr val="E36C09"/>
                </a:solidFill>
                <a:latin typeface="Calibri"/>
                <a:ea typeface="Calibri"/>
                <a:cs typeface="Calibri"/>
                <a:sym typeface="Calibri"/>
              </a:rPr>
              <a:t>most </a:t>
            </a:r>
            <a:r>
              <a:rPr lang="en-GB" sz="2000">
                <a:solidFill>
                  <a:schemeClr val="dk1"/>
                </a:solidFill>
                <a:latin typeface="Calibri"/>
                <a:ea typeface="Calibri"/>
                <a:cs typeface="Calibri"/>
                <a:sym typeface="Calibri"/>
              </a:rPr>
              <a:t>different types of human cells.</a:t>
            </a:r>
            <a:endParaRPr/>
          </a:p>
          <a:p>
            <a:pPr marL="0" marR="0" lvl="0" indent="0" algn="ctr" rtl="0">
              <a:spcBef>
                <a:spcPts val="0"/>
              </a:spcBef>
              <a:spcAft>
                <a:spcPts val="0"/>
              </a:spcAft>
              <a:buNone/>
            </a:pPr>
            <a:r>
              <a:rPr lang="en-GB" sz="2000" b="1">
                <a:solidFill>
                  <a:srgbClr val="E36C09"/>
                </a:solidFill>
                <a:latin typeface="Calibri"/>
                <a:ea typeface="Calibri"/>
                <a:cs typeface="Calibri"/>
                <a:sym typeface="Calibri"/>
              </a:rPr>
              <a:t>Human adult stem cells: </a:t>
            </a:r>
            <a:r>
              <a:rPr lang="en-GB" sz="2000">
                <a:solidFill>
                  <a:schemeClr val="dk1"/>
                </a:solidFill>
                <a:latin typeface="Calibri"/>
                <a:ea typeface="Calibri"/>
                <a:cs typeface="Calibri"/>
                <a:sym typeface="Calibri"/>
              </a:rPr>
              <a:t>can form </a:t>
            </a:r>
            <a:r>
              <a:rPr lang="en-GB" sz="2000" b="1">
                <a:solidFill>
                  <a:srgbClr val="E36C09"/>
                </a:solidFill>
                <a:latin typeface="Calibri"/>
                <a:ea typeface="Calibri"/>
                <a:cs typeface="Calibri"/>
                <a:sym typeface="Calibri"/>
              </a:rPr>
              <a:t>many</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(but not all) types of cells including blood cells.</a:t>
            </a:r>
            <a:endParaRPr/>
          </a:p>
          <a:p>
            <a:pPr marL="0" marR="0" lvl="0" indent="0" algn="ctr" rtl="0">
              <a:spcBef>
                <a:spcPts val="0"/>
              </a:spcBef>
              <a:spcAft>
                <a:spcPts val="0"/>
              </a:spcAft>
              <a:buNone/>
            </a:pPr>
            <a:r>
              <a:rPr lang="en-GB" sz="2000" b="1">
                <a:solidFill>
                  <a:srgbClr val="E36C09"/>
                </a:solidFill>
                <a:latin typeface="Calibri"/>
                <a:ea typeface="Calibri"/>
                <a:cs typeface="Calibri"/>
                <a:sym typeface="Calibri"/>
              </a:rPr>
              <a:t>Human stem cells can be used to help treat diseases like diabetes and paralysis.</a:t>
            </a:r>
            <a:endParaRPr/>
          </a:p>
        </p:txBody>
      </p:sp>
      <p:pic>
        <p:nvPicPr>
          <p:cNvPr id="645" name="Google Shape;645;p48"/>
          <p:cNvPicPr preferRelativeResize="0"/>
          <p:nvPr/>
        </p:nvPicPr>
        <p:blipFill rotWithShape="1">
          <a:blip r:embed="rId3">
            <a:alphaModFix/>
          </a:blip>
          <a:srcRect t="17808"/>
          <a:stretch/>
        </p:blipFill>
        <p:spPr>
          <a:xfrm>
            <a:off x="6156176" y="1713266"/>
            <a:ext cx="2813171" cy="1905021"/>
          </a:xfrm>
          <a:prstGeom prst="rect">
            <a:avLst/>
          </a:prstGeom>
          <a:noFill/>
          <a:ln>
            <a:noFill/>
          </a:ln>
        </p:spPr>
      </p:pic>
      <p:sp>
        <p:nvSpPr>
          <p:cNvPr id="646" name="Google Shape;646;p48"/>
          <p:cNvSpPr/>
          <p:nvPr/>
        </p:nvSpPr>
        <p:spPr>
          <a:xfrm>
            <a:off x="120424" y="808717"/>
            <a:ext cx="9023576" cy="769441"/>
          </a:xfrm>
          <a:prstGeom prst="rect">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GB" sz="2200">
                <a:solidFill>
                  <a:schemeClr val="dk1"/>
                </a:solidFill>
                <a:latin typeface="Calibri"/>
                <a:ea typeface="Calibri"/>
                <a:cs typeface="Calibri"/>
                <a:sym typeface="Calibri"/>
              </a:rPr>
              <a:t>Stem cells are undifferentiated cells within an organism. They can produce other stem cells that can then differentiate into many different types of cells.  </a:t>
            </a:r>
            <a:endParaRPr sz="2200">
              <a:solidFill>
                <a:schemeClr val="dk1"/>
              </a:solidFill>
              <a:latin typeface="Calibri"/>
              <a:ea typeface="Calibri"/>
              <a:cs typeface="Calibri"/>
              <a:sym typeface="Calibri"/>
            </a:endParaRPr>
          </a:p>
        </p:txBody>
      </p:sp>
      <p:sp>
        <p:nvSpPr>
          <p:cNvPr id="647" name="Google Shape;647;p48"/>
          <p:cNvSpPr/>
          <p:nvPr/>
        </p:nvSpPr>
        <p:spPr>
          <a:xfrm>
            <a:off x="124779" y="3753395"/>
            <a:ext cx="9019221" cy="255454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E36C09"/>
                </a:solidFill>
                <a:latin typeface="Calibri"/>
                <a:ea typeface="Calibri"/>
                <a:cs typeface="Calibri"/>
                <a:sym typeface="Calibri"/>
              </a:rPr>
              <a:t>Embryos</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produced by </a:t>
            </a:r>
            <a:r>
              <a:rPr lang="en-GB" sz="2000" b="1">
                <a:solidFill>
                  <a:srgbClr val="E36C09"/>
                </a:solidFill>
                <a:latin typeface="Calibri"/>
                <a:ea typeface="Calibri"/>
                <a:cs typeface="Calibri"/>
                <a:sym typeface="Calibri"/>
              </a:rPr>
              <a:t>therapeutic cloning </a:t>
            </a:r>
            <a:r>
              <a:rPr lang="en-GB" sz="2000">
                <a:solidFill>
                  <a:schemeClr val="dk1"/>
                </a:solidFill>
                <a:latin typeface="Calibri"/>
                <a:ea typeface="Calibri"/>
                <a:cs typeface="Calibri"/>
                <a:sym typeface="Calibri"/>
              </a:rPr>
              <a:t>have the </a:t>
            </a:r>
            <a:r>
              <a:rPr lang="en-GB" sz="2000" b="1">
                <a:solidFill>
                  <a:srgbClr val="E36C09"/>
                </a:solidFill>
                <a:latin typeface="Calibri"/>
                <a:ea typeface="Calibri"/>
                <a:cs typeface="Calibri"/>
                <a:sym typeface="Calibri"/>
              </a:rPr>
              <a:t>same genes as the patient</a:t>
            </a:r>
            <a:r>
              <a:rPr lang="en-GB" sz="2000">
                <a:solidFill>
                  <a:schemeClr val="dk1"/>
                </a:solidFill>
                <a:latin typeface="Calibri"/>
                <a:ea typeface="Calibri"/>
                <a:cs typeface="Calibri"/>
                <a:sym typeface="Calibri"/>
              </a:rPr>
              <a:t>.  This means stem cells from the embryo are </a:t>
            </a:r>
            <a:r>
              <a:rPr lang="en-GB" sz="2000" b="1">
                <a:solidFill>
                  <a:srgbClr val="E36C09"/>
                </a:solidFill>
                <a:latin typeface="Calibri"/>
                <a:ea typeface="Calibri"/>
                <a:cs typeface="Calibri"/>
                <a:sym typeface="Calibri"/>
              </a:rPr>
              <a:t>not rejected by the patient’s body. </a:t>
            </a:r>
            <a:r>
              <a:rPr lang="en-GB" sz="2000">
                <a:solidFill>
                  <a:schemeClr val="dk1"/>
                </a:solidFill>
                <a:latin typeface="Calibri"/>
                <a:ea typeface="Calibri"/>
                <a:cs typeface="Calibri"/>
                <a:sym typeface="Calibri"/>
              </a:rPr>
              <a:t>This is why they can be used for medical treatments.</a:t>
            </a:r>
            <a:endParaRPr/>
          </a:p>
          <a:p>
            <a:pPr marL="0" marR="0" lvl="0" indent="0" algn="ctr" rtl="0">
              <a:spcBef>
                <a:spcPts val="0"/>
              </a:spcBef>
              <a:spcAft>
                <a:spcPts val="0"/>
              </a:spcAft>
              <a:buNone/>
            </a:pP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risks</a:t>
            </a:r>
            <a:r>
              <a:rPr lang="en-GB" sz="2000">
                <a:solidFill>
                  <a:schemeClr val="dk1"/>
                </a:solidFill>
                <a:latin typeface="Calibri"/>
                <a:ea typeface="Calibri"/>
                <a:cs typeface="Calibri"/>
                <a:sym typeface="Calibri"/>
              </a:rPr>
              <a:t> of using stem cells risks such as </a:t>
            </a:r>
            <a:r>
              <a:rPr lang="en-GB" sz="2000" b="1">
                <a:solidFill>
                  <a:srgbClr val="E36C09"/>
                </a:solidFill>
                <a:latin typeface="Calibri"/>
                <a:ea typeface="Calibri"/>
                <a:cs typeface="Calibri"/>
                <a:sym typeface="Calibri"/>
              </a:rPr>
              <a:t>transfer</a:t>
            </a:r>
            <a:r>
              <a:rPr lang="en-GB" sz="2000" b="1">
                <a:solidFill>
                  <a:schemeClr val="dk1"/>
                </a:solidFill>
                <a:latin typeface="Calibri"/>
                <a:ea typeface="Calibri"/>
                <a:cs typeface="Calibri"/>
                <a:sym typeface="Calibri"/>
              </a:rPr>
              <a:t> </a:t>
            </a:r>
            <a:r>
              <a:rPr lang="en-GB" sz="2000">
                <a:solidFill>
                  <a:schemeClr val="dk1"/>
                </a:solidFill>
                <a:latin typeface="Calibri"/>
                <a:ea typeface="Calibri"/>
                <a:cs typeface="Calibri"/>
                <a:sym typeface="Calibri"/>
              </a:rPr>
              <a:t>of </a:t>
            </a:r>
            <a:r>
              <a:rPr lang="en-GB" sz="2000" b="1">
                <a:solidFill>
                  <a:srgbClr val="E36C09"/>
                </a:solidFill>
                <a:latin typeface="Calibri"/>
                <a:ea typeface="Calibri"/>
                <a:cs typeface="Calibri"/>
                <a:sym typeface="Calibri"/>
              </a:rPr>
              <a:t>viral</a:t>
            </a:r>
            <a:r>
              <a:rPr lang="en-GB" sz="2000">
                <a:solidFill>
                  <a:srgbClr val="E36C09"/>
                </a:solidFill>
                <a:latin typeface="Calibri"/>
                <a:ea typeface="Calibri"/>
                <a:cs typeface="Calibri"/>
                <a:sym typeface="Calibri"/>
              </a:rPr>
              <a:t> </a:t>
            </a:r>
            <a:r>
              <a:rPr lang="en-GB" sz="2000" b="1">
                <a:solidFill>
                  <a:srgbClr val="E36C09"/>
                </a:solidFill>
                <a:latin typeface="Calibri"/>
                <a:ea typeface="Calibri"/>
                <a:cs typeface="Calibri"/>
                <a:sym typeface="Calibri"/>
              </a:rPr>
              <a:t>infections</a:t>
            </a:r>
            <a:r>
              <a:rPr lang="en-GB" sz="2000">
                <a:solidFill>
                  <a:srgbClr val="E36C09"/>
                </a:solidFill>
                <a:latin typeface="Calibri"/>
                <a:ea typeface="Calibri"/>
                <a:cs typeface="Calibri"/>
                <a:sym typeface="Calibri"/>
              </a:rPr>
              <a:t>. </a:t>
            </a:r>
            <a:endParaRPr/>
          </a:p>
          <a:p>
            <a:pPr marL="0" marR="0" lvl="0" indent="0" algn="ctr" rtl="0">
              <a:spcBef>
                <a:spcPts val="0"/>
              </a:spcBef>
              <a:spcAft>
                <a:spcPts val="0"/>
              </a:spcAft>
              <a:buNone/>
            </a:pPr>
            <a:r>
              <a:rPr lang="en-GB" sz="2000">
                <a:solidFill>
                  <a:schemeClr val="dk1"/>
                </a:solidFill>
                <a:latin typeface="Calibri"/>
                <a:ea typeface="Calibri"/>
                <a:cs typeface="Calibri"/>
                <a:sym typeface="Calibri"/>
              </a:rPr>
              <a:t>Some people have objections to stem cell use for </a:t>
            </a:r>
            <a:r>
              <a:rPr lang="en-GB" sz="2000" b="1">
                <a:solidFill>
                  <a:srgbClr val="E36C09"/>
                </a:solidFill>
                <a:latin typeface="Calibri"/>
                <a:ea typeface="Calibri"/>
                <a:cs typeface="Calibri"/>
                <a:sym typeface="Calibri"/>
              </a:rPr>
              <a:t>ethical</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and </a:t>
            </a:r>
            <a:r>
              <a:rPr lang="en-GB" sz="2000" b="1">
                <a:solidFill>
                  <a:srgbClr val="E36C09"/>
                </a:solidFill>
                <a:latin typeface="Calibri"/>
                <a:ea typeface="Calibri"/>
                <a:cs typeface="Calibri"/>
                <a:sym typeface="Calibri"/>
              </a:rPr>
              <a:t>religious</a:t>
            </a:r>
            <a:r>
              <a:rPr lang="en-GB" sz="2000">
                <a:solidFill>
                  <a:schemeClr val="dk1"/>
                </a:solidFill>
                <a:latin typeface="Calibri"/>
                <a:ea typeface="Calibri"/>
                <a:cs typeface="Calibri"/>
                <a:sym typeface="Calibri"/>
              </a:rPr>
              <a:t> reasons. During Fertility treatment doctors usually fertilise many more eggs than are going to be used. The </a:t>
            </a:r>
            <a:r>
              <a:rPr lang="en-GB" sz="2000" b="1">
                <a:solidFill>
                  <a:srgbClr val="E36C09"/>
                </a:solidFill>
                <a:latin typeface="Calibri"/>
                <a:ea typeface="Calibri"/>
                <a:cs typeface="Calibri"/>
                <a:sym typeface="Calibri"/>
              </a:rPr>
              <a:t>embryos</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then formed are used to </a:t>
            </a:r>
            <a:r>
              <a:rPr lang="en-GB" sz="2000" b="1">
                <a:solidFill>
                  <a:srgbClr val="E36C09"/>
                </a:solidFill>
                <a:latin typeface="Calibri"/>
                <a:ea typeface="Calibri"/>
                <a:cs typeface="Calibri"/>
                <a:sym typeface="Calibri"/>
              </a:rPr>
              <a:t>obtain</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stem cells. In the UK </a:t>
            </a:r>
            <a:r>
              <a:rPr lang="en-GB" sz="2000" b="1">
                <a:solidFill>
                  <a:srgbClr val="E36C09"/>
                </a:solidFill>
                <a:latin typeface="Calibri"/>
                <a:ea typeface="Calibri"/>
                <a:cs typeface="Calibri"/>
                <a:sym typeface="Calibri"/>
              </a:rPr>
              <a:t>scientists</a:t>
            </a:r>
            <a:r>
              <a:rPr lang="en-GB" sz="2000">
                <a:solidFill>
                  <a:schemeClr val="dk1"/>
                </a:solidFill>
                <a:latin typeface="Calibri"/>
                <a:ea typeface="Calibri"/>
                <a:cs typeface="Calibri"/>
                <a:sym typeface="Calibri"/>
              </a:rPr>
              <a:t> can use these embryos for </a:t>
            </a:r>
            <a:r>
              <a:rPr lang="en-GB" sz="2000" b="1">
                <a:solidFill>
                  <a:srgbClr val="E36C09"/>
                </a:solidFill>
                <a:latin typeface="Calibri"/>
                <a:ea typeface="Calibri"/>
                <a:cs typeface="Calibri"/>
                <a:sym typeface="Calibri"/>
              </a:rPr>
              <a:t>research</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but only under </a:t>
            </a:r>
            <a:r>
              <a:rPr lang="en-GB" sz="2000" b="1">
                <a:solidFill>
                  <a:srgbClr val="E36C09"/>
                </a:solidFill>
                <a:latin typeface="Calibri"/>
                <a:ea typeface="Calibri"/>
                <a:cs typeface="Calibri"/>
                <a:sym typeface="Calibri"/>
              </a:rPr>
              <a:t>very strict guidelines</a:t>
            </a:r>
            <a:r>
              <a:rPr lang="en-GB"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49"/>
          <p:cNvSpPr txBox="1">
            <a:spLocks noGrp="1"/>
          </p:cNvSpPr>
          <p:nvPr>
            <p:ph type="ctrTitle"/>
          </p:nvPr>
        </p:nvSpPr>
        <p:spPr>
          <a:xfrm>
            <a:off x="2267744" y="0"/>
            <a:ext cx="6876256"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division- </a:t>
            </a:r>
            <a:r>
              <a:rPr lang="en-GB" sz="2400" b="1" i="0" u="none" strike="noStrike" cap="none">
                <a:solidFill>
                  <a:schemeClr val="accent6"/>
                </a:solidFill>
                <a:latin typeface="Calibri"/>
                <a:ea typeface="Calibri"/>
                <a:cs typeface="Calibri"/>
                <a:sym typeface="Calibri"/>
              </a:rPr>
              <a:t>Stem Cells - plants</a:t>
            </a:r>
            <a:endParaRPr/>
          </a:p>
        </p:txBody>
      </p:sp>
      <p:sp>
        <p:nvSpPr>
          <p:cNvPr id="653" name="Google Shape;653;p49"/>
          <p:cNvSpPr/>
          <p:nvPr/>
        </p:nvSpPr>
        <p:spPr>
          <a:xfrm>
            <a:off x="131385" y="803297"/>
            <a:ext cx="5736759" cy="1938992"/>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a:solidFill>
                  <a:schemeClr val="dk1"/>
                </a:solidFill>
                <a:latin typeface="Calibri"/>
                <a:ea typeface="Calibri"/>
                <a:cs typeface="Calibri"/>
                <a:sym typeface="Calibri"/>
              </a:rPr>
              <a:t>Most types of </a:t>
            </a:r>
            <a:r>
              <a:rPr lang="en-GB" sz="2000" b="1" u="sng">
                <a:solidFill>
                  <a:srgbClr val="E36C09"/>
                </a:solidFill>
                <a:latin typeface="Calibri"/>
                <a:ea typeface="Calibri"/>
                <a:cs typeface="Calibri"/>
                <a:sym typeface="Calibri"/>
              </a:rPr>
              <a:t>PLANT</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cells can </a:t>
            </a:r>
            <a:r>
              <a:rPr lang="en-GB" sz="2000" b="1">
                <a:solidFill>
                  <a:srgbClr val="E36C09"/>
                </a:solidFill>
                <a:latin typeface="Calibri"/>
                <a:ea typeface="Calibri"/>
                <a:cs typeface="Calibri"/>
                <a:sym typeface="Calibri"/>
              </a:rPr>
              <a:t>differentiate throughout their life</a:t>
            </a:r>
            <a:r>
              <a:rPr lang="en-GB" sz="2000">
                <a:solidFill>
                  <a:schemeClr val="dk1"/>
                </a:solidFill>
                <a:latin typeface="Calibri"/>
                <a:ea typeface="Calibri"/>
                <a:cs typeface="Calibri"/>
                <a:sym typeface="Calibri"/>
              </a:rPr>
              <a:t> cycle. </a:t>
            </a:r>
            <a:endParaRPr/>
          </a:p>
          <a:p>
            <a:pPr marL="0" marR="0" lvl="0" indent="0" algn="ctr" rtl="0">
              <a:spcBef>
                <a:spcPts val="0"/>
              </a:spcBef>
              <a:spcAft>
                <a:spcPts val="0"/>
              </a:spcAft>
              <a:buNone/>
            </a:pPr>
            <a:r>
              <a:rPr lang="en-GB" sz="2000" b="1">
                <a:solidFill>
                  <a:srgbClr val="E36C09"/>
                </a:solidFill>
                <a:latin typeface="Calibri"/>
                <a:ea typeface="Calibri"/>
                <a:cs typeface="Calibri"/>
                <a:sym typeface="Calibri"/>
              </a:rPr>
              <a:t>Undifferentiated</a:t>
            </a:r>
            <a:r>
              <a:rPr lang="en-GB" sz="2000">
                <a:solidFill>
                  <a:schemeClr val="dk1"/>
                </a:solidFill>
                <a:latin typeface="Calibri"/>
                <a:ea typeface="Calibri"/>
                <a:cs typeface="Calibri"/>
                <a:sym typeface="Calibri"/>
              </a:rPr>
              <a:t> stem cells in </a:t>
            </a:r>
            <a:r>
              <a:rPr lang="en-GB" sz="2000" b="1">
                <a:solidFill>
                  <a:srgbClr val="E36C09"/>
                </a:solidFill>
                <a:latin typeface="Calibri"/>
                <a:ea typeface="Calibri"/>
                <a:cs typeface="Calibri"/>
                <a:sym typeface="Calibri"/>
              </a:rPr>
              <a:t>plants</a:t>
            </a:r>
            <a:r>
              <a:rPr lang="en-GB" sz="2000">
                <a:solidFill>
                  <a:schemeClr val="dk1"/>
                </a:solidFill>
                <a:latin typeface="Calibri"/>
                <a:ea typeface="Calibri"/>
                <a:cs typeface="Calibri"/>
                <a:sym typeface="Calibri"/>
              </a:rPr>
              <a:t> are grouped together in </a:t>
            </a:r>
            <a:r>
              <a:rPr lang="en-GB" sz="2000" b="1">
                <a:solidFill>
                  <a:srgbClr val="E36C09"/>
                </a:solidFill>
                <a:latin typeface="Calibri"/>
                <a:ea typeface="Calibri"/>
                <a:cs typeface="Calibri"/>
                <a:sym typeface="Calibri"/>
              </a:rPr>
              <a:t>structures called meristems</a:t>
            </a:r>
            <a:r>
              <a:rPr lang="en-GB" sz="2000" b="1">
                <a:solidFill>
                  <a:schemeClr val="dk1"/>
                </a:solidFill>
                <a:latin typeface="Calibri"/>
                <a:ea typeface="Calibri"/>
                <a:cs typeface="Calibri"/>
                <a:sym typeface="Calibri"/>
              </a:rPr>
              <a:t>. </a:t>
            </a:r>
            <a:r>
              <a:rPr lang="en-GB" sz="2000">
                <a:solidFill>
                  <a:schemeClr val="dk1"/>
                </a:solidFill>
                <a:latin typeface="Calibri"/>
                <a:ea typeface="Calibri"/>
                <a:cs typeface="Calibri"/>
                <a:sym typeface="Calibri"/>
              </a:rPr>
              <a:t>The undifferentiated cells can then specialise e.g. root hair cell, xylem or phloem cells. </a:t>
            </a:r>
            <a:endParaRPr sz="2000" b="1">
              <a:solidFill>
                <a:srgbClr val="E36C09"/>
              </a:solidFill>
              <a:latin typeface="Calibri"/>
              <a:ea typeface="Calibri"/>
              <a:cs typeface="Calibri"/>
              <a:sym typeface="Calibri"/>
            </a:endParaRPr>
          </a:p>
        </p:txBody>
      </p:sp>
      <p:pic>
        <p:nvPicPr>
          <p:cNvPr id="654" name="Google Shape;654;p49"/>
          <p:cNvPicPr preferRelativeResize="0"/>
          <p:nvPr/>
        </p:nvPicPr>
        <p:blipFill rotWithShape="1">
          <a:blip r:embed="rId3">
            <a:alphaModFix/>
          </a:blip>
          <a:srcRect/>
          <a:stretch/>
        </p:blipFill>
        <p:spPr>
          <a:xfrm>
            <a:off x="6419307" y="889963"/>
            <a:ext cx="2308285" cy="2299052"/>
          </a:xfrm>
          <a:prstGeom prst="rect">
            <a:avLst/>
          </a:prstGeom>
          <a:noFill/>
          <a:ln>
            <a:noFill/>
          </a:ln>
        </p:spPr>
      </p:pic>
      <p:sp>
        <p:nvSpPr>
          <p:cNvPr id="655" name="Google Shape;655;p49"/>
          <p:cNvSpPr/>
          <p:nvPr/>
        </p:nvSpPr>
        <p:spPr>
          <a:xfrm>
            <a:off x="65904" y="3037037"/>
            <a:ext cx="5292080"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36C09"/>
                </a:solidFill>
                <a:latin typeface="Calibri"/>
                <a:ea typeface="Calibri"/>
                <a:cs typeface="Calibri"/>
                <a:sym typeface="Calibri"/>
              </a:rPr>
              <a:t>Stem cells </a:t>
            </a:r>
            <a:r>
              <a:rPr lang="en-GB" sz="2000">
                <a:solidFill>
                  <a:schemeClr val="dk1"/>
                </a:solidFill>
                <a:latin typeface="Calibri"/>
                <a:ea typeface="Calibri"/>
                <a:cs typeface="Calibri"/>
                <a:sym typeface="Calibri"/>
              </a:rPr>
              <a:t>from</a:t>
            </a:r>
            <a:r>
              <a:rPr lang="en-GB" sz="2000" b="1">
                <a:solidFill>
                  <a:srgbClr val="E36C09"/>
                </a:solidFill>
                <a:latin typeface="Calibri"/>
                <a:ea typeface="Calibri"/>
                <a:cs typeface="Calibri"/>
                <a:sym typeface="Calibri"/>
              </a:rPr>
              <a:t> meristems in plants </a:t>
            </a:r>
            <a:r>
              <a:rPr lang="en-GB" sz="2000">
                <a:solidFill>
                  <a:schemeClr val="dk1"/>
                </a:solidFill>
                <a:latin typeface="Calibri"/>
                <a:ea typeface="Calibri"/>
                <a:cs typeface="Calibri"/>
                <a:sym typeface="Calibri"/>
              </a:rPr>
              <a:t>can be used to produce</a:t>
            </a:r>
            <a:r>
              <a:rPr lang="en-GB" sz="2000" b="1">
                <a:solidFill>
                  <a:srgbClr val="E36C09"/>
                </a:solidFill>
                <a:latin typeface="Calibri"/>
                <a:ea typeface="Calibri"/>
                <a:cs typeface="Calibri"/>
                <a:sym typeface="Calibri"/>
              </a:rPr>
              <a:t> clones of plants </a:t>
            </a:r>
            <a:r>
              <a:rPr lang="en-GB" sz="2000">
                <a:solidFill>
                  <a:schemeClr val="dk1"/>
                </a:solidFill>
                <a:latin typeface="Calibri"/>
                <a:ea typeface="Calibri"/>
                <a:cs typeface="Calibri"/>
                <a:sym typeface="Calibri"/>
              </a:rPr>
              <a:t>quickly and economically.</a:t>
            </a:r>
            <a:endParaRPr/>
          </a:p>
          <a:p>
            <a:pPr marL="0" marR="0" lvl="0" indent="0" algn="l" rtl="0">
              <a:spcBef>
                <a:spcPts val="0"/>
              </a:spcBef>
              <a:spcAft>
                <a:spcPts val="0"/>
              </a:spcAft>
              <a:buNone/>
            </a:pPr>
            <a:r>
              <a:rPr lang="en-GB" sz="2000" b="1">
                <a:solidFill>
                  <a:schemeClr val="dk1"/>
                </a:solidFill>
                <a:latin typeface="Calibri"/>
                <a:ea typeface="Calibri"/>
                <a:cs typeface="Calibri"/>
                <a:sym typeface="Calibri"/>
              </a:rPr>
              <a:t>• </a:t>
            </a:r>
            <a:r>
              <a:rPr lang="en-GB" sz="2000" b="1">
                <a:solidFill>
                  <a:srgbClr val="E36C09"/>
                </a:solidFill>
                <a:latin typeface="Calibri"/>
                <a:ea typeface="Calibri"/>
                <a:cs typeface="Calibri"/>
                <a:sym typeface="Calibri"/>
              </a:rPr>
              <a:t>Rare species:</a:t>
            </a:r>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can be cloned to protect from extinction.</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 </a:t>
            </a:r>
            <a:r>
              <a:rPr lang="en-GB" sz="2000" b="1">
                <a:solidFill>
                  <a:srgbClr val="E36C09"/>
                </a:solidFill>
                <a:latin typeface="Calibri"/>
                <a:ea typeface="Calibri"/>
                <a:cs typeface="Calibri"/>
                <a:sym typeface="Calibri"/>
              </a:rPr>
              <a:t>Crop plants:</a:t>
            </a:r>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with special features such as disease resistance can be cloned to produce large numbers of identical plants for farmers.</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e.g. potatoes, strawberries and dates</a:t>
            </a:r>
            <a:endParaRPr sz="2000">
              <a:solidFill>
                <a:schemeClr val="dk1"/>
              </a:solidFill>
              <a:latin typeface="Calibri"/>
              <a:ea typeface="Calibri"/>
              <a:cs typeface="Calibri"/>
              <a:sym typeface="Calibri"/>
            </a:endParaRPr>
          </a:p>
        </p:txBody>
      </p:sp>
      <p:pic>
        <p:nvPicPr>
          <p:cNvPr id="656" name="Google Shape;656;p49"/>
          <p:cNvPicPr preferRelativeResize="0"/>
          <p:nvPr/>
        </p:nvPicPr>
        <p:blipFill rotWithShape="1">
          <a:blip r:embed="rId4">
            <a:alphaModFix/>
          </a:blip>
          <a:srcRect/>
          <a:stretch/>
        </p:blipFill>
        <p:spPr>
          <a:xfrm>
            <a:off x="7656524" y="5096276"/>
            <a:ext cx="1071069" cy="1071069"/>
          </a:xfrm>
          <a:prstGeom prst="rect">
            <a:avLst/>
          </a:prstGeom>
          <a:noFill/>
          <a:ln>
            <a:noFill/>
          </a:ln>
        </p:spPr>
      </p:pic>
      <p:pic>
        <p:nvPicPr>
          <p:cNvPr id="657" name="Google Shape;657;p49"/>
          <p:cNvPicPr preferRelativeResize="0"/>
          <p:nvPr/>
        </p:nvPicPr>
        <p:blipFill rotWithShape="1">
          <a:blip r:embed="rId5">
            <a:alphaModFix/>
          </a:blip>
          <a:srcRect/>
          <a:stretch/>
        </p:blipFill>
        <p:spPr>
          <a:xfrm>
            <a:off x="5633565" y="5208203"/>
            <a:ext cx="1859571" cy="1240934"/>
          </a:xfrm>
          <a:prstGeom prst="rect">
            <a:avLst/>
          </a:prstGeom>
          <a:noFill/>
          <a:ln>
            <a:noFill/>
          </a:ln>
        </p:spPr>
      </p:pic>
      <p:pic>
        <p:nvPicPr>
          <p:cNvPr id="658" name="Google Shape;658;p49"/>
          <p:cNvPicPr preferRelativeResize="0"/>
          <p:nvPr/>
        </p:nvPicPr>
        <p:blipFill rotWithShape="1">
          <a:blip r:embed="rId6">
            <a:alphaModFix/>
          </a:blip>
          <a:srcRect/>
          <a:stretch/>
        </p:blipFill>
        <p:spPr>
          <a:xfrm>
            <a:off x="5240377" y="3022247"/>
            <a:ext cx="2951681" cy="1962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0"/>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665" name="Google Shape;665;p50"/>
          <p:cNvSpPr txBox="1"/>
          <p:nvPr/>
        </p:nvSpPr>
        <p:spPr>
          <a:xfrm>
            <a:off x="0" y="980728"/>
            <a:ext cx="4716016"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QuestionIT!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division</a:t>
            </a:r>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Chromosomes</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Mitosis and the cell cycle</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Stem cells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66" name="Google Shape;666;p50"/>
          <p:cNvPicPr preferRelativeResize="0"/>
          <p:nvPr/>
        </p:nvPicPr>
        <p:blipFill rotWithShape="1">
          <a:blip r:embed="rId3">
            <a:alphaModFix/>
          </a:blip>
          <a:srcRect/>
          <a:stretch/>
        </p:blipFill>
        <p:spPr>
          <a:xfrm>
            <a:off x="4211960" y="886544"/>
            <a:ext cx="4914900" cy="56388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51"/>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Division– </a:t>
            </a:r>
            <a:r>
              <a:rPr lang="en-GB" sz="2400" b="1" i="0" u="none" strike="noStrike" cap="none">
                <a:solidFill>
                  <a:schemeClr val="dk1"/>
                </a:solidFill>
                <a:latin typeface="Calibri"/>
                <a:ea typeface="Calibri"/>
                <a:cs typeface="Calibri"/>
                <a:sym typeface="Calibri"/>
              </a:rPr>
              <a:t>QuestionIT</a:t>
            </a:r>
            <a:endParaRPr/>
          </a:p>
        </p:txBody>
      </p:sp>
      <p:sp>
        <p:nvSpPr>
          <p:cNvPr id="672" name="Google Shape;672;p51"/>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673" name="Google Shape;673;p51"/>
          <p:cNvSpPr txBox="1"/>
          <p:nvPr/>
        </p:nvSpPr>
        <p:spPr>
          <a:xfrm>
            <a:off x="149087" y="697936"/>
            <a:ext cx="8915400" cy="618630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 What are chromosomes?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2. What is a gene?</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3. What is DNA?</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4. Where in a cell do you find chromosomes?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5. How many chromosome pairs do you find in a human body cell?</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6. What are the three stages of the cell cycle?</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7. What is mitosis and what is it used for in animals and plants?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8. What is a stem cell?</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9. Which type of human stem cell can differentiate into any human cell? </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52"/>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Division– </a:t>
            </a:r>
            <a:r>
              <a:rPr lang="en-GB" sz="2400" b="1" i="0" u="none" strike="noStrike" cap="none">
                <a:solidFill>
                  <a:schemeClr val="dk1"/>
                </a:solidFill>
                <a:latin typeface="Calibri"/>
                <a:ea typeface="Calibri"/>
                <a:cs typeface="Calibri"/>
                <a:sym typeface="Calibri"/>
              </a:rPr>
              <a:t>QuestionIT</a:t>
            </a:r>
            <a:endParaRPr/>
          </a:p>
        </p:txBody>
      </p:sp>
      <p:sp>
        <p:nvSpPr>
          <p:cNvPr id="679" name="Google Shape;679;p52"/>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680" name="Google Shape;680;p52"/>
          <p:cNvSpPr txBox="1"/>
          <p:nvPr/>
        </p:nvSpPr>
        <p:spPr>
          <a:xfrm>
            <a:off x="149087" y="697936"/>
            <a:ext cx="8915400" cy="397031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10. What is therapeutic cloning?</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11. What are the risks of therapeutic cloning?</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12. State two reasons why people may object to the use of stem cells in therapeutic cloning.</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13. What are meristems?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14. State two reasons that plants are cloned. </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53"/>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687" name="Google Shape;687;p53"/>
          <p:cNvSpPr txBox="1"/>
          <p:nvPr/>
        </p:nvSpPr>
        <p:spPr>
          <a:xfrm>
            <a:off x="0" y="980728"/>
            <a:ext cx="4716016"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AnswerIT!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Cell division</a:t>
            </a:r>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Chromosomes</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Mitosis and the cell cycle</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Stem cells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88" name="Google Shape;688;p53"/>
          <p:cNvPicPr preferRelativeResize="0"/>
          <p:nvPr/>
        </p:nvPicPr>
        <p:blipFill rotWithShape="1">
          <a:blip r:embed="rId3">
            <a:alphaModFix/>
          </a:blip>
          <a:srcRect/>
          <a:stretch/>
        </p:blipFill>
        <p:spPr>
          <a:xfrm>
            <a:off x="4139952" y="704918"/>
            <a:ext cx="4824536" cy="52578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54"/>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Division– </a:t>
            </a:r>
            <a:r>
              <a:rPr lang="en-GB" sz="2400" b="1" i="0" u="none" strike="noStrike" cap="none">
                <a:solidFill>
                  <a:schemeClr val="dk1"/>
                </a:solidFill>
                <a:latin typeface="Calibri"/>
                <a:ea typeface="Calibri"/>
                <a:cs typeface="Calibri"/>
                <a:sym typeface="Calibri"/>
              </a:rPr>
              <a:t>AnswerIT</a:t>
            </a:r>
            <a:endParaRPr/>
          </a:p>
        </p:txBody>
      </p:sp>
      <p:sp>
        <p:nvSpPr>
          <p:cNvPr id="694" name="Google Shape;694;p54"/>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695" name="Google Shape;695;p54"/>
          <p:cNvSpPr txBox="1"/>
          <p:nvPr/>
        </p:nvSpPr>
        <p:spPr>
          <a:xfrm>
            <a:off x="200706" y="657041"/>
            <a:ext cx="8915400" cy="6001643"/>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None/>
            </a:pPr>
            <a:r>
              <a:rPr lang="en-GB" sz="2400">
                <a:solidFill>
                  <a:schemeClr val="dk1"/>
                </a:solidFill>
                <a:latin typeface="Calibri"/>
                <a:ea typeface="Calibri"/>
                <a:cs typeface="Calibri"/>
                <a:sym typeface="Calibri"/>
              </a:rPr>
              <a:t>1. What are chromosomes? </a:t>
            </a:r>
            <a:r>
              <a:rPr lang="en-GB" sz="2400" b="1">
                <a:solidFill>
                  <a:srgbClr val="00B050"/>
                </a:solidFill>
                <a:latin typeface="Calibri"/>
                <a:ea typeface="Calibri"/>
                <a:cs typeface="Calibri"/>
                <a:sym typeface="Calibri"/>
              </a:rPr>
              <a:t>Coiled strands of DNA molecules.</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2. What is a gene? </a:t>
            </a:r>
            <a:r>
              <a:rPr lang="en-GB" sz="2400" b="1">
                <a:solidFill>
                  <a:srgbClr val="00B050"/>
                </a:solidFill>
                <a:latin typeface="Calibri"/>
                <a:ea typeface="Calibri"/>
                <a:cs typeface="Calibri"/>
                <a:sym typeface="Calibri"/>
              </a:rPr>
              <a:t>A section of DNA that codes for a protein.</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3. What is DNA? </a:t>
            </a:r>
            <a:endParaRPr/>
          </a:p>
          <a:p>
            <a:pPr marL="0" marR="0" lvl="0" indent="0" algn="l" rtl="0">
              <a:spcBef>
                <a:spcPts val="0"/>
              </a:spcBef>
              <a:spcAft>
                <a:spcPts val="0"/>
              </a:spcAft>
              <a:buNone/>
            </a:pPr>
            <a:r>
              <a:rPr lang="en-GB" sz="2400" b="1">
                <a:solidFill>
                  <a:srgbClr val="00B050"/>
                </a:solidFill>
                <a:latin typeface="Calibri"/>
                <a:ea typeface="Calibri"/>
                <a:cs typeface="Calibri"/>
                <a:sym typeface="Calibri"/>
              </a:rPr>
              <a:t>A genetic material found in the nucleus that codes for proteins. </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4. Where in a cell do you find chromosomes? </a:t>
            </a:r>
            <a:endParaRPr/>
          </a:p>
          <a:p>
            <a:pPr marL="0" marR="0" lvl="0" indent="0" algn="l" rtl="0">
              <a:spcBef>
                <a:spcPts val="0"/>
              </a:spcBef>
              <a:spcAft>
                <a:spcPts val="0"/>
              </a:spcAft>
              <a:buNone/>
            </a:pPr>
            <a:r>
              <a:rPr lang="en-GB" sz="2400" b="1">
                <a:solidFill>
                  <a:srgbClr val="00B050"/>
                </a:solidFill>
                <a:latin typeface="Calibri"/>
                <a:ea typeface="Calibri"/>
                <a:cs typeface="Calibri"/>
                <a:sym typeface="Calibri"/>
              </a:rPr>
              <a:t>In the nucleus of cells. </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5. How many chromosome pairs do you find in a human body cell?</a:t>
            </a:r>
            <a:endParaRPr/>
          </a:p>
          <a:p>
            <a:pPr marL="0" marR="0" lvl="0" indent="0" algn="l" rtl="0">
              <a:spcBef>
                <a:spcPts val="0"/>
              </a:spcBef>
              <a:spcAft>
                <a:spcPts val="0"/>
              </a:spcAft>
              <a:buNone/>
            </a:pPr>
            <a:r>
              <a:rPr lang="en-GB" sz="2400" b="1">
                <a:solidFill>
                  <a:srgbClr val="00B050"/>
                </a:solidFill>
                <a:latin typeface="Calibri"/>
                <a:ea typeface="Calibri"/>
                <a:cs typeface="Calibri"/>
                <a:sym typeface="Calibri"/>
              </a:rPr>
              <a:t>23 pairs</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6. What are the three stages of the cell cycle? </a:t>
            </a:r>
            <a:r>
              <a:rPr lang="en-GB" sz="2400" b="1">
                <a:solidFill>
                  <a:srgbClr val="00B050"/>
                </a:solidFill>
                <a:latin typeface="Calibri"/>
                <a:ea typeface="Calibri"/>
                <a:cs typeface="Calibri"/>
                <a:sym typeface="Calibri"/>
              </a:rPr>
              <a:t>Growth, DNA synthesis and mitosis. </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7. What is mitosis and what is it used for in animals and plants? </a:t>
            </a:r>
            <a:r>
              <a:rPr lang="en-GB" sz="2400" b="1">
                <a:solidFill>
                  <a:srgbClr val="00B050"/>
                </a:solidFill>
                <a:latin typeface="Calibri"/>
                <a:ea typeface="Calibri"/>
                <a:cs typeface="Calibri"/>
                <a:sym typeface="Calibri"/>
              </a:rPr>
              <a:t>Growth, repair and asexual reproduction. </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8. What is a stem cell? </a:t>
            </a:r>
            <a:r>
              <a:rPr lang="en-GB" sz="2400" b="1">
                <a:solidFill>
                  <a:srgbClr val="00B050"/>
                </a:solidFill>
                <a:latin typeface="Calibri"/>
                <a:ea typeface="Calibri"/>
                <a:cs typeface="Calibri"/>
                <a:sym typeface="Calibri"/>
              </a:rPr>
              <a:t>An undifferentiated cell. </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9. Which type of human stem cell can differentiate into any human cell?  </a:t>
            </a:r>
            <a:endParaRPr/>
          </a:p>
          <a:p>
            <a:pPr marL="0" marR="0" lvl="0" indent="0" algn="l" rtl="0">
              <a:spcBef>
                <a:spcPts val="0"/>
              </a:spcBef>
              <a:spcAft>
                <a:spcPts val="0"/>
              </a:spcAft>
              <a:buNone/>
            </a:pPr>
            <a:r>
              <a:rPr lang="en-GB" sz="2400" b="1">
                <a:solidFill>
                  <a:srgbClr val="00B050"/>
                </a:solidFill>
                <a:latin typeface="Calibri"/>
                <a:ea typeface="Calibri"/>
                <a:cs typeface="Calibri"/>
                <a:sym typeface="Calibri"/>
              </a:rPr>
              <a:t>Embryo stem cells.</a:t>
            </a:r>
            <a:endParaRPr sz="24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55"/>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Cell Division– </a:t>
            </a:r>
            <a:r>
              <a:rPr lang="en-GB" sz="2400" b="1" i="0" u="none" strike="noStrike" cap="none">
                <a:solidFill>
                  <a:schemeClr val="dk1"/>
                </a:solidFill>
                <a:latin typeface="Calibri"/>
                <a:ea typeface="Calibri"/>
                <a:cs typeface="Calibri"/>
                <a:sym typeface="Calibri"/>
              </a:rPr>
              <a:t>AnswerIT</a:t>
            </a:r>
            <a:endParaRPr/>
          </a:p>
        </p:txBody>
      </p:sp>
      <p:sp>
        <p:nvSpPr>
          <p:cNvPr id="701" name="Google Shape;701;p55"/>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702" name="Google Shape;702;p55"/>
          <p:cNvSpPr txBox="1"/>
          <p:nvPr/>
        </p:nvSpPr>
        <p:spPr>
          <a:xfrm>
            <a:off x="149087" y="697936"/>
            <a:ext cx="8915400" cy="563231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10. What is therapeutic cloning? </a:t>
            </a:r>
            <a:r>
              <a:rPr lang="en-GB" sz="2400" b="1">
                <a:solidFill>
                  <a:srgbClr val="00B050"/>
                </a:solidFill>
                <a:latin typeface="Calibri"/>
                <a:ea typeface="Calibri"/>
                <a:cs typeface="Calibri"/>
                <a:sym typeface="Calibri"/>
              </a:rPr>
              <a:t>Where patients are given stem cells containing the same genes as theirs. </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11. What are the risks of therapeutic cloning? </a:t>
            </a:r>
            <a:r>
              <a:rPr lang="en-GB" sz="2400" b="1">
                <a:solidFill>
                  <a:srgbClr val="00B050"/>
                </a:solidFill>
                <a:latin typeface="Calibri"/>
                <a:ea typeface="Calibri"/>
                <a:cs typeface="Calibri"/>
                <a:sym typeface="Calibri"/>
              </a:rPr>
              <a:t>Viral infections.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12. State two reasons why people may object to the use of stem cells in therapeutic cloning.</a:t>
            </a:r>
            <a:endParaRPr/>
          </a:p>
          <a:p>
            <a:pPr marL="0" marR="0" lvl="0" indent="0" algn="l" rtl="0">
              <a:lnSpc>
                <a:spcPct val="150000"/>
              </a:lnSpc>
              <a:spcBef>
                <a:spcPts val="0"/>
              </a:spcBef>
              <a:spcAft>
                <a:spcPts val="0"/>
              </a:spcAft>
              <a:buNone/>
            </a:pPr>
            <a:r>
              <a:rPr lang="en-GB" sz="2400" b="1">
                <a:solidFill>
                  <a:srgbClr val="00B050"/>
                </a:solidFill>
                <a:latin typeface="Calibri"/>
                <a:ea typeface="Calibri"/>
                <a:cs typeface="Calibri"/>
                <a:sym typeface="Calibri"/>
              </a:rPr>
              <a:t>Ethical and religious reasons. </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13. What are meristems? </a:t>
            </a:r>
            <a:r>
              <a:rPr lang="en-GB" sz="2400" b="1">
                <a:solidFill>
                  <a:srgbClr val="00B050"/>
                </a:solidFill>
                <a:latin typeface="Calibri"/>
                <a:ea typeface="Calibri"/>
                <a:cs typeface="Calibri"/>
                <a:sym typeface="Calibri"/>
              </a:rPr>
              <a:t>Structures in plants that contain stem cells. </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14. State two reasons that plants are cloned? </a:t>
            </a:r>
            <a:r>
              <a:rPr lang="en-GB" sz="2400" b="1">
                <a:solidFill>
                  <a:srgbClr val="00B050"/>
                </a:solidFill>
                <a:latin typeface="Calibri"/>
                <a:ea typeface="Calibri"/>
                <a:cs typeface="Calibri"/>
                <a:sym typeface="Calibri"/>
              </a:rPr>
              <a:t>To clone rare species of plants and to clone crop plants with useful characteristics. </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56"/>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709" name="Google Shape;709;p56"/>
          <p:cNvSpPr txBox="1"/>
          <p:nvPr/>
        </p:nvSpPr>
        <p:spPr>
          <a:xfrm>
            <a:off x="-22696" y="675435"/>
            <a:ext cx="4572000"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LearnIT!</a:t>
            </a:r>
            <a:endParaRPr/>
          </a:p>
          <a:p>
            <a:pPr marL="0" marR="0" lvl="0" indent="0" algn="l" rtl="0">
              <a:spcBef>
                <a:spcPts val="0"/>
              </a:spcBef>
              <a:spcAft>
                <a:spcPts val="0"/>
              </a:spcAft>
              <a:buNone/>
            </a:pPr>
            <a:r>
              <a:rPr lang="en-GB" sz="7200" b="1">
                <a:solidFill>
                  <a:schemeClr val="dk1"/>
                </a:solidFill>
                <a:latin typeface="Calibri"/>
                <a:ea typeface="Calibri"/>
                <a:cs typeface="Calibri"/>
                <a:sym typeface="Calibri"/>
              </a:rPr>
              <a:t>KnowIT!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Transport in cells</a:t>
            </a:r>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Diffusion</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Osmosis</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Active transport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10" name="Google Shape;710;p56"/>
          <p:cNvPicPr preferRelativeResize="0"/>
          <p:nvPr/>
        </p:nvPicPr>
        <p:blipFill rotWithShape="1">
          <a:blip r:embed="rId3">
            <a:alphaModFix/>
          </a:blip>
          <a:srcRect/>
          <a:stretch/>
        </p:blipFill>
        <p:spPr>
          <a:xfrm>
            <a:off x="2642398" y="0"/>
            <a:ext cx="6538114" cy="652534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57"/>
          <p:cNvSpPr txBox="1">
            <a:spLocks noGrp="1"/>
          </p:cNvSpPr>
          <p:nvPr>
            <p:ph type="ctrTitle"/>
          </p:nvPr>
        </p:nvSpPr>
        <p:spPr>
          <a:xfrm>
            <a:off x="1619672" y="0"/>
            <a:ext cx="7524328"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Transport in cells - Diffusion</a:t>
            </a:r>
            <a:endParaRPr/>
          </a:p>
        </p:txBody>
      </p:sp>
      <p:sp>
        <p:nvSpPr>
          <p:cNvPr id="717" name="Google Shape;717;p57"/>
          <p:cNvSpPr/>
          <p:nvPr/>
        </p:nvSpPr>
        <p:spPr>
          <a:xfrm>
            <a:off x="168660" y="765487"/>
            <a:ext cx="8806680" cy="2046714"/>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36C09"/>
                </a:solidFill>
                <a:latin typeface="Calibri"/>
                <a:ea typeface="Calibri"/>
                <a:cs typeface="Calibri"/>
                <a:sym typeface="Calibri"/>
              </a:rPr>
              <a:t>Diffusion</a:t>
            </a:r>
            <a:r>
              <a:rPr lang="en-GB" sz="2000">
                <a:solidFill>
                  <a:schemeClr val="dk1"/>
                </a:solidFill>
                <a:latin typeface="Calibri"/>
                <a:ea typeface="Calibri"/>
                <a:cs typeface="Calibri"/>
                <a:sym typeface="Calibri"/>
              </a:rPr>
              <a:t> is the spreading of the </a:t>
            </a:r>
            <a:r>
              <a:rPr lang="en-GB" sz="2000" b="1">
                <a:solidFill>
                  <a:srgbClr val="E36C09"/>
                </a:solidFill>
                <a:latin typeface="Calibri"/>
                <a:ea typeface="Calibri"/>
                <a:cs typeface="Calibri"/>
                <a:sym typeface="Calibri"/>
              </a:rPr>
              <a:t>particles of a gas or substances in solution</a:t>
            </a:r>
            <a:r>
              <a:rPr lang="en-GB" sz="2000" b="1">
                <a:solidFill>
                  <a:schemeClr val="dk1"/>
                </a:solidFill>
                <a:latin typeface="Calibri"/>
                <a:ea typeface="Calibri"/>
                <a:cs typeface="Calibri"/>
                <a:sym typeface="Calibri"/>
              </a:rPr>
              <a:t>,</a:t>
            </a:r>
            <a:r>
              <a:rPr lang="en-GB" sz="2000">
                <a:solidFill>
                  <a:schemeClr val="dk1"/>
                </a:solidFill>
                <a:latin typeface="Calibri"/>
                <a:ea typeface="Calibri"/>
                <a:cs typeface="Calibri"/>
                <a:sym typeface="Calibri"/>
              </a:rPr>
              <a:t> resulting in a </a:t>
            </a:r>
            <a:r>
              <a:rPr lang="en-GB" sz="2000" b="1">
                <a:solidFill>
                  <a:srgbClr val="E36C09"/>
                </a:solidFill>
                <a:latin typeface="Calibri"/>
                <a:ea typeface="Calibri"/>
                <a:cs typeface="Calibri"/>
                <a:sym typeface="Calibri"/>
              </a:rPr>
              <a:t>net</a:t>
            </a:r>
            <a:r>
              <a:rPr lang="en-GB" sz="2000">
                <a:solidFill>
                  <a:srgbClr val="E36C09"/>
                </a:solidFill>
                <a:latin typeface="Calibri"/>
                <a:ea typeface="Calibri"/>
                <a:cs typeface="Calibri"/>
                <a:sym typeface="Calibri"/>
              </a:rPr>
              <a:t> </a:t>
            </a:r>
            <a:r>
              <a:rPr lang="en-GB" sz="2000" b="1">
                <a:solidFill>
                  <a:srgbClr val="E36C09"/>
                </a:solidFill>
                <a:latin typeface="Calibri"/>
                <a:ea typeface="Calibri"/>
                <a:cs typeface="Calibri"/>
                <a:sym typeface="Calibri"/>
              </a:rPr>
              <a:t>movement</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of particles from a region where they are of a </a:t>
            </a:r>
            <a:r>
              <a:rPr lang="en-GB" sz="2000" b="1">
                <a:solidFill>
                  <a:srgbClr val="E36C09"/>
                </a:solidFill>
                <a:latin typeface="Calibri"/>
                <a:ea typeface="Calibri"/>
                <a:cs typeface="Calibri"/>
                <a:sym typeface="Calibri"/>
              </a:rPr>
              <a:t>higher concentration</a:t>
            </a:r>
            <a:r>
              <a:rPr lang="en-GB" sz="2000" b="1">
                <a:solidFill>
                  <a:schemeClr val="dk1"/>
                </a:solidFill>
                <a:latin typeface="Calibri"/>
                <a:ea typeface="Calibri"/>
                <a:cs typeface="Calibri"/>
                <a:sym typeface="Calibri"/>
              </a:rPr>
              <a:t> </a:t>
            </a:r>
            <a:r>
              <a:rPr lang="en-GB" sz="2000" b="1" i="1">
                <a:solidFill>
                  <a:schemeClr val="dk1"/>
                </a:solidFill>
                <a:latin typeface="Calibri"/>
                <a:ea typeface="Calibri"/>
                <a:cs typeface="Calibri"/>
                <a:sym typeface="Calibri"/>
              </a:rPr>
              <a:t>to an area of </a:t>
            </a:r>
            <a:r>
              <a:rPr lang="en-GB" sz="2000" b="1">
                <a:solidFill>
                  <a:srgbClr val="E36C09"/>
                </a:solidFill>
                <a:latin typeface="Calibri"/>
                <a:ea typeface="Calibri"/>
                <a:cs typeface="Calibri"/>
                <a:sym typeface="Calibri"/>
              </a:rPr>
              <a:t>lower concentration.</a:t>
            </a:r>
            <a:r>
              <a:rPr lang="en-GB" sz="2000" b="1">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700" b="1">
              <a:solidFill>
                <a:schemeClr val="dk1"/>
              </a:solidFill>
              <a:latin typeface="Calibri"/>
              <a:ea typeface="Calibri"/>
              <a:cs typeface="Calibri"/>
              <a:sym typeface="Calibri"/>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Diffusion can occur in: Air</a:t>
            </a:r>
            <a:r>
              <a:rPr lang="en-GB" sz="2000" b="1">
                <a:solidFill>
                  <a:schemeClr val="dk1"/>
                </a:solidFill>
                <a:latin typeface="Calibri"/>
                <a:ea typeface="Calibri"/>
                <a:cs typeface="Calibri"/>
                <a:sym typeface="Calibri"/>
              </a:rPr>
              <a:t> – </a:t>
            </a:r>
            <a:r>
              <a:rPr lang="en-GB" sz="2000">
                <a:solidFill>
                  <a:schemeClr val="dk1"/>
                </a:solidFill>
                <a:latin typeface="Calibri"/>
                <a:ea typeface="Calibri"/>
                <a:cs typeface="Calibri"/>
                <a:sym typeface="Calibri"/>
              </a:rPr>
              <a:t>smells from perfume etc. </a:t>
            </a:r>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Solution </a:t>
            </a:r>
            <a:r>
              <a:rPr lang="en-GB" sz="2000" b="1">
                <a:solidFill>
                  <a:schemeClr val="dk1"/>
                </a:solidFill>
                <a:latin typeface="Calibri"/>
                <a:ea typeface="Calibri"/>
                <a:cs typeface="Calibri"/>
                <a:sym typeface="Calibri"/>
              </a:rPr>
              <a:t>– </a:t>
            </a:r>
            <a:r>
              <a:rPr lang="en-GB" sz="2000">
                <a:solidFill>
                  <a:schemeClr val="dk1"/>
                </a:solidFill>
                <a:latin typeface="Calibri"/>
                <a:ea typeface="Calibri"/>
                <a:cs typeface="Calibri"/>
                <a:sym typeface="Calibri"/>
              </a:rPr>
              <a:t>tea from a tea bag, dye in water etc. </a:t>
            </a:r>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Through membranes </a:t>
            </a:r>
            <a:r>
              <a:rPr lang="en-GB" sz="2000" b="1">
                <a:solidFill>
                  <a:schemeClr val="dk1"/>
                </a:solidFill>
                <a:latin typeface="Calibri"/>
                <a:ea typeface="Calibri"/>
                <a:cs typeface="Calibri"/>
                <a:sym typeface="Calibri"/>
              </a:rPr>
              <a:t>– </a:t>
            </a:r>
            <a:r>
              <a:rPr lang="en-GB" sz="2000">
                <a:solidFill>
                  <a:schemeClr val="dk1"/>
                </a:solidFill>
                <a:latin typeface="Calibri"/>
                <a:ea typeface="Calibri"/>
                <a:cs typeface="Calibri"/>
                <a:sym typeface="Calibri"/>
              </a:rPr>
              <a:t>small intestines, blood cells etc.</a:t>
            </a:r>
            <a:endParaRPr/>
          </a:p>
        </p:txBody>
      </p:sp>
      <p:sp>
        <p:nvSpPr>
          <p:cNvPr id="718" name="Google Shape;718;p57"/>
          <p:cNvSpPr/>
          <p:nvPr/>
        </p:nvSpPr>
        <p:spPr>
          <a:xfrm>
            <a:off x="0" y="0"/>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19" name="Google Shape;719;p57" descr="http://upload.wikimedia.org/wikipedia/commons/thumb/1/12/Diffusion.svg/410px-Diffusion.svg.png"/>
          <p:cNvPicPr preferRelativeResize="0"/>
          <p:nvPr/>
        </p:nvPicPr>
        <p:blipFill rotWithShape="1">
          <a:blip r:embed="rId3">
            <a:alphaModFix/>
          </a:blip>
          <a:srcRect/>
          <a:stretch/>
        </p:blipFill>
        <p:spPr>
          <a:xfrm>
            <a:off x="6372200" y="1422527"/>
            <a:ext cx="2232248" cy="1361127"/>
          </a:xfrm>
          <a:prstGeom prst="rect">
            <a:avLst/>
          </a:prstGeom>
          <a:noFill/>
          <a:ln>
            <a:noFill/>
          </a:ln>
        </p:spPr>
      </p:pic>
      <p:graphicFrame>
        <p:nvGraphicFramePr>
          <p:cNvPr id="720" name="Google Shape;720;p57"/>
          <p:cNvGraphicFramePr/>
          <p:nvPr/>
        </p:nvGraphicFramePr>
        <p:xfrm>
          <a:off x="168660" y="2994398"/>
          <a:ext cx="8806700" cy="3505200"/>
        </p:xfrm>
        <a:graphic>
          <a:graphicData uri="http://schemas.openxmlformats.org/drawingml/2006/table">
            <a:tbl>
              <a:tblPr>
                <a:noFill/>
                <a:tableStyleId>{7FB5C040-EF74-47EC-8CDE-39956F763B1A}</a:tableStyleId>
              </a:tblPr>
              <a:tblGrid>
                <a:gridCol w="2387125">
                  <a:extLst>
                    <a:ext uri="{9D8B030D-6E8A-4147-A177-3AD203B41FA5}">
                      <a16:colId xmlns:a16="http://schemas.microsoft.com/office/drawing/2014/main" val="20000"/>
                    </a:ext>
                  </a:extLst>
                </a:gridCol>
                <a:gridCol w="2671600">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gridCol w="1947775">
                  <a:extLst>
                    <a:ext uri="{9D8B030D-6E8A-4147-A177-3AD203B41FA5}">
                      <a16:colId xmlns:a16="http://schemas.microsoft.com/office/drawing/2014/main" val="20003"/>
                    </a:ext>
                  </a:extLst>
                </a:gridCol>
              </a:tblGrid>
              <a:tr h="158450">
                <a:tc gridSpan="4">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Substances that are transported in and out of cells in humans</a:t>
                      </a:r>
                      <a:endParaRPr/>
                    </a:p>
                    <a:p>
                      <a:pPr marL="0" marR="0" lvl="0" indent="0" algn="ctr" rtl="0">
                        <a:spcBef>
                          <a:spcPts val="0"/>
                        </a:spcBef>
                        <a:spcAft>
                          <a:spcPts val="0"/>
                        </a:spcAft>
                        <a:buNone/>
                      </a:pPr>
                      <a:endParaRPr sz="1000" b="1">
                        <a:solidFill>
                          <a:schemeClr val="dk1"/>
                        </a:solidFill>
                        <a:latin typeface="Calibri"/>
                        <a:ea typeface="Calibri"/>
                        <a:cs typeface="Calibri"/>
                        <a:sym typeface="Calibri"/>
                      </a:endParaRPr>
                    </a:p>
                  </a:txBody>
                  <a:tcPr marL="0" marR="0" marT="0" marB="0" anchor="ctr">
                    <a:solidFill>
                      <a:schemeClr val="accent6"/>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58450">
                <a:tc>
                  <a:txBody>
                    <a:bodyPr/>
                    <a:lstStyle/>
                    <a:p>
                      <a:pPr marL="0" marR="0" lvl="0" indent="0" algn="ctr" rtl="0">
                        <a:spcBef>
                          <a:spcPts val="0"/>
                        </a:spcBef>
                        <a:spcAft>
                          <a:spcPts val="0"/>
                        </a:spcAft>
                        <a:buNone/>
                      </a:pPr>
                      <a:r>
                        <a:rPr lang="en-GB" sz="2000">
                          <a:latin typeface="Calibri"/>
                          <a:ea typeface="Calibri"/>
                          <a:cs typeface="Calibri"/>
                          <a:sym typeface="Calibri"/>
                        </a:rPr>
                        <a:t>Location</a:t>
                      </a:r>
                      <a:endParaRPr sz="2000">
                        <a:solidFill>
                          <a:srgbClr val="FFFFFF"/>
                        </a:solidFill>
                        <a:latin typeface="Calibri"/>
                        <a:ea typeface="Calibri"/>
                        <a:cs typeface="Calibri"/>
                        <a:sym typeface="Calibri"/>
                      </a:endParaRPr>
                    </a:p>
                  </a:txBody>
                  <a:tcPr marL="0" marR="0" marT="0" marB="0" anchor="ctr">
                    <a:solidFill>
                      <a:schemeClr val="accent6"/>
                    </a:solidFill>
                  </a:tcPr>
                </a:tc>
                <a:tc>
                  <a:txBody>
                    <a:bodyPr/>
                    <a:lstStyle/>
                    <a:p>
                      <a:pPr marL="0" marR="0" lvl="0" indent="0" algn="ctr" rtl="0">
                        <a:spcBef>
                          <a:spcPts val="0"/>
                        </a:spcBef>
                        <a:spcAft>
                          <a:spcPts val="0"/>
                        </a:spcAft>
                        <a:buNone/>
                      </a:pPr>
                      <a:r>
                        <a:rPr lang="en-GB" sz="2000">
                          <a:latin typeface="Calibri"/>
                          <a:ea typeface="Calibri"/>
                          <a:cs typeface="Calibri"/>
                          <a:sym typeface="Calibri"/>
                        </a:rPr>
                        <a:t>Particles move</a:t>
                      </a:r>
                      <a:endParaRPr sz="2000">
                        <a:solidFill>
                          <a:srgbClr val="FFFFFF"/>
                        </a:solidFill>
                        <a:latin typeface="Calibri"/>
                        <a:ea typeface="Calibri"/>
                        <a:cs typeface="Calibri"/>
                        <a:sym typeface="Calibri"/>
                      </a:endParaRPr>
                    </a:p>
                  </a:txBody>
                  <a:tcPr marL="0" marR="0" marT="0" marB="0" anchor="ctr">
                    <a:solidFill>
                      <a:schemeClr val="accent6"/>
                    </a:solidFill>
                  </a:tcPr>
                </a:tc>
                <a:tc>
                  <a:txBody>
                    <a:bodyPr/>
                    <a:lstStyle/>
                    <a:p>
                      <a:pPr marL="0" marR="0" lvl="0" indent="0" algn="ctr" rtl="0">
                        <a:spcBef>
                          <a:spcPts val="0"/>
                        </a:spcBef>
                        <a:spcAft>
                          <a:spcPts val="0"/>
                        </a:spcAft>
                        <a:buNone/>
                      </a:pPr>
                      <a:r>
                        <a:rPr lang="en-GB" sz="2000">
                          <a:latin typeface="Calibri"/>
                          <a:ea typeface="Calibri"/>
                          <a:cs typeface="Calibri"/>
                          <a:sym typeface="Calibri"/>
                        </a:rPr>
                        <a:t>From</a:t>
                      </a:r>
                      <a:endParaRPr sz="2000">
                        <a:solidFill>
                          <a:srgbClr val="FFFFFF"/>
                        </a:solidFill>
                        <a:latin typeface="Calibri"/>
                        <a:ea typeface="Calibri"/>
                        <a:cs typeface="Calibri"/>
                        <a:sym typeface="Calibri"/>
                      </a:endParaRPr>
                    </a:p>
                  </a:txBody>
                  <a:tcPr marL="0" marR="0" marT="0" marB="0" anchor="ctr">
                    <a:solidFill>
                      <a:schemeClr val="accent6"/>
                    </a:solidFill>
                  </a:tcPr>
                </a:tc>
                <a:tc>
                  <a:txBody>
                    <a:bodyPr/>
                    <a:lstStyle/>
                    <a:p>
                      <a:pPr marL="0" marR="0" lvl="0" indent="0" algn="ctr" rtl="0">
                        <a:spcBef>
                          <a:spcPts val="0"/>
                        </a:spcBef>
                        <a:spcAft>
                          <a:spcPts val="0"/>
                        </a:spcAft>
                        <a:buNone/>
                      </a:pPr>
                      <a:r>
                        <a:rPr lang="en-GB" sz="2000">
                          <a:latin typeface="Calibri"/>
                          <a:ea typeface="Calibri"/>
                          <a:cs typeface="Calibri"/>
                          <a:sym typeface="Calibri"/>
                        </a:rPr>
                        <a:t>To</a:t>
                      </a:r>
                      <a:endParaRPr sz="2000">
                        <a:solidFill>
                          <a:srgbClr val="FFFFFF"/>
                        </a:solidFill>
                        <a:latin typeface="Calibri"/>
                        <a:ea typeface="Calibri"/>
                        <a:cs typeface="Calibri"/>
                        <a:sym typeface="Calibri"/>
                      </a:endParaRPr>
                    </a:p>
                  </a:txBody>
                  <a:tcPr marL="0" marR="0" marT="0" marB="0" anchor="ctr">
                    <a:solidFill>
                      <a:schemeClr val="accent6"/>
                    </a:solidFill>
                  </a:tcPr>
                </a:tc>
                <a:extLst>
                  <a:ext uri="{0D108BD9-81ED-4DB2-BD59-A6C34878D82A}">
                    <a16:rowId xmlns:a16="http://schemas.microsoft.com/office/drawing/2014/main" val="10001"/>
                  </a:ext>
                </a:extLst>
              </a:tr>
              <a:tr h="914400">
                <a:tc>
                  <a:txBody>
                    <a:bodyPr/>
                    <a:lstStyle/>
                    <a:p>
                      <a:pPr marL="0" marR="0" lvl="0" indent="0" algn="l" rtl="0">
                        <a:spcBef>
                          <a:spcPts val="0"/>
                        </a:spcBef>
                        <a:spcAft>
                          <a:spcPts val="0"/>
                        </a:spcAft>
                        <a:buNone/>
                      </a:pPr>
                      <a:r>
                        <a:rPr lang="en-GB" sz="2000" b="1">
                          <a:latin typeface="Calibri"/>
                          <a:ea typeface="Calibri"/>
                          <a:cs typeface="Calibri"/>
                          <a:sym typeface="Calibri"/>
                        </a:rPr>
                        <a:t> Small </a:t>
                      </a:r>
                      <a:endParaRPr/>
                    </a:p>
                    <a:p>
                      <a:pPr marL="0" marR="0" lvl="0" indent="0" algn="l" rtl="0">
                        <a:spcBef>
                          <a:spcPts val="0"/>
                        </a:spcBef>
                        <a:spcAft>
                          <a:spcPts val="0"/>
                        </a:spcAft>
                        <a:buNone/>
                      </a:pPr>
                      <a:r>
                        <a:rPr lang="en-GB" sz="2000" b="1">
                          <a:latin typeface="Calibri"/>
                          <a:ea typeface="Calibri"/>
                          <a:cs typeface="Calibri"/>
                          <a:sym typeface="Calibri"/>
                        </a:rPr>
                        <a:t> Intestine</a:t>
                      </a:r>
                      <a:endParaRPr/>
                    </a:p>
                    <a:p>
                      <a:pPr marL="0" marR="0" lvl="0" indent="0" algn="l" rtl="0">
                        <a:spcBef>
                          <a:spcPts val="0"/>
                        </a:spcBef>
                        <a:spcAft>
                          <a:spcPts val="0"/>
                        </a:spcAft>
                        <a:buNone/>
                      </a:pPr>
                      <a:endParaRPr sz="2000" b="1">
                        <a:latin typeface="Calibri"/>
                        <a:ea typeface="Calibri"/>
                        <a:cs typeface="Calibri"/>
                        <a:sym typeface="Calibri"/>
                      </a:endParaRPr>
                    </a:p>
                  </a:txBody>
                  <a:tcPr marL="0" marR="0" marT="0" marB="0" anchor="ctr"/>
                </a:tc>
                <a:tc>
                  <a:txBody>
                    <a:bodyPr/>
                    <a:lstStyle/>
                    <a:p>
                      <a:pPr marL="0" marR="0" lvl="0" indent="0" algn="ctr" rtl="0">
                        <a:spcBef>
                          <a:spcPts val="0"/>
                        </a:spcBef>
                        <a:spcAft>
                          <a:spcPts val="0"/>
                        </a:spcAft>
                        <a:buNone/>
                      </a:pPr>
                      <a:r>
                        <a:rPr lang="en-GB" sz="2000" b="1">
                          <a:latin typeface="Calibri"/>
                          <a:ea typeface="Calibri"/>
                          <a:cs typeface="Calibri"/>
                          <a:sym typeface="Calibri"/>
                        </a:rPr>
                        <a:t>Digested food e.g. glucose, amino acids</a:t>
                      </a:r>
                      <a:endParaRPr sz="2000" b="1">
                        <a:solidFill>
                          <a:srgbClr val="FFFFFF"/>
                        </a:solidFill>
                        <a:latin typeface="Calibri"/>
                        <a:ea typeface="Calibri"/>
                        <a:cs typeface="Calibri"/>
                        <a:sym typeface="Calibri"/>
                      </a:endParaRPr>
                    </a:p>
                  </a:txBody>
                  <a:tcPr marL="0" marR="0" marT="0" marB="0" anchor="ctr"/>
                </a:tc>
                <a:tc>
                  <a:txBody>
                    <a:bodyPr/>
                    <a:lstStyle/>
                    <a:p>
                      <a:pPr marL="0" marR="0" lvl="0" indent="0" algn="ctr" rtl="0">
                        <a:spcBef>
                          <a:spcPts val="0"/>
                        </a:spcBef>
                        <a:spcAft>
                          <a:spcPts val="0"/>
                        </a:spcAft>
                        <a:buNone/>
                      </a:pPr>
                      <a:r>
                        <a:rPr lang="en-GB" sz="2000" b="1">
                          <a:latin typeface="Calibri"/>
                          <a:ea typeface="Calibri"/>
                          <a:cs typeface="Calibri"/>
                          <a:sym typeface="Calibri"/>
                        </a:rPr>
                        <a:t>Small intestine </a:t>
                      </a:r>
                      <a:endParaRPr sz="2000" b="1">
                        <a:solidFill>
                          <a:srgbClr val="FFFFFF"/>
                        </a:solidFill>
                        <a:latin typeface="Calibri"/>
                        <a:ea typeface="Calibri"/>
                        <a:cs typeface="Calibri"/>
                        <a:sym typeface="Calibri"/>
                      </a:endParaRPr>
                    </a:p>
                  </a:txBody>
                  <a:tcPr marL="0" marR="0" marT="0" marB="0" anchor="ctr"/>
                </a:tc>
                <a:tc>
                  <a:txBody>
                    <a:bodyPr/>
                    <a:lstStyle/>
                    <a:p>
                      <a:pPr marL="0" marR="0" lvl="0" indent="0" algn="ctr" rtl="0">
                        <a:spcBef>
                          <a:spcPts val="0"/>
                        </a:spcBef>
                        <a:spcAft>
                          <a:spcPts val="0"/>
                        </a:spcAft>
                        <a:buNone/>
                      </a:pPr>
                      <a:r>
                        <a:rPr lang="en-GB" sz="2000" b="1">
                          <a:latin typeface="Calibri"/>
                          <a:ea typeface="Calibri"/>
                          <a:cs typeface="Calibri"/>
                          <a:sym typeface="Calibri"/>
                        </a:rPr>
                        <a:t>Blood in capillary of villus</a:t>
                      </a:r>
                      <a:endParaRPr sz="2000" b="1">
                        <a:solidFill>
                          <a:srgbClr val="FFFFFF"/>
                        </a:solidFill>
                        <a:latin typeface="Calibri"/>
                        <a:ea typeface="Calibri"/>
                        <a:cs typeface="Calibri"/>
                        <a:sym typeface="Calibri"/>
                      </a:endParaRPr>
                    </a:p>
                  </a:txBody>
                  <a:tcPr marL="0" marR="0" marT="0" marB="0" anchor="ctr"/>
                </a:tc>
                <a:extLst>
                  <a:ext uri="{0D108BD9-81ED-4DB2-BD59-A6C34878D82A}">
                    <a16:rowId xmlns:a16="http://schemas.microsoft.com/office/drawing/2014/main" val="10002"/>
                  </a:ext>
                </a:extLst>
              </a:tr>
              <a:tr h="914400">
                <a:tc>
                  <a:txBody>
                    <a:bodyPr/>
                    <a:lstStyle/>
                    <a:p>
                      <a:pPr marL="0" marR="0" lvl="0" indent="0" algn="l" rtl="0">
                        <a:spcBef>
                          <a:spcPts val="0"/>
                        </a:spcBef>
                        <a:spcAft>
                          <a:spcPts val="0"/>
                        </a:spcAft>
                        <a:buNone/>
                      </a:pPr>
                      <a:r>
                        <a:rPr lang="en-GB" sz="2000" b="1">
                          <a:latin typeface="Calibri"/>
                          <a:ea typeface="Calibri"/>
                          <a:cs typeface="Calibri"/>
                          <a:sym typeface="Calibri"/>
                        </a:rPr>
                        <a:t> Lungs</a:t>
                      </a:r>
                      <a:endParaRPr/>
                    </a:p>
                    <a:p>
                      <a:pPr marL="0" marR="0" lvl="0" indent="0" algn="l" rtl="0">
                        <a:spcBef>
                          <a:spcPts val="0"/>
                        </a:spcBef>
                        <a:spcAft>
                          <a:spcPts val="0"/>
                        </a:spcAft>
                        <a:buNone/>
                      </a:pPr>
                      <a:endParaRPr sz="2000" b="1">
                        <a:solidFill>
                          <a:srgbClr val="FFFFFF"/>
                        </a:solidFill>
                        <a:latin typeface="Calibri"/>
                        <a:ea typeface="Calibri"/>
                        <a:cs typeface="Calibri"/>
                        <a:sym typeface="Calibri"/>
                      </a:endParaRPr>
                    </a:p>
                  </a:txBody>
                  <a:tcPr marL="0" marR="0" marT="0" marB="0" anchor="ctr"/>
                </a:tc>
                <a:tc>
                  <a:txBody>
                    <a:bodyPr/>
                    <a:lstStyle/>
                    <a:p>
                      <a:pPr marL="0" marR="0" lvl="0" indent="0" algn="ctr" rtl="0">
                        <a:spcBef>
                          <a:spcPts val="0"/>
                        </a:spcBef>
                        <a:spcAft>
                          <a:spcPts val="0"/>
                        </a:spcAft>
                        <a:buNone/>
                      </a:pPr>
                      <a:r>
                        <a:rPr lang="en-GB" sz="2000" b="1">
                          <a:latin typeface="Calibri"/>
                          <a:ea typeface="Calibri"/>
                          <a:cs typeface="Calibri"/>
                          <a:sym typeface="Calibri"/>
                        </a:rPr>
                        <a:t>Oxygen </a:t>
                      </a:r>
                      <a:endParaRPr sz="2000" b="1">
                        <a:solidFill>
                          <a:srgbClr val="FFFFFF"/>
                        </a:solidFill>
                        <a:latin typeface="Calibri"/>
                        <a:ea typeface="Calibri"/>
                        <a:cs typeface="Calibri"/>
                        <a:sym typeface="Calibri"/>
                      </a:endParaRPr>
                    </a:p>
                  </a:txBody>
                  <a:tcPr marL="0" marR="0" marT="0" marB="0" anchor="ctr"/>
                </a:tc>
                <a:tc>
                  <a:txBody>
                    <a:bodyPr/>
                    <a:lstStyle/>
                    <a:p>
                      <a:pPr marL="0" marR="0" lvl="0" indent="0" algn="ctr" rtl="0">
                        <a:spcBef>
                          <a:spcPts val="0"/>
                        </a:spcBef>
                        <a:spcAft>
                          <a:spcPts val="0"/>
                        </a:spcAft>
                        <a:buNone/>
                      </a:pPr>
                      <a:r>
                        <a:rPr lang="en-GB" sz="2000" b="1">
                          <a:latin typeface="Calibri"/>
                          <a:ea typeface="Calibri"/>
                          <a:cs typeface="Calibri"/>
                          <a:sym typeface="Calibri"/>
                        </a:rPr>
                        <a:t>Alveolar air space</a:t>
                      </a:r>
                      <a:endParaRPr sz="2000" b="1">
                        <a:solidFill>
                          <a:srgbClr val="FFFFFF"/>
                        </a:solidFill>
                        <a:latin typeface="Calibri"/>
                        <a:ea typeface="Calibri"/>
                        <a:cs typeface="Calibri"/>
                        <a:sym typeface="Calibri"/>
                      </a:endParaRPr>
                    </a:p>
                  </a:txBody>
                  <a:tcPr marL="0" marR="0" marT="0" marB="0" anchor="ctr"/>
                </a:tc>
                <a:tc>
                  <a:txBody>
                    <a:bodyPr/>
                    <a:lstStyle/>
                    <a:p>
                      <a:pPr marL="0" marR="0" lvl="0" indent="0" algn="ctr" rtl="0">
                        <a:spcBef>
                          <a:spcPts val="0"/>
                        </a:spcBef>
                        <a:spcAft>
                          <a:spcPts val="0"/>
                        </a:spcAft>
                        <a:buNone/>
                      </a:pPr>
                      <a:r>
                        <a:rPr lang="en-GB" sz="2000" b="1">
                          <a:latin typeface="Calibri"/>
                          <a:ea typeface="Calibri"/>
                          <a:cs typeface="Calibri"/>
                          <a:sym typeface="Calibri"/>
                        </a:rPr>
                        <a:t>Blood circulating around the lungs</a:t>
                      </a:r>
                      <a:endParaRPr sz="2000" b="1">
                        <a:solidFill>
                          <a:srgbClr val="FFFFFF"/>
                        </a:solidFill>
                        <a:latin typeface="Calibri"/>
                        <a:ea typeface="Calibri"/>
                        <a:cs typeface="Calibri"/>
                        <a:sym typeface="Calibri"/>
                      </a:endParaRPr>
                    </a:p>
                  </a:txBody>
                  <a:tcPr marL="0" marR="0" marT="0" marB="0" anchor="ctr"/>
                </a:tc>
                <a:extLst>
                  <a:ext uri="{0D108BD9-81ED-4DB2-BD59-A6C34878D82A}">
                    <a16:rowId xmlns:a16="http://schemas.microsoft.com/office/drawing/2014/main" val="10003"/>
                  </a:ext>
                </a:extLst>
              </a:tr>
              <a:tr h="914400">
                <a:tc>
                  <a:txBody>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 Kidneys</a:t>
                      </a:r>
                      <a:endParaRPr/>
                    </a:p>
                  </a:txBody>
                  <a:tcPr marL="0" marR="0" marT="0" marB="0"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Urea</a:t>
                      </a:r>
                      <a:endParaRPr/>
                    </a:p>
                  </a:txBody>
                  <a:tcPr marL="0" marR="0" marT="0" marB="0"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Cells</a:t>
                      </a:r>
                      <a:endParaRPr/>
                    </a:p>
                  </a:txBody>
                  <a:tcPr marL="0" marR="0" marT="0" marB="0" anchor="ctr"/>
                </a:tc>
                <a:tc>
                  <a:txBody>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Blood plasma</a:t>
                      </a:r>
                      <a:endParaRPr/>
                    </a:p>
                  </a:txBody>
                  <a:tcPr marL="0" marR="0" marT="0" marB="0" anchor="ctr"/>
                </a:tc>
                <a:extLst>
                  <a:ext uri="{0D108BD9-81ED-4DB2-BD59-A6C34878D82A}">
                    <a16:rowId xmlns:a16="http://schemas.microsoft.com/office/drawing/2014/main" val="10004"/>
                  </a:ext>
                </a:extLst>
              </a:tr>
            </a:tbl>
          </a:graphicData>
        </a:graphic>
      </p:graphicFrame>
      <p:pic>
        <p:nvPicPr>
          <p:cNvPr id="721" name="Google Shape;721;p57"/>
          <p:cNvPicPr preferRelativeResize="0"/>
          <p:nvPr/>
        </p:nvPicPr>
        <p:blipFill rotWithShape="1">
          <a:blip r:embed="rId4">
            <a:alphaModFix/>
          </a:blip>
          <a:srcRect/>
          <a:stretch/>
        </p:blipFill>
        <p:spPr>
          <a:xfrm>
            <a:off x="1203943" y="4456512"/>
            <a:ext cx="1008492" cy="1071053"/>
          </a:xfrm>
          <a:prstGeom prst="rect">
            <a:avLst/>
          </a:prstGeom>
          <a:noFill/>
          <a:ln>
            <a:noFill/>
          </a:ln>
        </p:spPr>
      </p:pic>
      <p:pic>
        <p:nvPicPr>
          <p:cNvPr id="722" name="Google Shape;722;p57"/>
          <p:cNvPicPr preferRelativeResize="0"/>
          <p:nvPr/>
        </p:nvPicPr>
        <p:blipFill rotWithShape="1">
          <a:blip r:embed="rId5">
            <a:alphaModFix/>
          </a:blip>
          <a:srcRect l="33855" t="18188" r="26091" b="4118"/>
          <a:stretch/>
        </p:blipFill>
        <p:spPr>
          <a:xfrm>
            <a:off x="1449074" y="3784423"/>
            <a:ext cx="518230" cy="841058"/>
          </a:xfrm>
          <a:prstGeom prst="rect">
            <a:avLst/>
          </a:prstGeom>
          <a:noFill/>
          <a:ln>
            <a:noFill/>
          </a:ln>
        </p:spPr>
      </p:pic>
      <p:pic>
        <p:nvPicPr>
          <p:cNvPr id="723" name="Google Shape;723;p57"/>
          <p:cNvPicPr preferRelativeResize="0"/>
          <p:nvPr/>
        </p:nvPicPr>
        <p:blipFill rotWithShape="1">
          <a:blip r:embed="rId6">
            <a:alphaModFix/>
          </a:blip>
          <a:srcRect/>
          <a:stretch/>
        </p:blipFill>
        <p:spPr>
          <a:xfrm>
            <a:off x="1449074" y="5618053"/>
            <a:ext cx="577830" cy="79105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58"/>
          <p:cNvSpPr txBox="1">
            <a:spLocks noGrp="1"/>
          </p:cNvSpPr>
          <p:nvPr>
            <p:ph type="ctrTitle"/>
          </p:nvPr>
        </p:nvSpPr>
        <p:spPr>
          <a:xfrm>
            <a:off x="1619672" y="0"/>
            <a:ext cx="7524328"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Transport in cells - Diffusion</a:t>
            </a:r>
            <a:endParaRPr/>
          </a:p>
        </p:txBody>
      </p:sp>
      <p:sp>
        <p:nvSpPr>
          <p:cNvPr id="730" name="Google Shape;730;p58"/>
          <p:cNvSpPr/>
          <p:nvPr/>
        </p:nvSpPr>
        <p:spPr>
          <a:xfrm>
            <a:off x="0" y="0"/>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1" name="Google Shape;731;p58"/>
          <p:cNvSpPr/>
          <p:nvPr/>
        </p:nvSpPr>
        <p:spPr>
          <a:xfrm>
            <a:off x="111522" y="687923"/>
            <a:ext cx="9032478"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a:solidFill>
                  <a:schemeClr val="dk1"/>
                </a:solidFill>
                <a:latin typeface="Calibri"/>
                <a:ea typeface="Calibri"/>
                <a:cs typeface="Calibri"/>
                <a:sym typeface="Calibri"/>
              </a:rPr>
              <a:t>Factors which affect the rate of diffusion:</a:t>
            </a:r>
            <a:endParaRPr/>
          </a:p>
          <a:p>
            <a:pPr marL="0" marR="0" lvl="0" indent="0" algn="l" rtl="0">
              <a:spcBef>
                <a:spcPts val="0"/>
              </a:spcBef>
              <a:spcAft>
                <a:spcPts val="0"/>
              </a:spcAft>
              <a:buNone/>
            </a:pPr>
            <a:r>
              <a:rPr lang="en-GB" sz="2000" b="1" u="sng">
                <a:solidFill>
                  <a:srgbClr val="E36C09"/>
                </a:solidFill>
                <a:latin typeface="Calibri"/>
                <a:ea typeface="Calibri"/>
                <a:cs typeface="Calibri"/>
                <a:sym typeface="Calibri"/>
              </a:rPr>
              <a:t>The concentration gradient:</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A </a:t>
            </a:r>
            <a:r>
              <a:rPr lang="en-GB" sz="2000" b="1">
                <a:solidFill>
                  <a:srgbClr val="E36C09"/>
                </a:solidFill>
                <a:latin typeface="Calibri"/>
                <a:ea typeface="Calibri"/>
                <a:cs typeface="Calibri"/>
                <a:sym typeface="Calibri"/>
              </a:rPr>
              <a:t>difference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in </a:t>
            </a:r>
            <a:r>
              <a:rPr lang="en-GB" sz="2000" b="1">
                <a:solidFill>
                  <a:srgbClr val="E36C09"/>
                </a:solidFill>
                <a:latin typeface="Calibri"/>
                <a:ea typeface="Calibri"/>
                <a:cs typeface="Calibri"/>
                <a:sym typeface="Calibri"/>
              </a:rPr>
              <a:t>concentration</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between </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two </a:t>
            </a:r>
            <a:r>
              <a:rPr lang="en-GB" sz="2000" b="1">
                <a:solidFill>
                  <a:srgbClr val="E36C09"/>
                </a:solidFill>
                <a:latin typeface="Calibri"/>
                <a:ea typeface="Calibri"/>
                <a:cs typeface="Calibri"/>
                <a:sym typeface="Calibri"/>
              </a:rPr>
              <a:t>areas next </a:t>
            </a:r>
            <a:r>
              <a:rPr lang="en-GB" sz="2000">
                <a:solidFill>
                  <a:schemeClr val="dk1"/>
                </a:solidFill>
                <a:latin typeface="Calibri"/>
                <a:ea typeface="Calibri"/>
                <a:cs typeface="Calibri"/>
                <a:sym typeface="Calibri"/>
              </a:rPr>
              <a:t>to each other. Particles</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will move </a:t>
            </a:r>
            <a:r>
              <a:rPr lang="en-GB" sz="2000" b="1">
                <a:solidFill>
                  <a:srgbClr val="E36C09"/>
                </a:solidFill>
                <a:latin typeface="Calibri"/>
                <a:ea typeface="Calibri"/>
                <a:cs typeface="Calibri"/>
                <a:sym typeface="Calibri"/>
              </a:rPr>
              <a:t>down</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the concentration </a:t>
            </a:r>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gradient from high to low</a:t>
            </a:r>
            <a:r>
              <a:rPr lang="en-GB" sz="2000" b="1">
                <a:solidFill>
                  <a:schemeClr val="dk1"/>
                </a:solidFill>
                <a:latin typeface="Calibri"/>
                <a:ea typeface="Calibri"/>
                <a:cs typeface="Calibri"/>
                <a:sym typeface="Calibri"/>
              </a:rPr>
              <a:t>. </a:t>
            </a:r>
            <a:endParaRPr/>
          </a:p>
          <a:p>
            <a:pPr marL="342900" marR="0" lvl="0" indent="-285750" algn="l" rtl="0">
              <a:spcBef>
                <a:spcPts val="0"/>
              </a:spcBef>
              <a:spcAft>
                <a:spcPts val="0"/>
              </a:spcAft>
              <a:buClr>
                <a:schemeClr val="dk1"/>
              </a:buClr>
              <a:buSzPts val="900"/>
              <a:buFont typeface="Arial"/>
              <a:buNone/>
            </a:pPr>
            <a:endParaRPr sz="900">
              <a:solidFill>
                <a:schemeClr val="dk1"/>
              </a:solidFill>
              <a:latin typeface="Calibri"/>
              <a:ea typeface="Calibri"/>
              <a:cs typeface="Calibri"/>
              <a:sym typeface="Calibri"/>
            </a:endParaRPr>
          </a:p>
          <a:p>
            <a:pPr marL="0" marR="0" lvl="0" indent="0" algn="l" rtl="0">
              <a:spcBef>
                <a:spcPts val="0"/>
              </a:spcBef>
              <a:spcAft>
                <a:spcPts val="0"/>
              </a:spcAft>
              <a:buNone/>
            </a:pPr>
            <a:r>
              <a:rPr lang="en-GB" sz="2000" b="1" u="sng">
                <a:solidFill>
                  <a:srgbClr val="E36C09"/>
                </a:solidFill>
                <a:latin typeface="Calibri"/>
                <a:ea typeface="Calibri"/>
                <a:cs typeface="Calibri"/>
                <a:sym typeface="Calibri"/>
              </a:rPr>
              <a:t>The temperature: </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As the </a:t>
            </a:r>
            <a:r>
              <a:rPr lang="en-GB" sz="2000" b="1">
                <a:solidFill>
                  <a:srgbClr val="E36C09"/>
                </a:solidFill>
                <a:latin typeface="Calibri"/>
                <a:ea typeface="Calibri"/>
                <a:cs typeface="Calibri"/>
                <a:sym typeface="Calibri"/>
              </a:rPr>
              <a:t>temperature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increases the particles</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in a gas or liquid gain </a:t>
            </a:r>
            <a:r>
              <a:rPr lang="en-GB" sz="2000" b="1">
                <a:solidFill>
                  <a:srgbClr val="E36C09"/>
                </a:solidFill>
                <a:latin typeface="Calibri"/>
                <a:ea typeface="Calibri"/>
                <a:cs typeface="Calibri"/>
                <a:sym typeface="Calibri"/>
              </a:rPr>
              <a:t>more energy </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so they move </a:t>
            </a:r>
            <a:r>
              <a:rPr lang="en-GB" sz="2000" b="1">
                <a:solidFill>
                  <a:srgbClr val="E36C09"/>
                </a:solidFill>
                <a:latin typeface="Calibri"/>
                <a:ea typeface="Calibri"/>
                <a:cs typeface="Calibri"/>
                <a:sym typeface="Calibri"/>
              </a:rPr>
              <a:t>faster</a:t>
            </a:r>
            <a:r>
              <a:rPr lang="en-GB" sz="2000">
                <a:solidFill>
                  <a:schemeClr val="dk1"/>
                </a:solidFill>
                <a:latin typeface="Calibri"/>
                <a:ea typeface="Calibri"/>
                <a:cs typeface="Calibri"/>
                <a:sym typeface="Calibri"/>
              </a:rPr>
              <a:t>. The </a:t>
            </a:r>
            <a:r>
              <a:rPr lang="en-GB" sz="2000" b="1">
                <a:solidFill>
                  <a:srgbClr val="E36C09"/>
                </a:solidFill>
                <a:latin typeface="Calibri"/>
                <a:ea typeface="Calibri"/>
                <a:cs typeface="Calibri"/>
                <a:sym typeface="Calibri"/>
              </a:rPr>
              <a:t>hotter</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it is the </a:t>
            </a:r>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faster</a:t>
            </a:r>
            <a:r>
              <a:rPr lang="en-GB" sz="2000">
                <a:solidFill>
                  <a:schemeClr val="dk1"/>
                </a:solidFill>
                <a:latin typeface="Calibri"/>
                <a:ea typeface="Calibri"/>
                <a:cs typeface="Calibri"/>
                <a:sym typeface="Calibri"/>
              </a:rPr>
              <a:t> the rate of diffusion.</a:t>
            </a:r>
            <a:endParaRPr/>
          </a:p>
          <a:p>
            <a:pPr marL="0" marR="0" lvl="0" indent="0" algn="l" rtl="0">
              <a:spcBef>
                <a:spcPts val="0"/>
              </a:spcBef>
              <a:spcAft>
                <a:spcPts val="0"/>
              </a:spcAft>
              <a:buNone/>
            </a:pPr>
            <a:endParaRPr sz="1100">
              <a:solidFill>
                <a:schemeClr val="dk1"/>
              </a:solidFill>
              <a:latin typeface="Calibri"/>
              <a:ea typeface="Calibri"/>
              <a:cs typeface="Calibri"/>
              <a:sym typeface="Calibri"/>
            </a:endParaRPr>
          </a:p>
          <a:p>
            <a:pPr marL="0" marR="0" lvl="0" indent="0" algn="l" rtl="0">
              <a:spcBef>
                <a:spcPts val="0"/>
              </a:spcBef>
              <a:spcAft>
                <a:spcPts val="0"/>
              </a:spcAft>
              <a:buNone/>
            </a:pPr>
            <a:r>
              <a:rPr lang="en-GB" sz="2000" b="1" u="sng">
                <a:solidFill>
                  <a:srgbClr val="E36C09"/>
                </a:solidFill>
                <a:latin typeface="Calibri"/>
                <a:ea typeface="Calibri"/>
                <a:cs typeface="Calibri"/>
                <a:sym typeface="Calibri"/>
              </a:rPr>
              <a:t>The surface area of the membrane:</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A </a:t>
            </a:r>
            <a:r>
              <a:rPr lang="en-GB" sz="2000" b="1">
                <a:solidFill>
                  <a:srgbClr val="E36C09"/>
                </a:solidFill>
                <a:latin typeface="Calibri"/>
                <a:ea typeface="Calibri"/>
                <a:cs typeface="Calibri"/>
                <a:sym typeface="Calibri"/>
              </a:rPr>
              <a:t>single-celled organism </a:t>
            </a:r>
            <a:r>
              <a:rPr lang="en-GB" sz="2000">
                <a:solidFill>
                  <a:schemeClr val="dk1"/>
                </a:solidFill>
                <a:latin typeface="Calibri"/>
                <a:ea typeface="Calibri"/>
                <a:cs typeface="Calibri"/>
                <a:sym typeface="Calibri"/>
              </a:rPr>
              <a:t>has a</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large surface area compared to its </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volume. This allows sufficient </a:t>
            </a:r>
            <a:r>
              <a:rPr lang="en-GB" sz="2000" b="1">
                <a:solidFill>
                  <a:srgbClr val="E36C09"/>
                </a:solidFill>
                <a:latin typeface="Calibri"/>
                <a:ea typeface="Calibri"/>
                <a:cs typeface="Calibri"/>
                <a:sym typeface="Calibri"/>
              </a:rPr>
              <a:t>transport</a:t>
            </a:r>
            <a:r>
              <a:rPr lang="en-GB" sz="2000">
                <a:solidFill>
                  <a:schemeClr val="dk1"/>
                </a:solidFill>
                <a:latin typeface="Calibri"/>
                <a:ea typeface="Calibri"/>
                <a:cs typeface="Calibri"/>
                <a:sym typeface="Calibri"/>
              </a:rPr>
              <a:t> of </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molecules into and out of the cell</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to meet the </a:t>
            </a:r>
            <a:r>
              <a:rPr lang="en-GB" sz="2000" b="1">
                <a:solidFill>
                  <a:srgbClr val="E36C09"/>
                </a:solidFill>
                <a:latin typeface="Calibri"/>
                <a:ea typeface="Calibri"/>
                <a:cs typeface="Calibri"/>
                <a:sym typeface="Calibri"/>
              </a:rPr>
              <a:t>needs</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of the organism.</a:t>
            </a:r>
            <a:endParaRPr sz="2000">
              <a:solidFill>
                <a:schemeClr val="dk1"/>
              </a:solidFill>
              <a:latin typeface="Calibri"/>
              <a:ea typeface="Calibri"/>
              <a:cs typeface="Calibri"/>
              <a:sym typeface="Calibri"/>
            </a:endParaRPr>
          </a:p>
        </p:txBody>
      </p:sp>
      <p:pic>
        <p:nvPicPr>
          <p:cNvPr id="732" name="Google Shape;732;p58"/>
          <p:cNvPicPr preferRelativeResize="0"/>
          <p:nvPr/>
        </p:nvPicPr>
        <p:blipFill rotWithShape="1">
          <a:blip r:embed="rId3">
            <a:alphaModFix/>
          </a:blip>
          <a:srcRect/>
          <a:stretch/>
        </p:blipFill>
        <p:spPr>
          <a:xfrm>
            <a:off x="4309551" y="614837"/>
            <a:ext cx="4736095" cy="2407336"/>
          </a:xfrm>
          <a:prstGeom prst="rect">
            <a:avLst/>
          </a:prstGeom>
          <a:noFill/>
          <a:ln>
            <a:noFill/>
          </a:ln>
        </p:spPr>
      </p:pic>
      <p:sp>
        <p:nvSpPr>
          <p:cNvPr id="733" name="Google Shape;733;p58"/>
          <p:cNvSpPr/>
          <p:nvPr/>
        </p:nvSpPr>
        <p:spPr>
          <a:xfrm>
            <a:off x="5269249" y="622171"/>
            <a:ext cx="3923928" cy="89255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600">
                <a:solidFill>
                  <a:schemeClr val="dk1"/>
                </a:solidFill>
                <a:latin typeface="Calibri"/>
                <a:ea typeface="Calibri"/>
                <a:cs typeface="Calibri"/>
                <a:sym typeface="Calibri"/>
              </a:rPr>
              <a:t>The </a:t>
            </a:r>
            <a:r>
              <a:rPr lang="en-GB" sz="1800" b="1">
                <a:solidFill>
                  <a:srgbClr val="E36C09"/>
                </a:solidFill>
                <a:latin typeface="Calibri"/>
                <a:ea typeface="Calibri"/>
                <a:cs typeface="Calibri"/>
                <a:sym typeface="Calibri"/>
              </a:rPr>
              <a:t>larger</a:t>
            </a:r>
            <a:r>
              <a:rPr lang="en-GB" sz="1800">
                <a:solidFill>
                  <a:srgbClr val="E36C09"/>
                </a:solidFill>
                <a:latin typeface="Calibri"/>
                <a:ea typeface="Calibri"/>
                <a:cs typeface="Calibri"/>
                <a:sym typeface="Calibri"/>
              </a:rPr>
              <a:t> </a:t>
            </a:r>
            <a:r>
              <a:rPr lang="en-GB" sz="1600">
                <a:solidFill>
                  <a:schemeClr val="dk1"/>
                </a:solidFill>
                <a:latin typeface="Calibri"/>
                <a:ea typeface="Calibri"/>
                <a:cs typeface="Calibri"/>
                <a:sym typeface="Calibri"/>
              </a:rPr>
              <a:t>the </a:t>
            </a:r>
            <a:r>
              <a:rPr lang="en-GB" sz="1600" b="1">
                <a:solidFill>
                  <a:srgbClr val="E36C09"/>
                </a:solidFill>
                <a:latin typeface="Calibri"/>
                <a:ea typeface="Calibri"/>
                <a:cs typeface="Calibri"/>
                <a:sym typeface="Calibri"/>
              </a:rPr>
              <a:t>difference in concentration</a:t>
            </a:r>
            <a:r>
              <a:rPr lang="en-GB" sz="1600">
                <a:solidFill>
                  <a:srgbClr val="E36C09"/>
                </a:solidFill>
                <a:latin typeface="Calibri"/>
                <a:ea typeface="Calibri"/>
                <a:cs typeface="Calibri"/>
                <a:sym typeface="Calibri"/>
              </a:rPr>
              <a:t> </a:t>
            </a:r>
            <a:r>
              <a:rPr lang="en-GB" sz="1600">
                <a:solidFill>
                  <a:schemeClr val="dk1"/>
                </a:solidFill>
                <a:latin typeface="Calibri"/>
                <a:ea typeface="Calibri"/>
                <a:cs typeface="Calibri"/>
                <a:sym typeface="Calibri"/>
              </a:rPr>
              <a:t>the </a:t>
            </a:r>
            <a:r>
              <a:rPr lang="en-GB" sz="1600" b="1">
                <a:solidFill>
                  <a:srgbClr val="E36C09"/>
                </a:solidFill>
                <a:latin typeface="Calibri"/>
                <a:ea typeface="Calibri"/>
                <a:cs typeface="Calibri"/>
                <a:sym typeface="Calibri"/>
              </a:rPr>
              <a:t>faster</a:t>
            </a:r>
            <a:r>
              <a:rPr lang="en-GB" sz="1600">
                <a:solidFill>
                  <a:srgbClr val="E36C09"/>
                </a:solidFill>
                <a:latin typeface="Calibri"/>
                <a:ea typeface="Calibri"/>
                <a:cs typeface="Calibri"/>
                <a:sym typeface="Calibri"/>
              </a:rPr>
              <a:t> </a:t>
            </a:r>
            <a:r>
              <a:rPr lang="en-GB" sz="1600">
                <a:solidFill>
                  <a:schemeClr val="dk1"/>
                </a:solidFill>
                <a:latin typeface="Calibri"/>
                <a:ea typeface="Calibri"/>
                <a:cs typeface="Calibri"/>
                <a:sym typeface="Calibri"/>
              </a:rPr>
              <a:t>the rate of </a:t>
            </a:r>
            <a:r>
              <a:rPr lang="en-GB" sz="1600" b="1">
                <a:solidFill>
                  <a:srgbClr val="E36C09"/>
                </a:solidFill>
                <a:latin typeface="Calibri"/>
                <a:ea typeface="Calibri"/>
                <a:cs typeface="Calibri"/>
                <a:sym typeface="Calibri"/>
              </a:rPr>
              <a:t>diffusion</a:t>
            </a:r>
            <a:r>
              <a:rPr lang="en-GB" sz="1600">
                <a:solidFill>
                  <a:schemeClr val="dk1"/>
                </a:solidFill>
                <a:latin typeface="Calibri"/>
                <a:ea typeface="Calibri"/>
                <a:cs typeface="Calibri"/>
                <a:sym typeface="Calibri"/>
              </a:rPr>
              <a:t>. </a:t>
            </a:r>
            <a:endParaRPr/>
          </a:p>
          <a:p>
            <a:pPr marL="342900" marR="0" lvl="0" indent="-241300" algn="ctr" rtl="0">
              <a:spcBef>
                <a:spcPts val="0"/>
              </a:spcBef>
              <a:spcAft>
                <a:spcPts val="0"/>
              </a:spcAft>
              <a:buClr>
                <a:schemeClr val="dk1"/>
              </a:buClr>
              <a:buSzPts val="1600"/>
              <a:buFont typeface="Arial"/>
              <a:buNone/>
            </a:pPr>
            <a:endParaRPr sz="1600">
              <a:solidFill>
                <a:schemeClr val="dk1"/>
              </a:solidFill>
              <a:latin typeface="Calibri"/>
              <a:ea typeface="Calibri"/>
              <a:cs typeface="Calibri"/>
              <a:sym typeface="Calibri"/>
            </a:endParaRPr>
          </a:p>
        </p:txBody>
      </p:sp>
      <p:pic>
        <p:nvPicPr>
          <p:cNvPr id="734" name="Google Shape;734;p58"/>
          <p:cNvPicPr preferRelativeResize="0"/>
          <p:nvPr/>
        </p:nvPicPr>
        <p:blipFill rotWithShape="1">
          <a:blip r:embed="rId4">
            <a:alphaModFix/>
          </a:blip>
          <a:srcRect/>
          <a:stretch/>
        </p:blipFill>
        <p:spPr>
          <a:xfrm>
            <a:off x="5549717" y="2979106"/>
            <a:ext cx="2832589" cy="975670"/>
          </a:xfrm>
          <a:prstGeom prst="rect">
            <a:avLst/>
          </a:prstGeom>
          <a:noFill/>
          <a:ln>
            <a:noFill/>
          </a:ln>
        </p:spPr>
      </p:pic>
      <p:sp>
        <p:nvSpPr>
          <p:cNvPr id="735" name="Google Shape;735;p58"/>
          <p:cNvSpPr txBox="1"/>
          <p:nvPr/>
        </p:nvSpPr>
        <p:spPr>
          <a:xfrm>
            <a:off x="5348804" y="3879855"/>
            <a:ext cx="435597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chemeClr val="dk1"/>
                </a:solidFill>
                <a:latin typeface="Calibri"/>
                <a:ea typeface="Calibri"/>
                <a:cs typeface="Calibri"/>
                <a:sym typeface="Calibri"/>
              </a:rPr>
              <a:t>Beetroot in different temperatures of water</a:t>
            </a:r>
            <a:endParaRPr/>
          </a:p>
        </p:txBody>
      </p:sp>
      <p:pic>
        <p:nvPicPr>
          <p:cNvPr id="736" name="Google Shape;736;p58"/>
          <p:cNvPicPr preferRelativeResize="0"/>
          <p:nvPr/>
        </p:nvPicPr>
        <p:blipFill rotWithShape="1">
          <a:blip r:embed="rId5">
            <a:alphaModFix/>
          </a:blip>
          <a:srcRect b="8203"/>
          <a:stretch/>
        </p:blipFill>
        <p:spPr>
          <a:xfrm>
            <a:off x="4860032" y="4187632"/>
            <a:ext cx="4080914" cy="234134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59"/>
          <p:cNvSpPr txBox="1">
            <a:spLocks noGrp="1"/>
          </p:cNvSpPr>
          <p:nvPr>
            <p:ph type="ctrTitle"/>
          </p:nvPr>
        </p:nvSpPr>
        <p:spPr>
          <a:xfrm>
            <a:off x="1619672" y="0"/>
            <a:ext cx="7524328"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Transport in cells – Surface area to volume ratio</a:t>
            </a:r>
            <a:endParaRPr/>
          </a:p>
        </p:txBody>
      </p:sp>
      <p:sp>
        <p:nvSpPr>
          <p:cNvPr id="743" name="Google Shape;743;p59"/>
          <p:cNvSpPr/>
          <p:nvPr/>
        </p:nvSpPr>
        <p:spPr>
          <a:xfrm>
            <a:off x="0" y="0"/>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4" name="Google Shape;744;p59"/>
          <p:cNvSpPr txBox="1"/>
          <p:nvPr/>
        </p:nvSpPr>
        <p:spPr>
          <a:xfrm>
            <a:off x="97804" y="733922"/>
            <a:ext cx="5986364"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E36C09"/>
                </a:solidFill>
                <a:latin typeface="Calibri"/>
                <a:ea typeface="Calibri"/>
                <a:cs typeface="Calibri"/>
                <a:sym typeface="Calibri"/>
              </a:rPr>
              <a:t>The surface area to volume ratio can be calculated by dividing an object’s surface area (SA) by its volume</a:t>
            </a:r>
            <a:endParaRPr/>
          </a:p>
        </p:txBody>
      </p:sp>
      <p:sp>
        <p:nvSpPr>
          <p:cNvPr id="745" name="Google Shape;745;p59"/>
          <p:cNvSpPr txBox="1"/>
          <p:nvPr/>
        </p:nvSpPr>
        <p:spPr>
          <a:xfrm>
            <a:off x="146807" y="1562237"/>
            <a:ext cx="3921137" cy="4185761"/>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Cube A represents a </a:t>
            </a:r>
            <a:r>
              <a:rPr lang="en-GB" sz="1600" b="1">
                <a:solidFill>
                  <a:srgbClr val="E36C09"/>
                </a:solidFill>
                <a:latin typeface="Calibri"/>
                <a:ea typeface="Calibri"/>
                <a:cs typeface="Calibri"/>
                <a:sym typeface="Calibri"/>
              </a:rPr>
              <a:t>small animal </a:t>
            </a:r>
            <a:endParaRPr/>
          </a:p>
          <a:p>
            <a:pPr marL="0" marR="0" lvl="0" indent="0" algn="l" rtl="0">
              <a:spcBef>
                <a:spcPts val="0"/>
              </a:spcBef>
              <a:spcAft>
                <a:spcPts val="0"/>
              </a:spcAft>
              <a:buNone/>
            </a:pPr>
            <a:r>
              <a:rPr lang="en-GB" sz="1600" b="1">
                <a:solidFill>
                  <a:srgbClr val="E36C09"/>
                </a:solidFill>
                <a:latin typeface="Calibri"/>
                <a:ea typeface="Calibri"/>
                <a:cs typeface="Calibri"/>
                <a:sym typeface="Calibri"/>
              </a:rPr>
              <a:t>like a mouse </a:t>
            </a:r>
            <a:r>
              <a:rPr lang="en-GB" sz="1600" b="1">
                <a:solidFill>
                  <a:schemeClr val="dk1"/>
                </a:solidFill>
                <a:latin typeface="Calibri"/>
                <a:ea typeface="Calibri"/>
                <a:cs typeface="Calibri"/>
                <a:sym typeface="Calibri"/>
              </a:rPr>
              <a:t>the sides are 1 cm </a:t>
            </a:r>
            <a:endParaRPr/>
          </a:p>
          <a:p>
            <a:pPr marL="0" marR="0" lvl="0" indent="0" algn="l" rtl="0">
              <a:spcBef>
                <a:spcPts val="0"/>
              </a:spcBef>
              <a:spcAft>
                <a:spcPts val="0"/>
              </a:spcAft>
              <a:buNone/>
            </a:pPr>
            <a:r>
              <a:rPr lang="en-GB" sz="1600" b="1">
                <a:solidFill>
                  <a:schemeClr val="dk1"/>
                </a:solidFill>
                <a:latin typeface="Calibri"/>
                <a:ea typeface="Calibri"/>
                <a:cs typeface="Calibri"/>
                <a:sym typeface="Calibri"/>
              </a:rPr>
              <a:t>each and there are 6 sides. </a:t>
            </a:r>
            <a:endParaRPr/>
          </a:p>
          <a:p>
            <a:pPr marL="0" marR="0" lvl="0" indent="0" algn="l" rtl="0">
              <a:spcBef>
                <a:spcPts val="0"/>
              </a:spcBef>
              <a:spcAft>
                <a:spcPts val="0"/>
              </a:spcAft>
              <a:buNone/>
            </a:pPr>
            <a:endParaRPr sz="900" b="1">
              <a:solidFill>
                <a:schemeClr val="dk1"/>
              </a:solidFill>
              <a:latin typeface="Calibri"/>
              <a:ea typeface="Calibri"/>
              <a:cs typeface="Calibri"/>
              <a:sym typeface="Calibri"/>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To calculate the </a:t>
            </a:r>
            <a:r>
              <a:rPr lang="en-GB" sz="1600" b="1">
                <a:solidFill>
                  <a:schemeClr val="dk1"/>
                </a:solidFill>
                <a:latin typeface="Calibri"/>
                <a:ea typeface="Calibri"/>
                <a:cs typeface="Calibri"/>
                <a:sym typeface="Calibri"/>
              </a:rPr>
              <a:t>volume</a:t>
            </a:r>
            <a:r>
              <a:rPr lang="en-GB"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volume A = length x width x height</a:t>
            </a:r>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volume A = 1 x 1 x 1 </a:t>
            </a:r>
            <a:endParaRPr/>
          </a:p>
          <a:p>
            <a:pPr marL="0" marR="0" lvl="0" indent="0" algn="l" rtl="0">
              <a:spcBef>
                <a:spcPts val="0"/>
              </a:spcBef>
              <a:spcAft>
                <a:spcPts val="0"/>
              </a:spcAft>
              <a:buNone/>
            </a:pPr>
            <a:r>
              <a:rPr lang="en-GB" sz="1600" b="1">
                <a:solidFill>
                  <a:srgbClr val="E36C09"/>
                </a:solidFill>
                <a:latin typeface="Calibri"/>
                <a:ea typeface="Calibri"/>
                <a:cs typeface="Calibri"/>
                <a:sym typeface="Calibri"/>
              </a:rPr>
              <a:t>   volume A = 1cm </a:t>
            </a:r>
            <a:r>
              <a:rPr lang="en-GB" sz="1600" b="1" baseline="30000">
                <a:solidFill>
                  <a:srgbClr val="E36C09"/>
                </a:solidFill>
                <a:latin typeface="Calibri"/>
                <a:ea typeface="Calibri"/>
                <a:cs typeface="Calibri"/>
                <a:sym typeface="Calibri"/>
              </a:rPr>
              <a:t>3</a:t>
            </a:r>
            <a:endParaRPr/>
          </a:p>
          <a:p>
            <a:pPr marL="0" marR="0" lvl="0" indent="0" algn="l" rtl="0">
              <a:spcBef>
                <a:spcPts val="0"/>
              </a:spcBef>
              <a:spcAft>
                <a:spcPts val="0"/>
              </a:spcAft>
              <a:buNone/>
            </a:pPr>
            <a:endParaRPr sz="900" b="1" baseline="30000">
              <a:solidFill>
                <a:srgbClr val="E36C09"/>
              </a:solidFill>
              <a:latin typeface="Calibri"/>
              <a:ea typeface="Calibri"/>
              <a:cs typeface="Calibri"/>
              <a:sym typeface="Calibri"/>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To calculate the </a:t>
            </a:r>
            <a:r>
              <a:rPr lang="en-GB" sz="1600" b="1">
                <a:solidFill>
                  <a:schemeClr val="dk1"/>
                </a:solidFill>
                <a:latin typeface="Calibri"/>
                <a:ea typeface="Calibri"/>
                <a:cs typeface="Calibri"/>
                <a:sym typeface="Calibri"/>
              </a:rPr>
              <a:t>area</a:t>
            </a:r>
            <a:r>
              <a:rPr lang="en-GB" sz="1600">
                <a:solidFill>
                  <a:schemeClr val="dk1"/>
                </a:solidFill>
                <a:latin typeface="Calibri"/>
                <a:ea typeface="Calibri"/>
                <a:cs typeface="Calibri"/>
                <a:sym typeface="Calibri"/>
              </a:rPr>
              <a:t> of </a:t>
            </a:r>
            <a:r>
              <a:rPr lang="en-GB" sz="1600" b="1">
                <a:solidFill>
                  <a:srgbClr val="E36C09"/>
                </a:solidFill>
                <a:latin typeface="Calibri"/>
                <a:ea typeface="Calibri"/>
                <a:cs typeface="Calibri"/>
                <a:sym typeface="Calibri"/>
              </a:rPr>
              <a:t>one</a:t>
            </a:r>
            <a:r>
              <a:rPr lang="en-GB" sz="1600">
                <a:solidFill>
                  <a:schemeClr val="dk1"/>
                </a:solidFill>
                <a:latin typeface="Calibri"/>
                <a:ea typeface="Calibri"/>
                <a:cs typeface="Calibri"/>
                <a:sym typeface="Calibri"/>
              </a:rPr>
              <a:t> surface:</a:t>
            </a:r>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area = height x width</a:t>
            </a:r>
            <a:endParaRPr/>
          </a:p>
          <a:p>
            <a:pPr marL="0" marR="0" lvl="0" indent="0" algn="l" rtl="0">
              <a:spcBef>
                <a:spcPts val="0"/>
              </a:spcBef>
              <a:spcAft>
                <a:spcPts val="0"/>
              </a:spcAft>
              <a:buNone/>
            </a:pPr>
            <a:r>
              <a:rPr lang="en-GB" sz="1600" b="1">
                <a:solidFill>
                  <a:srgbClr val="E36C09"/>
                </a:solidFill>
                <a:latin typeface="Calibri"/>
                <a:ea typeface="Calibri"/>
                <a:cs typeface="Calibri"/>
                <a:sym typeface="Calibri"/>
              </a:rPr>
              <a:t>   area = 1 x 1 = 1cm</a:t>
            </a:r>
            <a:r>
              <a:rPr lang="en-GB" sz="1600" b="1" baseline="30000">
                <a:solidFill>
                  <a:srgbClr val="E36C09"/>
                </a:solidFill>
                <a:latin typeface="Calibri"/>
                <a:ea typeface="Calibri"/>
                <a:cs typeface="Calibri"/>
                <a:sym typeface="Calibri"/>
              </a:rPr>
              <a:t>2</a:t>
            </a:r>
            <a:endParaRPr/>
          </a:p>
          <a:p>
            <a:pPr marL="0" marR="0" lvl="0" indent="0" algn="l" rtl="0">
              <a:spcBef>
                <a:spcPts val="0"/>
              </a:spcBef>
              <a:spcAft>
                <a:spcPts val="0"/>
              </a:spcAft>
              <a:buNone/>
            </a:pPr>
            <a:endParaRPr sz="900" b="1">
              <a:solidFill>
                <a:srgbClr val="E36C09"/>
              </a:solidFill>
              <a:latin typeface="Calibri"/>
              <a:ea typeface="Calibri"/>
              <a:cs typeface="Calibri"/>
              <a:sym typeface="Calibri"/>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To calculate the </a:t>
            </a:r>
            <a:r>
              <a:rPr lang="en-GB" sz="1600" b="1">
                <a:solidFill>
                  <a:schemeClr val="dk1"/>
                </a:solidFill>
                <a:latin typeface="Calibri"/>
                <a:ea typeface="Calibri"/>
                <a:cs typeface="Calibri"/>
                <a:sym typeface="Calibri"/>
              </a:rPr>
              <a:t>SA </a:t>
            </a:r>
            <a:r>
              <a:rPr lang="en-GB" sz="1600">
                <a:solidFill>
                  <a:schemeClr val="dk1"/>
                </a:solidFill>
                <a:latin typeface="Calibri"/>
                <a:ea typeface="Calibri"/>
                <a:cs typeface="Calibri"/>
                <a:sym typeface="Calibri"/>
              </a:rPr>
              <a:t>of </a:t>
            </a:r>
            <a:r>
              <a:rPr lang="en-GB" sz="1600" b="1">
                <a:solidFill>
                  <a:schemeClr val="dk1"/>
                </a:solidFill>
                <a:latin typeface="Calibri"/>
                <a:ea typeface="Calibri"/>
                <a:cs typeface="Calibri"/>
                <a:sym typeface="Calibri"/>
              </a:rPr>
              <a:t>A</a:t>
            </a:r>
            <a:r>
              <a:rPr lang="en-GB"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area of </a:t>
            </a:r>
            <a:r>
              <a:rPr lang="en-GB" sz="1600" b="1">
                <a:solidFill>
                  <a:schemeClr val="dk1"/>
                </a:solidFill>
                <a:latin typeface="Calibri"/>
                <a:ea typeface="Calibri"/>
                <a:cs typeface="Calibri"/>
                <a:sym typeface="Calibri"/>
              </a:rPr>
              <a:t>one surface </a:t>
            </a:r>
            <a:r>
              <a:rPr lang="en-GB" sz="1600">
                <a:solidFill>
                  <a:schemeClr val="dk1"/>
                </a:solidFill>
                <a:latin typeface="Calibri"/>
                <a:ea typeface="Calibri"/>
                <a:cs typeface="Calibri"/>
                <a:sym typeface="Calibri"/>
              </a:rPr>
              <a:t>x the </a:t>
            </a:r>
            <a:r>
              <a:rPr lang="en-GB" sz="1600" b="1">
                <a:solidFill>
                  <a:schemeClr val="dk1"/>
                </a:solidFill>
                <a:latin typeface="Calibri"/>
                <a:ea typeface="Calibri"/>
                <a:cs typeface="Calibri"/>
                <a:sym typeface="Calibri"/>
              </a:rPr>
              <a:t>number</a:t>
            </a:r>
            <a:r>
              <a:rPr lang="en-GB" sz="1600">
                <a:solidFill>
                  <a:schemeClr val="dk1"/>
                </a:solidFill>
                <a:latin typeface="Calibri"/>
                <a:ea typeface="Calibri"/>
                <a:cs typeface="Calibri"/>
                <a:sym typeface="Calibri"/>
              </a:rPr>
              <a:t> of surfaces</a:t>
            </a:r>
            <a:endParaRPr/>
          </a:p>
          <a:p>
            <a:pPr marL="0" marR="0" lvl="0" indent="0" algn="l" rtl="0">
              <a:spcBef>
                <a:spcPts val="0"/>
              </a:spcBef>
              <a:spcAft>
                <a:spcPts val="0"/>
              </a:spcAft>
              <a:buNone/>
            </a:pPr>
            <a:r>
              <a:rPr lang="en-GB" sz="1600" b="1">
                <a:solidFill>
                  <a:srgbClr val="E36C09"/>
                </a:solidFill>
                <a:latin typeface="Calibri"/>
                <a:ea typeface="Calibri"/>
                <a:cs typeface="Calibri"/>
                <a:sym typeface="Calibri"/>
              </a:rPr>
              <a:t>   surface area = 1 x 6 = 6cm</a:t>
            </a:r>
            <a:r>
              <a:rPr lang="en-GB" sz="1600" b="1" baseline="30000">
                <a:solidFill>
                  <a:srgbClr val="E36C09"/>
                </a:solidFill>
                <a:latin typeface="Calibri"/>
                <a:ea typeface="Calibri"/>
                <a:cs typeface="Calibri"/>
                <a:sym typeface="Calibri"/>
              </a:rPr>
              <a:t>2</a:t>
            </a:r>
            <a:endParaRPr sz="1600" b="1">
              <a:solidFill>
                <a:srgbClr val="E36C09"/>
              </a:solidFill>
              <a:latin typeface="Calibri"/>
              <a:ea typeface="Calibri"/>
              <a:cs typeface="Calibri"/>
              <a:sym typeface="Calibri"/>
            </a:endParaRPr>
          </a:p>
          <a:p>
            <a:pPr marL="0" marR="0" lvl="0" indent="0" algn="l" rtl="0">
              <a:spcBef>
                <a:spcPts val="0"/>
              </a:spcBef>
              <a:spcAft>
                <a:spcPts val="0"/>
              </a:spcAft>
              <a:buNone/>
            </a:pPr>
            <a:endParaRPr sz="900" b="1">
              <a:solidFill>
                <a:srgbClr val="E36C09"/>
              </a:solidFill>
              <a:latin typeface="Calibri"/>
              <a:ea typeface="Calibri"/>
              <a:cs typeface="Calibri"/>
              <a:sym typeface="Calibri"/>
            </a:endParaRPr>
          </a:p>
          <a:p>
            <a:pPr marL="0" marR="0" lvl="0" indent="0" algn="l" rtl="0">
              <a:spcBef>
                <a:spcPts val="0"/>
              </a:spcBef>
              <a:spcAft>
                <a:spcPts val="0"/>
              </a:spcAft>
              <a:buNone/>
            </a:pPr>
            <a:r>
              <a:rPr lang="en-GB" sz="1800" b="1" i="1" u="sng">
                <a:solidFill>
                  <a:schemeClr val="dk1"/>
                </a:solidFill>
                <a:latin typeface="Calibri"/>
                <a:ea typeface="Calibri"/>
                <a:cs typeface="Calibri"/>
                <a:sym typeface="Calibri"/>
              </a:rPr>
              <a:t>SA:V ratio = 6/1 = 6</a:t>
            </a:r>
            <a:endParaRPr/>
          </a:p>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746" name="Google Shape;746;p59"/>
          <p:cNvSpPr/>
          <p:nvPr/>
        </p:nvSpPr>
        <p:spPr>
          <a:xfrm>
            <a:off x="2922887" y="1898128"/>
            <a:ext cx="720000" cy="720000"/>
          </a:xfrm>
          <a:prstGeom prst="cube">
            <a:avLst>
              <a:gd name="adj" fmla="val 25000"/>
            </a:avLst>
          </a:prstGeom>
          <a:gradFill>
            <a:gsLst>
              <a:gs pos="0">
                <a:srgbClr val="FF932B"/>
              </a:gs>
              <a:gs pos="100000">
                <a:srgbClr val="FFB673"/>
              </a:gs>
            </a:gsLst>
            <a:lin ang="16200000" scaled="0"/>
          </a:gradFill>
          <a:ln w="9525" cap="flat" cmpd="sng">
            <a:solidFill>
              <a:srgbClr val="F5913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3200" b="1">
                <a:solidFill>
                  <a:schemeClr val="dk1"/>
                </a:solidFill>
                <a:latin typeface="Calibri"/>
                <a:ea typeface="Calibri"/>
                <a:cs typeface="Calibri"/>
                <a:sym typeface="Calibri"/>
              </a:rPr>
              <a:t>A</a:t>
            </a:r>
            <a:endParaRPr/>
          </a:p>
        </p:txBody>
      </p:sp>
      <p:sp>
        <p:nvSpPr>
          <p:cNvPr id="747" name="Google Shape;747;p59"/>
          <p:cNvSpPr txBox="1"/>
          <p:nvPr/>
        </p:nvSpPr>
        <p:spPr>
          <a:xfrm>
            <a:off x="4171466" y="1562237"/>
            <a:ext cx="4856854" cy="40472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dk1"/>
                </a:solidFill>
                <a:latin typeface="Calibri"/>
                <a:ea typeface="Calibri"/>
                <a:cs typeface="Calibri"/>
                <a:sym typeface="Calibri"/>
              </a:rPr>
              <a:t>Cube B represents a </a:t>
            </a:r>
            <a:r>
              <a:rPr lang="en-GB" sz="1600" b="1">
                <a:solidFill>
                  <a:srgbClr val="E36C09"/>
                </a:solidFill>
                <a:latin typeface="Calibri"/>
                <a:ea typeface="Calibri"/>
                <a:cs typeface="Calibri"/>
                <a:sym typeface="Calibri"/>
              </a:rPr>
              <a:t>larger </a:t>
            </a:r>
            <a:endParaRPr/>
          </a:p>
          <a:p>
            <a:pPr marL="0" marR="0" lvl="0" indent="0" algn="l" rtl="0">
              <a:spcBef>
                <a:spcPts val="0"/>
              </a:spcBef>
              <a:spcAft>
                <a:spcPts val="0"/>
              </a:spcAft>
              <a:buNone/>
            </a:pPr>
            <a:r>
              <a:rPr lang="en-GB" sz="1600" b="1">
                <a:solidFill>
                  <a:srgbClr val="E36C09"/>
                </a:solidFill>
                <a:latin typeface="Calibri"/>
                <a:ea typeface="Calibri"/>
                <a:cs typeface="Calibri"/>
                <a:sym typeface="Calibri"/>
              </a:rPr>
              <a:t>animal like a dog </a:t>
            </a:r>
            <a:r>
              <a:rPr lang="en-GB" sz="1600" b="1">
                <a:solidFill>
                  <a:schemeClr val="dk1"/>
                </a:solidFill>
                <a:latin typeface="Calibri"/>
                <a:ea typeface="Calibri"/>
                <a:cs typeface="Calibri"/>
                <a:sym typeface="Calibri"/>
              </a:rPr>
              <a:t>the sides are </a:t>
            </a:r>
            <a:endParaRPr/>
          </a:p>
          <a:p>
            <a:pPr marL="0" marR="0" lvl="0" indent="0" algn="l" rtl="0">
              <a:spcBef>
                <a:spcPts val="0"/>
              </a:spcBef>
              <a:spcAft>
                <a:spcPts val="0"/>
              </a:spcAft>
              <a:buNone/>
            </a:pPr>
            <a:r>
              <a:rPr lang="en-GB" sz="1600" b="1">
                <a:solidFill>
                  <a:schemeClr val="dk1"/>
                </a:solidFill>
                <a:latin typeface="Calibri"/>
                <a:ea typeface="Calibri"/>
                <a:cs typeface="Calibri"/>
                <a:sym typeface="Calibri"/>
              </a:rPr>
              <a:t>6cm each and there are 6 sides. </a:t>
            </a:r>
            <a:endParaRPr/>
          </a:p>
          <a:p>
            <a:pPr marL="0" marR="0" lvl="0" indent="0" algn="l" rtl="0">
              <a:spcBef>
                <a:spcPts val="0"/>
              </a:spcBef>
              <a:spcAft>
                <a:spcPts val="0"/>
              </a:spcAft>
              <a:buNone/>
            </a:pPr>
            <a:endParaRPr sz="900" b="1">
              <a:solidFill>
                <a:schemeClr val="dk1"/>
              </a:solidFill>
              <a:latin typeface="Calibri"/>
              <a:ea typeface="Calibri"/>
              <a:cs typeface="Calibri"/>
              <a:sym typeface="Calibri"/>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To calculate the </a:t>
            </a:r>
            <a:r>
              <a:rPr lang="en-GB" sz="1600" b="1">
                <a:solidFill>
                  <a:schemeClr val="dk1"/>
                </a:solidFill>
                <a:latin typeface="Calibri"/>
                <a:ea typeface="Calibri"/>
                <a:cs typeface="Calibri"/>
                <a:sym typeface="Calibri"/>
              </a:rPr>
              <a:t>volume</a:t>
            </a:r>
            <a:r>
              <a:rPr lang="en-GB"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volume B = length x width x height</a:t>
            </a:r>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volume B = 6 x 6 x 6 </a:t>
            </a:r>
            <a:endParaRPr/>
          </a:p>
          <a:p>
            <a:pPr marL="0" marR="0" lvl="0" indent="0" algn="l" rtl="0">
              <a:spcBef>
                <a:spcPts val="0"/>
              </a:spcBef>
              <a:spcAft>
                <a:spcPts val="0"/>
              </a:spcAft>
              <a:buNone/>
            </a:pPr>
            <a:r>
              <a:rPr lang="en-GB" sz="1600" b="1">
                <a:solidFill>
                  <a:srgbClr val="E36C09"/>
                </a:solidFill>
                <a:latin typeface="Calibri"/>
                <a:ea typeface="Calibri"/>
                <a:cs typeface="Calibri"/>
                <a:sym typeface="Calibri"/>
              </a:rPr>
              <a:t>   volume A = 216cm </a:t>
            </a:r>
            <a:r>
              <a:rPr lang="en-GB" sz="1600" b="1" baseline="30000">
                <a:solidFill>
                  <a:srgbClr val="E36C09"/>
                </a:solidFill>
                <a:latin typeface="Calibri"/>
                <a:ea typeface="Calibri"/>
                <a:cs typeface="Calibri"/>
                <a:sym typeface="Calibri"/>
              </a:rPr>
              <a:t>3</a:t>
            </a:r>
            <a:endParaRPr/>
          </a:p>
          <a:p>
            <a:pPr marL="0" marR="0" lvl="0" indent="0" algn="l" rtl="0">
              <a:spcBef>
                <a:spcPts val="0"/>
              </a:spcBef>
              <a:spcAft>
                <a:spcPts val="0"/>
              </a:spcAft>
              <a:buNone/>
            </a:pPr>
            <a:endParaRPr sz="900" b="1" baseline="30000">
              <a:solidFill>
                <a:srgbClr val="E36C09"/>
              </a:solidFill>
              <a:latin typeface="Calibri"/>
              <a:ea typeface="Calibri"/>
              <a:cs typeface="Calibri"/>
              <a:sym typeface="Calibri"/>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To calculate the </a:t>
            </a:r>
            <a:r>
              <a:rPr lang="en-GB" sz="1600" b="1">
                <a:solidFill>
                  <a:schemeClr val="dk1"/>
                </a:solidFill>
                <a:latin typeface="Calibri"/>
                <a:ea typeface="Calibri"/>
                <a:cs typeface="Calibri"/>
                <a:sym typeface="Calibri"/>
              </a:rPr>
              <a:t>area</a:t>
            </a:r>
            <a:r>
              <a:rPr lang="en-GB" sz="1600">
                <a:solidFill>
                  <a:schemeClr val="dk1"/>
                </a:solidFill>
                <a:latin typeface="Calibri"/>
                <a:ea typeface="Calibri"/>
                <a:cs typeface="Calibri"/>
                <a:sym typeface="Calibri"/>
              </a:rPr>
              <a:t> of </a:t>
            </a:r>
            <a:r>
              <a:rPr lang="en-GB" sz="1600" b="1">
                <a:solidFill>
                  <a:srgbClr val="E36C09"/>
                </a:solidFill>
                <a:latin typeface="Calibri"/>
                <a:ea typeface="Calibri"/>
                <a:cs typeface="Calibri"/>
                <a:sym typeface="Calibri"/>
              </a:rPr>
              <a:t>one</a:t>
            </a:r>
            <a:r>
              <a:rPr lang="en-GB" sz="1600">
                <a:solidFill>
                  <a:schemeClr val="dk1"/>
                </a:solidFill>
                <a:latin typeface="Calibri"/>
                <a:ea typeface="Calibri"/>
                <a:cs typeface="Calibri"/>
                <a:sym typeface="Calibri"/>
              </a:rPr>
              <a:t> surface:</a:t>
            </a:r>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area = height x width</a:t>
            </a:r>
            <a:endParaRPr/>
          </a:p>
          <a:p>
            <a:pPr marL="0" marR="0" lvl="0" indent="0" algn="l" rtl="0">
              <a:spcBef>
                <a:spcPts val="0"/>
              </a:spcBef>
              <a:spcAft>
                <a:spcPts val="0"/>
              </a:spcAft>
              <a:buNone/>
            </a:pPr>
            <a:r>
              <a:rPr lang="en-GB" sz="1600" b="1">
                <a:solidFill>
                  <a:srgbClr val="E36C09"/>
                </a:solidFill>
                <a:latin typeface="Calibri"/>
                <a:ea typeface="Calibri"/>
                <a:cs typeface="Calibri"/>
                <a:sym typeface="Calibri"/>
              </a:rPr>
              <a:t>   area = 6 x 6 = 36cm</a:t>
            </a:r>
            <a:r>
              <a:rPr lang="en-GB" sz="1600" b="1" baseline="30000">
                <a:solidFill>
                  <a:srgbClr val="E36C09"/>
                </a:solidFill>
                <a:latin typeface="Calibri"/>
                <a:ea typeface="Calibri"/>
                <a:cs typeface="Calibri"/>
                <a:sym typeface="Calibri"/>
              </a:rPr>
              <a:t>2</a:t>
            </a:r>
            <a:endParaRPr/>
          </a:p>
          <a:p>
            <a:pPr marL="0" marR="0" lvl="0" indent="0" algn="l" rtl="0">
              <a:spcBef>
                <a:spcPts val="0"/>
              </a:spcBef>
              <a:spcAft>
                <a:spcPts val="0"/>
              </a:spcAft>
              <a:buNone/>
            </a:pPr>
            <a:endParaRPr sz="900" b="1">
              <a:solidFill>
                <a:srgbClr val="E36C09"/>
              </a:solidFill>
              <a:latin typeface="Calibri"/>
              <a:ea typeface="Calibri"/>
              <a:cs typeface="Calibri"/>
              <a:sym typeface="Calibri"/>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To calculate the </a:t>
            </a:r>
            <a:r>
              <a:rPr lang="en-GB" sz="1600" b="1">
                <a:solidFill>
                  <a:schemeClr val="dk1"/>
                </a:solidFill>
                <a:latin typeface="Calibri"/>
                <a:ea typeface="Calibri"/>
                <a:cs typeface="Calibri"/>
                <a:sym typeface="Calibri"/>
              </a:rPr>
              <a:t>surface area </a:t>
            </a:r>
            <a:r>
              <a:rPr lang="en-GB" sz="1600">
                <a:solidFill>
                  <a:schemeClr val="dk1"/>
                </a:solidFill>
                <a:latin typeface="Calibri"/>
                <a:ea typeface="Calibri"/>
                <a:cs typeface="Calibri"/>
                <a:sym typeface="Calibri"/>
              </a:rPr>
              <a:t>of </a:t>
            </a:r>
            <a:r>
              <a:rPr lang="en-GB" sz="1600" b="1">
                <a:solidFill>
                  <a:schemeClr val="dk1"/>
                </a:solidFill>
                <a:latin typeface="Calibri"/>
                <a:ea typeface="Calibri"/>
                <a:cs typeface="Calibri"/>
                <a:sym typeface="Calibri"/>
              </a:rPr>
              <a:t>B</a:t>
            </a:r>
            <a:r>
              <a:rPr lang="en-GB"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GB" sz="1600">
                <a:solidFill>
                  <a:schemeClr val="dk1"/>
                </a:solidFill>
                <a:latin typeface="Calibri"/>
                <a:ea typeface="Calibri"/>
                <a:cs typeface="Calibri"/>
                <a:sym typeface="Calibri"/>
              </a:rPr>
              <a:t>area of </a:t>
            </a:r>
            <a:r>
              <a:rPr lang="en-GB" sz="1600" b="1">
                <a:solidFill>
                  <a:schemeClr val="dk1"/>
                </a:solidFill>
                <a:latin typeface="Calibri"/>
                <a:ea typeface="Calibri"/>
                <a:cs typeface="Calibri"/>
                <a:sym typeface="Calibri"/>
              </a:rPr>
              <a:t>one surface </a:t>
            </a:r>
            <a:r>
              <a:rPr lang="en-GB" sz="1600">
                <a:solidFill>
                  <a:schemeClr val="dk1"/>
                </a:solidFill>
                <a:latin typeface="Calibri"/>
                <a:ea typeface="Calibri"/>
                <a:cs typeface="Calibri"/>
                <a:sym typeface="Calibri"/>
              </a:rPr>
              <a:t>x the </a:t>
            </a:r>
            <a:r>
              <a:rPr lang="en-GB" sz="1600" b="1">
                <a:solidFill>
                  <a:schemeClr val="dk1"/>
                </a:solidFill>
                <a:latin typeface="Calibri"/>
                <a:ea typeface="Calibri"/>
                <a:cs typeface="Calibri"/>
                <a:sym typeface="Calibri"/>
              </a:rPr>
              <a:t>number</a:t>
            </a:r>
            <a:r>
              <a:rPr lang="en-GB" sz="1600">
                <a:solidFill>
                  <a:schemeClr val="dk1"/>
                </a:solidFill>
                <a:latin typeface="Calibri"/>
                <a:ea typeface="Calibri"/>
                <a:cs typeface="Calibri"/>
                <a:sym typeface="Calibri"/>
              </a:rPr>
              <a:t> of surfaces</a:t>
            </a:r>
            <a:endParaRPr/>
          </a:p>
          <a:p>
            <a:pPr marL="0" marR="0" lvl="0" indent="0" algn="l" rtl="0">
              <a:spcBef>
                <a:spcPts val="0"/>
              </a:spcBef>
              <a:spcAft>
                <a:spcPts val="0"/>
              </a:spcAft>
              <a:buNone/>
            </a:pPr>
            <a:r>
              <a:rPr lang="en-GB" sz="1600" b="1">
                <a:solidFill>
                  <a:srgbClr val="E36C09"/>
                </a:solidFill>
                <a:latin typeface="Calibri"/>
                <a:ea typeface="Calibri"/>
                <a:cs typeface="Calibri"/>
                <a:sym typeface="Calibri"/>
              </a:rPr>
              <a:t>   surface area = 36 x 6 = 216cm</a:t>
            </a:r>
            <a:r>
              <a:rPr lang="en-GB" sz="1600" b="1" baseline="30000">
                <a:solidFill>
                  <a:srgbClr val="E36C09"/>
                </a:solidFill>
                <a:latin typeface="Calibri"/>
                <a:ea typeface="Calibri"/>
                <a:cs typeface="Calibri"/>
                <a:sym typeface="Calibri"/>
              </a:rPr>
              <a:t>2</a:t>
            </a:r>
            <a:endParaRPr sz="1600" b="1">
              <a:solidFill>
                <a:srgbClr val="E36C09"/>
              </a:solidFill>
              <a:latin typeface="Calibri"/>
              <a:ea typeface="Calibri"/>
              <a:cs typeface="Calibri"/>
              <a:sym typeface="Calibri"/>
            </a:endParaRPr>
          </a:p>
          <a:p>
            <a:pPr marL="0" marR="0" lvl="0" indent="0" algn="l" rtl="0">
              <a:spcBef>
                <a:spcPts val="0"/>
              </a:spcBef>
              <a:spcAft>
                <a:spcPts val="0"/>
              </a:spcAft>
              <a:buNone/>
            </a:pPr>
            <a:endParaRPr sz="900">
              <a:solidFill>
                <a:schemeClr val="dk1"/>
              </a:solidFill>
              <a:latin typeface="Calibri"/>
              <a:ea typeface="Calibri"/>
              <a:cs typeface="Calibri"/>
              <a:sym typeface="Calibri"/>
            </a:endParaRPr>
          </a:p>
          <a:p>
            <a:pPr marL="0" marR="0" lvl="0" indent="0" algn="l" rtl="0">
              <a:spcBef>
                <a:spcPts val="0"/>
              </a:spcBef>
              <a:spcAft>
                <a:spcPts val="0"/>
              </a:spcAft>
              <a:buNone/>
            </a:pPr>
            <a:r>
              <a:rPr lang="en-GB" sz="1800" b="1" i="1" u="sng">
                <a:solidFill>
                  <a:schemeClr val="dk1"/>
                </a:solidFill>
                <a:latin typeface="Calibri"/>
                <a:ea typeface="Calibri"/>
                <a:cs typeface="Calibri"/>
                <a:sym typeface="Calibri"/>
              </a:rPr>
              <a:t>SA:V ratio =  216/216 = 1</a:t>
            </a:r>
            <a:endParaRPr/>
          </a:p>
        </p:txBody>
      </p:sp>
      <p:pic>
        <p:nvPicPr>
          <p:cNvPr id="748" name="Google Shape;748;p59"/>
          <p:cNvPicPr preferRelativeResize="0"/>
          <p:nvPr/>
        </p:nvPicPr>
        <p:blipFill rotWithShape="1">
          <a:blip r:embed="rId3">
            <a:alphaModFix/>
          </a:blip>
          <a:srcRect/>
          <a:stretch/>
        </p:blipFill>
        <p:spPr>
          <a:xfrm>
            <a:off x="1745858" y="2618128"/>
            <a:ext cx="2149500" cy="957253"/>
          </a:xfrm>
          <a:prstGeom prst="rect">
            <a:avLst/>
          </a:prstGeom>
          <a:noFill/>
          <a:ln>
            <a:noFill/>
          </a:ln>
        </p:spPr>
      </p:pic>
      <p:sp>
        <p:nvSpPr>
          <p:cNvPr id="749" name="Google Shape;749;p59"/>
          <p:cNvSpPr/>
          <p:nvPr/>
        </p:nvSpPr>
        <p:spPr>
          <a:xfrm>
            <a:off x="6954334" y="674025"/>
            <a:ext cx="1980000" cy="1980000"/>
          </a:xfrm>
          <a:prstGeom prst="cube">
            <a:avLst>
              <a:gd name="adj" fmla="val 28524"/>
            </a:avLst>
          </a:prstGeom>
          <a:solidFill>
            <a:schemeClr val="accent6"/>
          </a:solidFill>
          <a:ln w="25400" cap="flat" cmpd="sng">
            <a:solidFill>
              <a:srgbClr val="B46D3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3200" b="1">
                <a:solidFill>
                  <a:schemeClr val="dk1"/>
                </a:solidFill>
                <a:latin typeface="Calibri"/>
                <a:ea typeface="Calibri"/>
                <a:cs typeface="Calibri"/>
                <a:sym typeface="Calibri"/>
              </a:rPr>
              <a:t>B</a:t>
            </a:r>
            <a:endParaRPr/>
          </a:p>
        </p:txBody>
      </p:sp>
      <p:pic>
        <p:nvPicPr>
          <p:cNvPr id="750" name="Google Shape;750;p59"/>
          <p:cNvPicPr preferRelativeResize="0"/>
          <p:nvPr/>
        </p:nvPicPr>
        <p:blipFill rotWithShape="1">
          <a:blip r:embed="rId4">
            <a:alphaModFix/>
          </a:blip>
          <a:srcRect/>
          <a:stretch/>
        </p:blipFill>
        <p:spPr>
          <a:xfrm>
            <a:off x="7524328" y="1911274"/>
            <a:ext cx="1957484" cy="2664199"/>
          </a:xfrm>
          <a:prstGeom prst="rect">
            <a:avLst/>
          </a:prstGeom>
          <a:noFill/>
          <a:ln>
            <a:noFill/>
          </a:ln>
        </p:spPr>
      </p:pic>
      <p:sp>
        <p:nvSpPr>
          <p:cNvPr id="751" name="Google Shape;751;p59"/>
          <p:cNvSpPr txBox="1"/>
          <p:nvPr/>
        </p:nvSpPr>
        <p:spPr>
          <a:xfrm>
            <a:off x="0" y="5901842"/>
            <a:ext cx="91440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rgbClr val="E36C09"/>
                </a:solidFill>
                <a:latin typeface="Calibri"/>
                <a:ea typeface="Calibri"/>
                <a:cs typeface="Calibri"/>
                <a:sym typeface="Calibri"/>
              </a:rPr>
              <a:t>So as you can see the mouse has a much larger surface area compared to its volume.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60"/>
          <p:cNvSpPr txBox="1">
            <a:spLocks noGrp="1"/>
          </p:cNvSpPr>
          <p:nvPr>
            <p:ph type="ctrTitle"/>
          </p:nvPr>
        </p:nvSpPr>
        <p:spPr>
          <a:xfrm>
            <a:off x="683568" y="0"/>
            <a:ext cx="8460432"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Transport in cells – Adaptations in animals </a:t>
            </a:r>
            <a:endParaRPr/>
          </a:p>
        </p:txBody>
      </p:sp>
      <p:sp>
        <p:nvSpPr>
          <p:cNvPr id="758" name="Google Shape;758;p60"/>
          <p:cNvSpPr/>
          <p:nvPr/>
        </p:nvSpPr>
        <p:spPr>
          <a:xfrm>
            <a:off x="0" y="0"/>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9" name="Google Shape;759;p60"/>
          <p:cNvSpPr txBox="1"/>
          <p:nvPr/>
        </p:nvSpPr>
        <p:spPr>
          <a:xfrm>
            <a:off x="0" y="782880"/>
            <a:ext cx="4716016"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Adaptations of the small intestines:</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Internal surface is covered in millions of </a:t>
            </a:r>
            <a:r>
              <a:rPr lang="en-GB" sz="2000" b="1">
                <a:solidFill>
                  <a:srgbClr val="E36C09"/>
                </a:solidFill>
                <a:latin typeface="Calibri"/>
                <a:ea typeface="Calibri"/>
                <a:cs typeface="Calibri"/>
                <a:sym typeface="Calibri"/>
              </a:rPr>
              <a:t>folds</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called </a:t>
            </a:r>
            <a:r>
              <a:rPr lang="en-GB" sz="2000" b="1">
                <a:solidFill>
                  <a:srgbClr val="E36C09"/>
                </a:solidFill>
                <a:latin typeface="Calibri"/>
                <a:ea typeface="Calibri"/>
                <a:cs typeface="Calibri"/>
                <a:sym typeface="Calibri"/>
              </a:rPr>
              <a:t>villi.</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Villi </a:t>
            </a:r>
            <a:r>
              <a:rPr lang="en-GB" sz="2000" b="1">
                <a:solidFill>
                  <a:srgbClr val="E36C09"/>
                </a:solidFill>
                <a:latin typeface="Calibri"/>
                <a:ea typeface="Calibri"/>
                <a:cs typeface="Calibri"/>
                <a:sym typeface="Calibri"/>
              </a:rPr>
              <a:t>increase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surface area</a:t>
            </a:r>
            <a:r>
              <a:rPr lang="en-GB" sz="2000">
                <a:solidFill>
                  <a:schemeClr val="dk1"/>
                </a:solidFill>
                <a:latin typeface="Calibri"/>
                <a:ea typeface="Calibri"/>
                <a:cs typeface="Calibri"/>
                <a:sym typeface="Calibri"/>
              </a:rPr>
              <a:t>.</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Villi have a very </a:t>
            </a:r>
            <a:r>
              <a:rPr lang="en-GB" sz="2000" b="1">
                <a:solidFill>
                  <a:srgbClr val="E36C09"/>
                </a:solidFill>
                <a:latin typeface="Calibri"/>
                <a:ea typeface="Calibri"/>
                <a:cs typeface="Calibri"/>
                <a:sym typeface="Calibri"/>
              </a:rPr>
              <a:t>good blood supply. </a:t>
            </a:r>
            <a:r>
              <a:rPr lang="en-GB" sz="2000">
                <a:solidFill>
                  <a:schemeClr val="dk1"/>
                </a:solidFill>
                <a:latin typeface="Calibri"/>
                <a:ea typeface="Calibri"/>
                <a:cs typeface="Calibri"/>
                <a:sym typeface="Calibri"/>
              </a:rPr>
              <a:t>This</a:t>
            </a:r>
            <a:r>
              <a:rPr lang="en-GB" sz="2000" b="1">
                <a:solidFill>
                  <a:srgbClr val="E36C09"/>
                </a:solidFill>
                <a:latin typeface="Calibri"/>
                <a:ea typeface="Calibri"/>
                <a:cs typeface="Calibri"/>
                <a:sym typeface="Calibri"/>
              </a:rPr>
              <a:t> maintains </a:t>
            </a:r>
            <a:r>
              <a:rPr lang="en-GB" sz="2000">
                <a:solidFill>
                  <a:schemeClr val="dk1"/>
                </a:solidFill>
                <a:latin typeface="Calibri"/>
                <a:ea typeface="Calibri"/>
                <a:cs typeface="Calibri"/>
                <a:sym typeface="Calibri"/>
              </a:rPr>
              <a:t>the</a:t>
            </a:r>
            <a:r>
              <a:rPr lang="en-GB" sz="2000" b="1">
                <a:solidFill>
                  <a:srgbClr val="E36C09"/>
                </a:solidFill>
                <a:latin typeface="Calibri"/>
                <a:ea typeface="Calibri"/>
                <a:cs typeface="Calibri"/>
                <a:sym typeface="Calibri"/>
              </a:rPr>
              <a:t> concentration gradient. </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rgbClr val="E36C09"/>
              </a:buClr>
              <a:buSzPts val="2000"/>
              <a:buFont typeface="Arial"/>
              <a:buChar char="•"/>
            </a:pPr>
            <a:r>
              <a:rPr lang="en-GB" sz="2000" b="1">
                <a:solidFill>
                  <a:srgbClr val="E36C09"/>
                </a:solidFill>
                <a:latin typeface="Calibri"/>
                <a:ea typeface="Calibri"/>
                <a:cs typeface="Calibri"/>
                <a:sym typeface="Calibri"/>
              </a:rPr>
              <a:t>Membranes</a:t>
            </a:r>
            <a:r>
              <a:rPr lang="en-GB" sz="2000">
                <a:solidFill>
                  <a:schemeClr val="dk1"/>
                </a:solidFill>
                <a:latin typeface="Calibri"/>
                <a:ea typeface="Calibri"/>
                <a:cs typeface="Calibri"/>
                <a:sym typeface="Calibri"/>
              </a:rPr>
              <a:t> of the villi are </a:t>
            </a:r>
            <a:r>
              <a:rPr lang="en-GB" sz="2000" b="1">
                <a:solidFill>
                  <a:srgbClr val="E36C09"/>
                </a:solidFill>
                <a:latin typeface="Calibri"/>
                <a:ea typeface="Calibri"/>
                <a:cs typeface="Calibri"/>
                <a:sym typeface="Calibri"/>
              </a:rPr>
              <a:t>very thin </a:t>
            </a:r>
            <a:r>
              <a:rPr lang="en-GB" sz="2000">
                <a:solidFill>
                  <a:schemeClr val="dk1"/>
                </a:solidFill>
                <a:latin typeface="Calibri"/>
                <a:ea typeface="Calibri"/>
                <a:cs typeface="Calibri"/>
                <a:sym typeface="Calibri"/>
              </a:rPr>
              <a:t>to allow for a </a:t>
            </a:r>
            <a:r>
              <a:rPr lang="en-GB" sz="2000" b="1">
                <a:solidFill>
                  <a:srgbClr val="E36C09"/>
                </a:solidFill>
                <a:latin typeface="Calibri"/>
                <a:ea typeface="Calibri"/>
                <a:cs typeface="Calibri"/>
                <a:sym typeface="Calibri"/>
              </a:rPr>
              <a:t>short diffusion distance. </a:t>
            </a:r>
            <a:endParaRPr/>
          </a:p>
          <a:p>
            <a:pPr marL="0" marR="0" lvl="0" indent="0" algn="l" rtl="0">
              <a:spcBef>
                <a:spcPts val="0"/>
              </a:spcBef>
              <a:spcAft>
                <a:spcPts val="0"/>
              </a:spcAft>
              <a:buNone/>
            </a:pPr>
            <a:r>
              <a:rPr lang="en-GB" sz="2000" b="1">
                <a:solidFill>
                  <a:schemeClr val="dk1"/>
                </a:solidFill>
                <a:latin typeface="Calibri"/>
                <a:ea typeface="Calibri"/>
                <a:cs typeface="Calibri"/>
                <a:sym typeface="Calibri"/>
              </a:rPr>
              <a:t> </a:t>
            </a:r>
            <a:endParaRPr/>
          </a:p>
        </p:txBody>
      </p:sp>
      <p:pic>
        <p:nvPicPr>
          <p:cNvPr id="760" name="Google Shape;760;p60"/>
          <p:cNvPicPr preferRelativeResize="0"/>
          <p:nvPr/>
        </p:nvPicPr>
        <p:blipFill rotWithShape="1">
          <a:blip r:embed="rId3">
            <a:alphaModFix/>
          </a:blip>
          <a:srcRect t="32280"/>
          <a:stretch/>
        </p:blipFill>
        <p:spPr>
          <a:xfrm>
            <a:off x="4572000" y="526466"/>
            <a:ext cx="4536280" cy="3071901"/>
          </a:xfrm>
          <a:prstGeom prst="rect">
            <a:avLst/>
          </a:prstGeom>
          <a:noFill/>
          <a:ln>
            <a:noFill/>
          </a:ln>
        </p:spPr>
      </p:pic>
      <p:sp>
        <p:nvSpPr>
          <p:cNvPr id="761" name="Google Shape;761;p60"/>
          <p:cNvSpPr txBox="1"/>
          <p:nvPr/>
        </p:nvSpPr>
        <p:spPr>
          <a:xfrm>
            <a:off x="0" y="3628831"/>
            <a:ext cx="4716016"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Adaptations of the lungs:</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Lungs contain millions of tiny air sacs called </a:t>
            </a:r>
            <a:r>
              <a:rPr lang="en-GB" sz="2000" b="1">
                <a:solidFill>
                  <a:srgbClr val="E36C09"/>
                </a:solidFill>
                <a:latin typeface="Calibri"/>
                <a:ea typeface="Calibri"/>
                <a:cs typeface="Calibri"/>
                <a:sym typeface="Calibri"/>
              </a:rPr>
              <a:t>alveoli.</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Alveoli </a:t>
            </a:r>
            <a:r>
              <a:rPr lang="en-GB" sz="2000" b="1">
                <a:solidFill>
                  <a:srgbClr val="E36C09"/>
                </a:solidFill>
                <a:latin typeface="Calibri"/>
                <a:ea typeface="Calibri"/>
                <a:cs typeface="Calibri"/>
                <a:sym typeface="Calibri"/>
              </a:rPr>
              <a:t>increase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surface area</a:t>
            </a:r>
            <a:r>
              <a:rPr lang="en-GB" sz="2000">
                <a:solidFill>
                  <a:schemeClr val="dk1"/>
                </a:solidFill>
                <a:latin typeface="Calibri"/>
                <a:ea typeface="Calibri"/>
                <a:cs typeface="Calibri"/>
                <a:sym typeface="Calibri"/>
              </a:rPr>
              <a:t>.</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Alveoli have a very </a:t>
            </a:r>
            <a:r>
              <a:rPr lang="en-GB" sz="2000" b="1">
                <a:solidFill>
                  <a:srgbClr val="E36C09"/>
                </a:solidFill>
                <a:latin typeface="Calibri"/>
                <a:ea typeface="Calibri"/>
                <a:cs typeface="Calibri"/>
                <a:sym typeface="Calibri"/>
              </a:rPr>
              <a:t>good blood supply. </a:t>
            </a:r>
            <a:r>
              <a:rPr lang="en-GB" sz="2000">
                <a:solidFill>
                  <a:schemeClr val="dk1"/>
                </a:solidFill>
                <a:latin typeface="Calibri"/>
                <a:ea typeface="Calibri"/>
                <a:cs typeface="Calibri"/>
                <a:sym typeface="Calibri"/>
              </a:rPr>
              <a:t>This</a:t>
            </a:r>
            <a:r>
              <a:rPr lang="en-GB" sz="2000" b="1">
                <a:solidFill>
                  <a:srgbClr val="E36C09"/>
                </a:solidFill>
                <a:latin typeface="Calibri"/>
                <a:ea typeface="Calibri"/>
                <a:cs typeface="Calibri"/>
                <a:sym typeface="Calibri"/>
              </a:rPr>
              <a:t> maintains </a:t>
            </a:r>
            <a:r>
              <a:rPr lang="en-GB" sz="2000">
                <a:solidFill>
                  <a:schemeClr val="dk1"/>
                </a:solidFill>
                <a:latin typeface="Calibri"/>
                <a:ea typeface="Calibri"/>
                <a:cs typeface="Calibri"/>
                <a:sym typeface="Calibri"/>
              </a:rPr>
              <a:t>the</a:t>
            </a:r>
            <a:r>
              <a:rPr lang="en-GB" sz="2000" b="1">
                <a:solidFill>
                  <a:srgbClr val="E36C09"/>
                </a:solidFill>
                <a:latin typeface="Calibri"/>
                <a:ea typeface="Calibri"/>
                <a:cs typeface="Calibri"/>
                <a:sym typeface="Calibri"/>
              </a:rPr>
              <a:t> concentration gradient. </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rgbClr val="E36C09"/>
              </a:buClr>
              <a:buSzPts val="2000"/>
              <a:buFont typeface="Arial"/>
              <a:buChar char="•"/>
            </a:pPr>
            <a:r>
              <a:rPr lang="en-GB" sz="2000" b="1">
                <a:solidFill>
                  <a:srgbClr val="E36C09"/>
                </a:solidFill>
                <a:latin typeface="Calibri"/>
                <a:ea typeface="Calibri"/>
                <a:cs typeface="Calibri"/>
                <a:sym typeface="Calibri"/>
              </a:rPr>
              <a:t>Membranes</a:t>
            </a:r>
            <a:r>
              <a:rPr lang="en-GB" sz="2000">
                <a:solidFill>
                  <a:schemeClr val="dk1"/>
                </a:solidFill>
                <a:latin typeface="Calibri"/>
                <a:ea typeface="Calibri"/>
                <a:cs typeface="Calibri"/>
                <a:sym typeface="Calibri"/>
              </a:rPr>
              <a:t> of the alveoli are </a:t>
            </a:r>
            <a:r>
              <a:rPr lang="en-GB" sz="2000" b="1">
                <a:solidFill>
                  <a:srgbClr val="E36C09"/>
                </a:solidFill>
                <a:latin typeface="Calibri"/>
                <a:ea typeface="Calibri"/>
                <a:cs typeface="Calibri"/>
                <a:sym typeface="Calibri"/>
              </a:rPr>
              <a:t>very thin </a:t>
            </a:r>
            <a:r>
              <a:rPr lang="en-GB" sz="2000">
                <a:solidFill>
                  <a:schemeClr val="dk1"/>
                </a:solidFill>
                <a:latin typeface="Calibri"/>
                <a:ea typeface="Calibri"/>
                <a:cs typeface="Calibri"/>
                <a:sym typeface="Calibri"/>
              </a:rPr>
              <a:t>to allow for a </a:t>
            </a:r>
            <a:r>
              <a:rPr lang="en-GB" sz="2000" b="1">
                <a:solidFill>
                  <a:srgbClr val="E36C09"/>
                </a:solidFill>
                <a:latin typeface="Calibri"/>
                <a:ea typeface="Calibri"/>
                <a:cs typeface="Calibri"/>
                <a:sym typeface="Calibri"/>
              </a:rPr>
              <a:t>short diffusion distance. </a:t>
            </a:r>
            <a:endParaRPr/>
          </a:p>
          <a:p>
            <a:pPr marL="0" marR="0" lvl="0" indent="0" algn="l" rtl="0">
              <a:spcBef>
                <a:spcPts val="0"/>
              </a:spcBef>
              <a:spcAft>
                <a:spcPts val="0"/>
              </a:spcAft>
              <a:buNone/>
            </a:pPr>
            <a:r>
              <a:rPr lang="en-GB" sz="2000" b="1">
                <a:solidFill>
                  <a:schemeClr val="dk1"/>
                </a:solidFill>
                <a:latin typeface="Calibri"/>
                <a:ea typeface="Calibri"/>
                <a:cs typeface="Calibri"/>
                <a:sym typeface="Calibri"/>
              </a:rPr>
              <a:t> </a:t>
            </a:r>
            <a:endParaRPr/>
          </a:p>
        </p:txBody>
      </p:sp>
      <p:pic>
        <p:nvPicPr>
          <p:cNvPr id="762" name="Google Shape;762;p60"/>
          <p:cNvPicPr preferRelativeResize="0"/>
          <p:nvPr/>
        </p:nvPicPr>
        <p:blipFill rotWithShape="1">
          <a:blip r:embed="rId4">
            <a:alphaModFix/>
          </a:blip>
          <a:srcRect t="19395"/>
          <a:stretch/>
        </p:blipFill>
        <p:spPr>
          <a:xfrm>
            <a:off x="4255849" y="3502992"/>
            <a:ext cx="4852431" cy="2815487"/>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pic>
        <p:nvPicPr>
          <p:cNvPr id="792" name="Google Shape;792;p63"/>
          <p:cNvPicPr preferRelativeResize="0"/>
          <p:nvPr/>
        </p:nvPicPr>
        <p:blipFill rotWithShape="1">
          <a:blip r:embed="rId3">
            <a:alphaModFix/>
          </a:blip>
          <a:srcRect/>
          <a:stretch/>
        </p:blipFill>
        <p:spPr>
          <a:xfrm>
            <a:off x="4684272" y="1032025"/>
            <a:ext cx="5039054" cy="3878018"/>
          </a:xfrm>
          <a:prstGeom prst="rect">
            <a:avLst/>
          </a:prstGeom>
          <a:noFill/>
          <a:ln>
            <a:noFill/>
          </a:ln>
        </p:spPr>
      </p:pic>
      <p:sp>
        <p:nvSpPr>
          <p:cNvPr id="793" name="Google Shape;793;p63"/>
          <p:cNvSpPr txBox="1">
            <a:spLocks noGrp="1"/>
          </p:cNvSpPr>
          <p:nvPr>
            <p:ph type="ctrTitle"/>
          </p:nvPr>
        </p:nvSpPr>
        <p:spPr>
          <a:xfrm>
            <a:off x="1619672" y="0"/>
            <a:ext cx="7524328"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Transport in cells - Osmosis</a:t>
            </a:r>
            <a:endParaRPr/>
          </a:p>
        </p:txBody>
      </p:sp>
      <p:sp>
        <p:nvSpPr>
          <p:cNvPr id="794" name="Google Shape;794;p63"/>
          <p:cNvSpPr/>
          <p:nvPr/>
        </p:nvSpPr>
        <p:spPr>
          <a:xfrm>
            <a:off x="139148" y="745483"/>
            <a:ext cx="4545124" cy="5693866"/>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chemeClr val="dk1"/>
                </a:solidFill>
                <a:latin typeface="Calibri"/>
                <a:ea typeface="Calibri"/>
                <a:cs typeface="Calibri"/>
                <a:sym typeface="Calibri"/>
              </a:rPr>
              <a:t>Osmosis is the </a:t>
            </a:r>
            <a:r>
              <a:rPr lang="en-GB" sz="2000" b="1">
                <a:solidFill>
                  <a:srgbClr val="E36C09"/>
                </a:solidFill>
                <a:latin typeface="Calibri"/>
                <a:ea typeface="Calibri"/>
                <a:cs typeface="Calibri"/>
                <a:sym typeface="Calibri"/>
              </a:rPr>
              <a:t>diffusion</a:t>
            </a:r>
            <a:r>
              <a:rPr lang="en-GB" sz="2000" b="1">
                <a:solidFill>
                  <a:schemeClr val="dk1"/>
                </a:solidFill>
                <a:latin typeface="Calibri"/>
                <a:ea typeface="Calibri"/>
                <a:cs typeface="Calibri"/>
                <a:sym typeface="Calibri"/>
              </a:rPr>
              <a:t> of </a:t>
            </a:r>
            <a:r>
              <a:rPr lang="en-GB" sz="2000" b="1">
                <a:solidFill>
                  <a:srgbClr val="E36C09"/>
                </a:solidFill>
                <a:latin typeface="Calibri"/>
                <a:ea typeface="Calibri"/>
                <a:cs typeface="Calibri"/>
                <a:sym typeface="Calibri"/>
              </a:rPr>
              <a:t>water</a:t>
            </a:r>
            <a:r>
              <a:rPr lang="en-GB" sz="2000" b="1">
                <a:solidFill>
                  <a:schemeClr val="dk1"/>
                </a:solidFill>
                <a:latin typeface="Calibri"/>
                <a:ea typeface="Calibri"/>
                <a:cs typeface="Calibri"/>
                <a:sym typeface="Calibri"/>
              </a:rPr>
              <a:t> from a </a:t>
            </a:r>
            <a:r>
              <a:rPr lang="en-GB" sz="2000" b="1">
                <a:solidFill>
                  <a:srgbClr val="E36C09"/>
                </a:solidFill>
                <a:latin typeface="Calibri"/>
                <a:ea typeface="Calibri"/>
                <a:cs typeface="Calibri"/>
                <a:sym typeface="Calibri"/>
              </a:rPr>
              <a:t>dilute solution </a:t>
            </a:r>
            <a:r>
              <a:rPr lang="en-GB" sz="2000" b="1">
                <a:solidFill>
                  <a:schemeClr val="dk1"/>
                </a:solidFill>
                <a:latin typeface="Calibri"/>
                <a:ea typeface="Calibri"/>
                <a:cs typeface="Calibri"/>
                <a:sym typeface="Calibri"/>
              </a:rPr>
              <a:t>to a </a:t>
            </a:r>
            <a:r>
              <a:rPr lang="en-GB" sz="2000" b="1">
                <a:solidFill>
                  <a:srgbClr val="E36C09"/>
                </a:solidFill>
                <a:latin typeface="Calibri"/>
                <a:ea typeface="Calibri"/>
                <a:cs typeface="Calibri"/>
                <a:sym typeface="Calibri"/>
              </a:rPr>
              <a:t>concentrated</a:t>
            </a:r>
            <a:r>
              <a:rPr lang="en-GB" sz="2000" b="1">
                <a:solidFill>
                  <a:schemeClr val="dk1"/>
                </a:solidFill>
                <a:latin typeface="Calibri"/>
                <a:ea typeface="Calibri"/>
                <a:cs typeface="Calibri"/>
                <a:sym typeface="Calibri"/>
              </a:rPr>
              <a:t> solution </a:t>
            </a:r>
            <a:r>
              <a:rPr lang="en-GB" sz="2000" b="1">
                <a:solidFill>
                  <a:srgbClr val="E36C09"/>
                </a:solidFill>
                <a:latin typeface="Calibri"/>
                <a:ea typeface="Calibri"/>
                <a:cs typeface="Calibri"/>
                <a:sym typeface="Calibri"/>
              </a:rPr>
              <a:t>through</a:t>
            </a:r>
            <a:r>
              <a:rPr lang="en-GB" sz="2000" b="1">
                <a:solidFill>
                  <a:schemeClr val="dk1"/>
                </a:solidFill>
                <a:latin typeface="Calibri"/>
                <a:ea typeface="Calibri"/>
                <a:cs typeface="Calibri"/>
                <a:sym typeface="Calibri"/>
              </a:rPr>
              <a:t> a </a:t>
            </a:r>
            <a:r>
              <a:rPr lang="en-GB" sz="2000" b="1">
                <a:solidFill>
                  <a:srgbClr val="E36C09"/>
                </a:solidFill>
                <a:latin typeface="Calibri"/>
                <a:ea typeface="Calibri"/>
                <a:cs typeface="Calibri"/>
                <a:sym typeface="Calibri"/>
              </a:rPr>
              <a:t>partially permeable </a:t>
            </a:r>
            <a:r>
              <a:rPr lang="en-GB" sz="2000" b="1">
                <a:solidFill>
                  <a:schemeClr val="dk1"/>
                </a:solidFill>
                <a:latin typeface="Calibri"/>
                <a:ea typeface="Calibri"/>
                <a:cs typeface="Calibri"/>
                <a:sym typeface="Calibri"/>
              </a:rPr>
              <a:t>membrane.</a:t>
            </a:r>
            <a:endParaRPr/>
          </a:p>
          <a:p>
            <a:pPr marL="0" marR="0" lvl="0" indent="0" algn="ctr" rtl="0">
              <a:spcBef>
                <a:spcPts val="0"/>
              </a:spcBef>
              <a:spcAft>
                <a:spcPts val="0"/>
              </a:spcAft>
              <a:buNone/>
            </a:pPr>
            <a:endParaRPr sz="2000" b="1">
              <a:solidFill>
                <a:schemeClr val="dk1"/>
              </a:solidFill>
              <a:latin typeface="Calibri"/>
              <a:ea typeface="Calibri"/>
              <a:cs typeface="Calibri"/>
              <a:sym typeface="Calibri"/>
            </a:endParaRPr>
          </a:p>
          <a:p>
            <a:pPr marL="0" marR="0" lvl="0" indent="0" algn="ctr" rtl="0">
              <a:spcBef>
                <a:spcPts val="0"/>
              </a:spcBef>
              <a:spcAft>
                <a:spcPts val="0"/>
              </a:spcAft>
              <a:buNone/>
            </a:pPr>
            <a:endParaRPr sz="2400" b="1">
              <a:solidFill>
                <a:schemeClr val="dk1"/>
              </a:solidFill>
              <a:latin typeface="Calibri"/>
              <a:ea typeface="Calibri"/>
              <a:cs typeface="Calibri"/>
              <a:sym typeface="Calibri"/>
            </a:endParaRPr>
          </a:p>
          <a:p>
            <a:pPr marL="0" marR="0" lvl="0" indent="0" algn="ctr" rtl="0">
              <a:spcBef>
                <a:spcPts val="0"/>
              </a:spcBef>
              <a:spcAft>
                <a:spcPts val="0"/>
              </a:spcAft>
              <a:buNone/>
            </a:pPr>
            <a:endParaRPr sz="2400" b="1">
              <a:solidFill>
                <a:schemeClr val="dk1"/>
              </a:solidFill>
              <a:latin typeface="Calibri"/>
              <a:ea typeface="Calibri"/>
              <a:cs typeface="Calibri"/>
              <a:sym typeface="Calibri"/>
            </a:endParaRPr>
          </a:p>
          <a:p>
            <a:pPr marL="0" marR="0" lvl="0" indent="0" algn="ctr" rtl="0">
              <a:spcBef>
                <a:spcPts val="0"/>
              </a:spcBef>
              <a:spcAft>
                <a:spcPts val="0"/>
              </a:spcAft>
              <a:buNone/>
            </a:pPr>
            <a:endParaRPr sz="2400" b="1">
              <a:solidFill>
                <a:schemeClr val="dk1"/>
              </a:solidFill>
              <a:latin typeface="Calibri"/>
              <a:ea typeface="Calibri"/>
              <a:cs typeface="Calibri"/>
              <a:sym typeface="Calibri"/>
            </a:endParaRPr>
          </a:p>
          <a:p>
            <a:pPr marL="0" marR="0" lvl="0" indent="0" algn="ctr" rtl="0">
              <a:spcBef>
                <a:spcPts val="0"/>
              </a:spcBef>
              <a:spcAft>
                <a:spcPts val="0"/>
              </a:spcAft>
              <a:buNone/>
            </a:pPr>
            <a:endParaRPr sz="2400" b="1">
              <a:solidFill>
                <a:schemeClr val="dk1"/>
              </a:solidFill>
              <a:latin typeface="Calibri"/>
              <a:ea typeface="Calibri"/>
              <a:cs typeface="Calibri"/>
              <a:sym typeface="Calibri"/>
            </a:endParaRPr>
          </a:p>
          <a:p>
            <a:pPr marL="0" marR="0" lvl="0" indent="0" algn="ctr" rtl="0">
              <a:spcBef>
                <a:spcPts val="0"/>
              </a:spcBef>
              <a:spcAft>
                <a:spcPts val="0"/>
              </a:spcAft>
              <a:buNone/>
            </a:pPr>
            <a:endParaRPr sz="2400" b="1">
              <a:solidFill>
                <a:schemeClr val="dk1"/>
              </a:solidFill>
              <a:latin typeface="Calibri"/>
              <a:ea typeface="Calibri"/>
              <a:cs typeface="Calibri"/>
              <a:sym typeface="Calibri"/>
            </a:endParaRPr>
          </a:p>
          <a:p>
            <a:pPr marL="0" marR="0" lvl="0" indent="0" algn="ctr" rtl="0">
              <a:spcBef>
                <a:spcPts val="0"/>
              </a:spcBef>
              <a:spcAft>
                <a:spcPts val="0"/>
              </a:spcAft>
              <a:buNone/>
            </a:pPr>
            <a:endParaRPr sz="2400" b="1">
              <a:solidFill>
                <a:schemeClr val="dk1"/>
              </a:solidFill>
              <a:latin typeface="Calibri"/>
              <a:ea typeface="Calibri"/>
              <a:cs typeface="Calibri"/>
              <a:sym typeface="Calibri"/>
            </a:endParaRPr>
          </a:p>
          <a:p>
            <a:pPr marL="0" marR="0" lvl="0" indent="0" algn="ctr" rtl="0">
              <a:spcBef>
                <a:spcPts val="0"/>
              </a:spcBef>
              <a:spcAft>
                <a:spcPts val="0"/>
              </a:spcAft>
              <a:buNone/>
            </a:pPr>
            <a:endParaRPr sz="2400" b="1">
              <a:solidFill>
                <a:schemeClr val="dk1"/>
              </a:solidFill>
              <a:latin typeface="Calibri"/>
              <a:ea typeface="Calibri"/>
              <a:cs typeface="Calibri"/>
              <a:sym typeface="Calibri"/>
            </a:endParaRPr>
          </a:p>
          <a:p>
            <a:pPr marL="0" marR="0" lvl="0" indent="0" algn="ctr" rtl="0">
              <a:spcBef>
                <a:spcPts val="0"/>
              </a:spcBef>
              <a:spcAft>
                <a:spcPts val="0"/>
              </a:spcAft>
              <a:buNone/>
            </a:pP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rate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of </a:t>
            </a:r>
            <a:r>
              <a:rPr lang="en-GB" sz="2000" b="1">
                <a:solidFill>
                  <a:srgbClr val="E36C09"/>
                </a:solidFill>
                <a:latin typeface="Calibri"/>
                <a:ea typeface="Calibri"/>
                <a:cs typeface="Calibri"/>
                <a:sym typeface="Calibri"/>
              </a:rPr>
              <a:t>osmosis</a:t>
            </a:r>
            <a:r>
              <a:rPr lang="en-GB" sz="2000">
                <a:solidFill>
                  <a:schemeClr val="dk1"/>
                </a:solidFill>
                <a:latin typeface="Calibri"/>
                <a:ea typeface="Calibri"/>
                <a:cs typeface="Calibri"/>
                <a:sym typeface="Calibri"/>
              </a:rPr>
              <a:t> changes depending on the </a:t>
            </a:r>
            <a:r>
              <a:rPr lang="en-GB" sz="2000" b="1">
                <a:solidFill>
                  <a:srgbClr val="E36C09"/>
                </a:solidFill>
                <a:latin typeface="Calibri"/>
                <a:ea typeface="Calibri"/>
                <a:cs typeface="Calibri"/>
                <a:sym typeface="Calibri"/>
              </a:rPr>
              <a:t>concentration gradient </a:t>
            </a:r>
            <a:r>
              <a:rPr lang="en-GB" sz="2000">
                <a:solidFill>
                  <a:schemeClr val="dk1"/>
                </a:solidFill>
                <a:latin typeface="Calibri"/>
                <a:ea typeface="Calibri"/>
                <a:cs typeface="Calibri"/>
                <a:sym typeface="Calibri"/>
              </a:rPr>
              <a:t>and </a:t>
            </a:r>
            <a:r>
              <a:rPr lang="en-GB" sz="2000" b="1">
                <a:solidFill>
                  <a:srgbClr val="E36C09"/>
                </a:solidFill>
                <a:latin typeface="Calibri"/>
                <a:ea typeface="Calibri"/>
                <a:cs typeface="Calibri"/>
                <a:sym typeface="Calibri"/>
              </a:rPr>
              <a:t>temperature</a:t>
            </a:r>
            <a:r>
              <a:rPr lang="en-GB" sz="2000">
                <a:solidFill>
                  <a:schemeClr val="dk1"/>
                </a:solidFill>
                <a:latin typeface="Calibri"/>
                <a:ea typeface="Calibri"/>
                <a:cs typeface="Calibri"/>
                <a:sym typeface="Calibri"/>
              </a:rPr>
              <a:t>.</a:t>
            </a:r>
            <a:endParaRPr/>
          </a:p>
          <a:p>
            <a:pPr marL="0" marR="0" lvl="0" indent="0" algn="ctr" rtl="0">
              <a:spcBef>
                <a:spcPts val="0"/>
              </a:spcBef>
              <a:spcAft>
                <a:spcPts val="0"/>
              </a:spcAft>
              <a:buNone/>
            </a:pPr>
            <a:r>
              <a:rPr lang="en-GB" sz="1800" b="1">
                <a:solidFill>
                  <a:schemeClr val="dk1"/>
                </a:solidFill>
                <a:latin typeface="Calibri"/>
                <a:ea typeface="Calibri"/>
                <a:cs typeface="Calibri"/>
                <a:sym typeface="Calibri"/>
              </a:rPr>
              <a:t>Partially permeable membrane – a membrane that lets some but not all substances through. </a:t>
            </a:r>
            <a:endParaRPr/>
          </a:p>
        </p:txBody>
      </p:sp>
      <p:pic>
        <p:nvPicPr>
          <p:cNvPr id="795" name="Google Shape;795;p63"/>
          <p:cNvPicPr preferRelativeResize="0"/>
          <p:nvPr/>
        </p:nvPicPr>
        <p:blipFill rotWithShape="1">
          <a:blip r:embed="rId4">
            <a:alphaModFix/>
          </a:blip>
          <a:srcRect/>
          <a:stretch/>
        </p:blipFill>
        <p:spPr>
          <a:xfrm>
            <a:off x="252040" y="1998832"/>
            <a:ext cx="4320530" cy="2880354"/>
          </a:xfrm>
          <a:prstGeom prst="rect">
            <a:avLst/>
          </a:prstGeom>
          <a:noFill/>
          <a:ln>
            <a:noFill/>
          </a:ln>
        </p:spPr>
      </p:pic>
      <p:sp>
        <p:nvSpPr>
          <p:cNvPr id="796" name="Google Shape;796;p63"/>
          <p:cNvSpPr txBox="1"/>
          <p:nvPr/>
        </p:nvSpPr>
        <p:spPr>
          <a:xfrm>
            <a:off x="5079733" y="545428"/>
            <a:ext cx="406426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Osmosis in plant and animal cells:</a:t>
            </a:r>
            <a:endParaRPr/>
          </a:p>
        </p:txBody>
      </p:sp>
      <p:sp>
        <p:nvSpPr>
          <p:cNvPr id="797" name="Google Shape;797;p63"/>
          <p:cNvSpPr txBox="1"/>
          <p:nvPr/>
        </p:nvSpPr>
        <p:spPr>
          <a:xfrm>
            <a:off x="4932040" y="4611231"/>
            <a:ext cx="3816424"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Hypertonic</a:t>
            </a:r>
            <a:r>
              <a:rPr lang="en-GB" sz="2000">
                <a:solidFill>
                  <a:schemeClr val="dk1"/>
                </a:solidFill>
                <a:latin typeface="Calibri"/>
                <a:ea typeface="Calibri"/>
                <a:cs typeface="Calibri"/>
                <a:sym typeface="Calibri"/>
              </a:rPr>
              <a:t> – </a:t>
            </a:r>
            <a:r>
              <a:rPr lang="en-GB" sz="2000" b="1">
                <a:solidFill>
                  <a:srgbClr val="E36C09"/>
                </a:solidFill>
                <a:latin typeface="Calibri"/>
                <a:ea typeface="Calibri"/>
                <a:cs typeface="Calibri"/>
                <a:sym typeface="Calibri"/>
              </a:rPr>
              <a:t>more concentrated </a:t>
            </a:r>
            <a:r>
              <a:rPr lang="en-GB" sz="2000">
                <a:solidFill>
                  <a:schemeClr val="dk1"/>
                </a:solidFill>
                <a:latin typeface="Calibri"/>
                <a:ea typeface="Calibri"/>
                <a:cs typeface="Calibri"/>
                <a:sym typeface="Calibri"/>
              </a:rPr>
              <a:t>solution than in the cells.</a:t>
            </a:r>
            <a:endParaRPr/>
          </a:p>
          <a:p>
            <a:pPr marL="0" marR="0" lvl="0" indent="0" algn="l" rtl="0">
              <a:spcBef>
                <a:spcPts val="0"/>
              </a:spcBef>
              <a:spcAft>
                <a:spcPts val="0"/>
              </a:spcAft>
              <a:buNone/>
            </a:pPr>
            <a:r>
              <a:rPr lang="en-GB" sz="2000" b="1">
                <a:solidFill>
                  <a:schemeClr val="dk1"/>
                </a:solidFill>
                <a:latin typeface="Calibri"/>
                <a:ea typeface="Calibri"/>
                <a:cs typeface="Calibri"/>
                <a:sym typeface="Calibri"/>
              </a:rPr>
              <a:t>Isotonic</a:t>
            </a:r>
            <a:r>
              <a:rPr lang="en-GB" sz="2000">
                <a:solidFill>
                  <a:schemeClr val="dk1"/>
                </a:solidFill>
                <a:latin typeface="Calibri"/>
                <a:ea typeface="Calibri"/>
                <a:cs typeface="Calibri"/>
                <a:sym typeface="Calibri"/>
              </a:rPr>
              <a:t> – </a:t>
            </a:r>
            <a:r>
              <a:rPr lang="en-GB" sz="2000" b="1">
                <a:solidFill>
                  <a:srgbClr val="E36C09"/>
                </a:solidFill>
                <a:latin typeface="Calibri"/>
                <a:ea typeface="Calibri"/>
                <a:cs typeface="Calibri"/>
                <a:sym typeface="Calibri"/>
              </a:rPr>
              <a:t>same concentration </a:t>
            </a:r>
            <a:r>
              <a:rPr lang="en-GB" sz="2000">
                <a:solidFill>
                  <a:schemeClr val="dk1"/>
                </a:solidFill>
                <a:latin typeface="Calibri"/>
                <a:ea typeface="Calibri"/>
                <a:cs typeface="Calibri"/>
                <a:sym typeface="Calibri"/>
              </a:rPr>
              <a:t>as the solution in the cell.</a:t>
            </a:r>
            <a:endParaRPr/>
          </a:p>
          <a:p>
            <a:pPr marL="0" marR="0" lvl="0" indent="0" algn="l" rtl="0">
              <a:spcBef>
                <a:spcPts val="0"/>
              </a:spcBef>
              <a:spcAft>
                <a:spcPts val="0"/>
              </a:spcAft>
              <a:buNone/>
            </a:pPr>
            <a:r>
              <a:rPr lang="en-GB" sz="2000" b="1">
                <a:solidFill>
                  <a:schemeClr val="dk1"/>
                </a:solidFill>
                <a:latin typeface="Calibri"/>
                <a:ea typeface="Calibri"/>
                <a:cs typeface="Calibri"/>
                <a:sym typeface="Calibri"/>
              </a:rPr>
              <a:t>Hypotonic</a:t>
            </a:r>
            <a:r>
              <a:rPr lang="en-GB" sz="2000">
                <a:solidFill>
                  <a:schemeClr val="dk1"/>
                </a:solidFill>
                <a:latin typeface="Calibri"/>
                <a:ea typeface="Calibri"/>
                <a:cs typeface="Calibri"/>
                <a:sym typeface="Calibri"/>
              </a:rPr>
              <a:t> – </a:t>
            </a:r>
            <a:r>
              <a:rPr lang="en-GB" sz="2000" b="1">
                <a:solidFill>
                  <a:srgbClr val="E36C09"/>
                </a:solidFill>
                <a:latin typeface="Calibri"/>
                <a:ea typeface="Calibri"/>
                <a:cs typeface="Calibri"/>
                <a:sym typeface="Calibri"/>
              </a:rPr>
              <a:t>more dilute </a:t>
            </a:r>
            <a:r>
              <a:rPr lang="en-GB" sz="2000">
                <a:solidFill>
                  <a:schemeClr val="dk1"/>
                </a:solidFill>
                <a:latin typeface="Calibri"/>
                <a:ea typeface="Calibri"/>
                <a:cs typeface="Calibri"/>
                <a:sym typeface="Calibri"/>
              </a:rPr>
              <a:t>than the solution in the cells. </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719AD3B3-E167-40C7-8ABE-A8E0AA167F76}"/>
              </a:ext>
            </a:extLst>
          </p:cNvPr>
          <p:cNvPicPr>
            <a:picLocks noChangeAspect="1"/>
          </p:cNvPicPr>
          <p:nvPr/>
        </p:nvPicPr>
        <p:blipFill>
          <a:blip r:embed="rId5"/>
          <a:stretch>
            <a:fillRect/>
          </a:stretch>
        </p:blipFill>
        <p:spPr>
          <a:xfrm>
            <a:off x="4507870" y="1032025"/>
            <a:ext cx="5207992" cy="273593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64"/>
          <p:cNvSpPr txBox="1">
            <a:spLocks noGrp="1"/>
          </p:cNvSpPr>
          <p:nvPr>
            <p:ph type="ctrTitle"/>
          </p:nvPr>
        </p:nvSpPr>
        <p:spPr>
          <a:xfrm>
            <a:off x="1619672" y="0"/>
            <a:ext cx="7524328"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Transport in cells – Active transport</a:t>
            </a:r>
            <a:endParaRPr/>
          </a:p>
        </p:txBody>
      </p:sp>
      <p:sp>
        <p:nvSpPr>
          <p:cNvPr id="804" name="Google Shape;804;p64"/>
          <p:cNvSpPr/>
          <p:nvPr/>
        </p:nvSpPr>
        <p:spPr>
          <a:xfrm>
            <a:off x="79995" y="683667"/>
            <a:ext cx="4207346" cy="16312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a:solidFill>
                  <a:srgbClr val="E36C09"/>
                </a:solidFill>
                <a:latin typeface="Calibri"/>
                <a:ea typeface="Calibri"/>
                <a:cs typeface="Calibri"/>
                <a:sym typeface="Calibri"/>
              </a:rPr>
              <a:t>Active transport </a:t>
            </a:r>
            <a:r>
              <a:rPr lang="en-GB" sz="2000" b="1">
                <a:solidFill>
                  <a:schemeClr val="dk1"/>
                </a:solidFill>
                <a:latin typeface="Calibri"/>
                <a:ea typeface="Calibri"/>
                <a:cs typeface="Calibri"/>
                <a:sym typeface="Calibri"/>
              </a:rPr>
              <a:t>moves substances from a more </a:t>
            </a:r>
            <a:r>
              <a:rPr lang="en-GB" sz="2000" b="1">
                <a:solidFill>
                  <a:srgbClr val="E36C09"/>
                </a:solidFill>
                <a:latin typeface="Calibri"/>
                <a:ea typeface="Calibri"/>
                <a:cs typeface="Calibri"/>
                <a:sym typeface="Calibri"/>
              </a:rPr>
              <a:t>dilute solution </a:t>
            </a:r>
            <a:r>
              <a:rPr lang="en-GB" sz="2000" b="1">
                <a:solidFill>
                  <a:schemeClr val="dk1"/>
                </a:solidFill>
                <a:latin typeface="Calibri"/>
                <a:ea typeface="Calibri"/>
                <a:cs typeface="Calibri"/>
                <a:sym typeface="Calibri"/>
              </a:rPr>
              <a:t>to a more </a:t>
            </a:r>
            <a:r>
              <a:rPr lang="en-GB" sz="2000" b="1">
                <a:solidFill>
                  <a:srgbClr val="E36C09"/>
                </a:solidFill>
                <a:latin typeface="Calibri"/>
                <a:ea typeface="Calibri"/>
                <a:cs typeface="Calibri"/>
                <a:sym typeface="Calibri"/>
              </a:rPr>
              <a:t>concentrated </a:t>
            </a:r>
            <a:r>
              <a:rPr lang="en-GB" sz="2000" b="1">
                <a:solidFill>
                  <a:schemeClr val="dk1"/>
                </a:solidFill>
                <a:latin typeface="Calibri"/>
                <a:ea typeface="Calibri"/>
                <a:cs typeface="Calibri"/>
                <a:sym typeface="Calibri"/>
              </a:rPr>
              <a:t>solution (</a:t>
            </a:r>
            <a:r>
              <a:rPr lang="en-GB" sz="2000" b="1">
                <a:solidFill>
                  <a:srgbClr val="E36C09"/>
                </a:solidFill>
                <a:latin typeface="Calibri"/>
                <a:ea typeface="Calibri"/>
                <a:cs typeface="Calibri"/>
                <a:sym typeface="Calibri"/>
              </a:rPr>
              <a:t>against</a:t>
            </a:r>
            <a:r>
              <a:rPr lang="en-GB" sz="2000" b="1">
                <a:solidFill>
                  <a:schemeClr val="dk1"/>
                </a:solidFill>
                <a:latin typeface="Calibri"/>
                <a:ea typeface="Calibri"/>
                <a:cs typeface="Calibri"/>
                <a:sym typeface="Calibri"/>
              </a:rPr>
              <a:t> a concentration gradient). The </a:t>
            </a:r>
            <a:r>
              <a:rPr lang="en-GB" sz="2000" b="1">
                <a:solidFill>
                  <a:srgbClr val="E36C09"/>
                </a:solidFill>
                <a:latin typeface="Calibri"/>
                <a:ea typeface="Calibri"/>
                <a:cs typeface="Calibri"/>
                <a:sym typeface="Calibri"/>
              </a:rPr>
              <a:t>energy</a:t>
            </a:r>
            <a:r>
              <a:rPr lang="en-GB" sz="2000" b="1">
                <a:solidFill>
                  <a:schemeClr val="dk1"/>
                </a:solidFill>
                <a:latin typeface="Calibri"/>
                <a:ea typeface="Calibri"/>
                <a:cs typeface="Calibri"/>
                <a:sym typeface="Calibri"/>
              </a:rPr>
              <a:t> is provided by </a:t>
            </a:r>
            <a:r>
              <a:rPr lang="en-GB" sz="2000" b="1">
                <a:solidFill>
                  <a:srgbClr val="E36C09"/>
                </a:solidFill>
                <a:latin typeface="Calibri"/>
                <a:ea typeface="Calibri"/>
                <a:cs typeface="Calibri"/>
                <a:sym typeface="Calibri"/>
              </a:rPr>
              <a:t>respiration</a:t>
            </a:r>
            <a:r>
              <a:rPr lang="en-GB" sz="2000" b="1">
                <a:solidFill>
                  <a:schemeClr val="dk1"/>
                </a:solidFill>
                <a:latin typeface="Calibri"/>
                <a:ea typeface="Calibri"/>
                <a:cs typeface="Calibri"/>
                <a:sym typeface="Calibri"/>
              </a:rPr>
              <a:t>.</a:t>
            </a:r>
            <a:endParaRPr sz="2000" b="1">
              <a:solidFill>
                <a:schemeClr val="dk1"/>
              </a:solidFill>
              <a:latin typeface="Calibri"/>
              <a:ea typeface="Calibri"/>
              <a:cs typeface="Calibri"/>
              <a:sym typeface="Calibri"/>
            </a:endParaRPr>
          </a:p>
        </p:txBody>
      </p:sp>
      <p:sp>
        <p:nvSpPr>
          <p:cNvPr id="805" name="Google Shape;805;p64"/>
          <p:cNvSpPr txBox="1"/>
          <p:nvPr/>
        </p:nvSpPr>
        <p:spPr>
          <a:xfrm>
            <a:off x="4139954" y="3130808"/>
            <a:ext cx="5004048" cy="132343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mineral</a:t>
            </a:r>
            <a:r>
              <a:rPr lang="en-GB" sz="2000">
                <a:solidFill>
                  <a:srgbClr val="E36C09"/>
                </a:solidFill>
                <a:latin typeface="Calibri"/>
                <a:ea typeface="Calibri"/>
                <a:cs typeface="Calibri"/>
                <a:sym typeface="Calibri"/>
              </a:rPr>
              <a:t>s </a:t>
            </a:r>
            <a:r>
              <a:rPr lang="en-GB" sz="2000">
                <a:solidFill>
                  <a:schemeClr val="dk1"/>
                </a:solidFill>
                <a:latin typeface="Calibri"/>
                <a:ea typeface="Calibri"/>
                <a:cs typeface="Calibri"/>
                <a:sym typeface="Calibri"/>
              </a:rPr>
              <a:t>are at a </a:t>
            </a:r>
            <a:r>
              <a:rPr lang="en-GB" sz="2000" b="1">
                <a:solidFill>
                  <a:srgbClr val="E36C09"/>
                </a:solidFill>
                <a:latin typeface="Calibri"/>
                <a:ea typeface="Calibri"/>
                <a:cs typeface="Calibri"/>
                <a:sym typeface="Calibri"/>
              </a:rPr>
              <a:t>higher concentration </a:t>
            </a:r>
            <a:r>
              <a:rPr lang="en-GB" sz="2000">
                <a:solidFill>
                  <a:schemeClr val="dk1"/>
                </a:solidFill>
                <a:latin typeface="Calibri"/>
                <a:ea typeface="Calibri"/>
                <a:cs typeface="Calibri"/>
                <a:sym typeface="Calibri"/>
              </a:rPr>
              <a:t>in the </a:t>
            </a:r>
            <a:r>
              <a:rPr lang="en-GB" sz="2000" b="1">
                <a:solidFill>
                  <a:srgbClr val="E36C09"/>
                </a:solidFill>
                <a:latin typeface="Calibri"/>
                <a:ea typeface="Calibri"/>
                <a:cs typeface="Calibri"/>
                <a:sym typeface="Calibri"/>
              </a:rPr>
              <a:t>root hair </a:t>
            </a:r>
            <a:r>
              <a:rPr lang="en-GB" sz="2000">
                <a:solidFill>
                  <a:schemeClr val="dk1"/>
                </a:solidFill>
                <a:latin typeface="Calibri"/>
                <a:ea typeface="Calibri"/>
                <a:cs typeface="Calibri"/>
                <a:sym typeface="Calibri"/>
              </a:rPr>
              <a:t>cell than in the soil. So the </a:t>
            </a:r>
            <a:r>
              <a:rPr lang="en-GB" sz="2000" b="1">
                <a:solidFill>
                  <a:srgbClr val="E36C09"/>
                </a:solidFill>
                <a:latin typeface="Calibri"/>
                <a:ea typeface="Calibri"/>
                <a:cs typeface="Calibri"/>
                <a:sym typeface="Calibri"/>
              </a:rPr>
              <a:t>minerals</a:t>
            </a:r>
            <a:r>
              <a:rPr lang="en-GB" sz="2000">
                <a:solidFill>
                  <a:schemeClr val="dk1"/>
                </a:solidFill>
                <a:latin typeface="Calibri"/>
                <a:ea typeface="Calibri"/>
                <a:cs typeface="Calibri"/>
                <a:sym typeface="Calibri"/>
              </a:rPr>
              <a:t> move </a:t>
            </a:r>
            <a:r>
              <a:rPr lang="en-GB" sz="2000" b="1">
                <a:solidFill>
                  <a:schemeClr val="dk1"/>
                </a:solidFill>
                <a:latin typeface="Calibri"/>
                <a:ea typeface="Calibri"/>
                <a:cs typeface="Calibri"/>
                <a:sym typeface="Calibri"/>
              </a:rPr>
              <a:t>into</a:t>
            </a:r>
            <a:r>
              <a:rPr lang="en-GB" sz="2000">
                <a:solidFill>
                  <a:schemeClr val="dk1"/>
                </a:solidFill>
                <a:latin typeface="Calibri"/>
                <a:ea typeface="Calibri"/>
                <a:cs typeface="Calibri"/>
                <a:sym typeface="Calibri"/>
              </a:rPr>
              <a:t> the </a:t>
            </a:r>
            <a:r>
              <a:rPr lang="en-GB" sz="2000" b="1">
                <a:solidFill>
                  <a:srgbClr val="E36C09"/>
                </a:solidFill>
                <a:latin typeface="Calibri"/>
                <a:ea typeface="Calibri"/>
                <a:cs typeface="Calibri"/>
                <a:sym typeface="Calibri"/>
              </a:rPr>
              <a:t>cell</a:t>
            </a:r>
            <a:r>
              <a:rPr lang="en-GB" sz="2000">
                <a:solidFill>
                  <a:schemeClr val="dk1"/>
                </a:solidFill>
                <a:latin typeface="Calibri"/>
                <a:ea typeface="Calibri"/>
                <a:cs typeface="Calibri"/>
                <a:sym typeface="Calibri"/>
              </a:rPr>
              <a:t> </a:t>
            </a:r>
            <a:r>
              <a:rPr lang="en-GB" sz="2000" b="1">
                <a:solidFill>
                  <a:srgbClr val="E36C09"/>
                </a:solidFill>
                <a:latin typeface="Calibri"/>
                <a:ea typeface="Calibri"/>
                <a:cs typeface="Calibri"/>
                <a:sym typeface="Calibri"/>
              </a:rPr>
              <a:t>against</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the concentration gradient. </a:t>
            </a:r>
            <a:endParaRPr/>
          </a:p>
        </p:txBody>
      </p:sp>
      <p:pic>
        <p:nvPicPr>
          <p:cNvPr id="806" name="Google Shape;806;p64"/>
          <p:cNvPicPr preferRelativeResize="0"/>
          <p:nvPr/>
        </p:nvPicPr>
        <p:blipFill rotWithShape="1">
          <a:blip r:embed="rId3">
            <a:alphaModFix/>
          </a:blip>
          <a:srcRect/>
          <a:stretch/>
        </p:blipFill>
        <p:spPr>
          <a:xfrm>
            <a:off x="5156622" y="940254"/>
            <a:ext cx="3168352" cy="2278517"/>
          </a:xfrm>
          <a:prstGeom prst="rect">
            <a:avLst/>
          </a:prstGeom>
          <a:noFill/>
          <a:ln>
            <a:noFill/>
          </a:ln>
        </p:spPr>
      </p:pic>
      <p:sp>
        <p:nvSpPr>
          <p:cNvPr id="807" name="Google Shape;807;p64"/>
          <p:cNvSpPr/>
          <p:nvPr/>
        </p:nvSpPr>
        <p:spPr>
          <a:xfrm>
            <a:off x="4565607" y="540144"/>
            <a:ext cx="447705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a:solidFill>
                  <a:schemeClr val="dk1"/>
                </a:solidFill>
                <a:latin typeface="Calibri"/>
                <a:ea typeface="Calibri"/>
                <a:cs typeface="Calibri"/>
                <a:sym typeface="Calibri"/>
              </a:rPr>
              <a:t>Active transport occurs in </a:t>
            </a:r>
            <a:r>
              <a:rPr lang="en-GB" sz="2000" b="1">
                <a:solidFill>
                  <a:srgbClr val="E36C09"/>
                </a:solidFill>
                <a:latin typeface="Calibri"/>
                <a:ea typeface="Calibri"/>
                <a:cs typeface="Calibri"/>
                <a:sym typeface="Calibri"/>
              </a:rPr>
              <a:t>root hair cells</a:t>
            </a:r>
            <a:r>
              <a:rPr lang="en-GB" sz="2000">
                <a:solidFill>
                  <a:schemeClr val="dk1"/>
                </a:solidFill>
                <a:latin typeface="Calibri"/>
                <a:ea typeface="Calibri"/>
                <a:cs typeface="Calibri"/>
                <a:sym typeface="Calibri"/>
              </a:rPr>
              <a:t>. </a:t>
            </a:r>
            <a:endParaRPr/>
          </a:p>
        </p:txBody>
      </p:sp>
      <p:sp>
        <p:nvSpPr>
          <p:cNvPr id="808" name="Google Shape;808;p64"/>
          <p:cNvSpPr/>
          <p:nvPr/>
        </p:nvSpPr>
        <p:spPr>
          <a:xfrm>
            <a:off x="4158620" y="4436506"/>
            <a:ext cx="4966716" cy="1994275"/>
          </a:xfrm>
          <a:prstGeom prst="rect">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dk1"/>
              </a:solidFill>
              <a:latin typeface="Calibri"/>
              <a:ea typeface="Calibri"/>
              <a:cs typeface="Calibri"/>
              <a:sym typeface="Calibri"/>
            </a:endParaRPr>
          </a:p>
          <a:p>
            <a:pPr marL="0" marR="0" lvl="0" indent="0" algn="ctr" rtl="0">
              <a:spcBef>
                <a:spcPts val="0"/>
              </a:spcBef>
              <a:spcAft>
                <a:spcPts val="0"/>
              </a:spcAft>
              <a:buNone/>
            </a:pPr>
            <a:r>
              <a:rPr lang="en-GB" sz="2000">
                <a:solidFill>
                  <a:schemeClr val="dk1"/>
                </a:solidFill>
                <a:latin typeface="Calibri"/>
                <a:ea typeface="Calibri"/>
                <a:cs typeface="Calibri"/>
                <a:sym typeface="Calibri"/>
              </a:rPr>
              <a:t>Active transport also occurs in the </a:t>
            </a:r>
            <a:r>
              <a:rPr lang="en-GB" sz="2000" b="1">
                <a:solidFill>
                  <a:schemeClr val="dk1"/>
                </a:solidFill>
                <a:latin typeface="Calibri"/>
                <a:ea typeface="Calibri"/>
                <a:cs typeface="Calibri"/>
                <a:sym typeface="Calibri"/>
              </a:rPr>
              <a:t>gut</a:t>
            </a:r>
            <a:r>
              <a:rPr lang="en-GB" sz="2000">
                <a:solidFill>
                  <a:schemeClr val="dk1"/>
                </a:solidFill>
                <a:latin typeface="Calibri"/>
                <a:ea typeface="Calibri"/>
                <a:cs typeface="Calibri"/>
                <a:sym typeface="Calibri"/>
              </a:rPr>
              <a:t> (small intestines) </a:t>
            </a:r>
            <a:r>
              <a:rPr lang="en-GB" sz="2000" b="1">
                <a:solidFill>
                  <a:schemeClr val="dk1"/>
                </a:solidFill>
                <a:latin typeface="Calibri"/>
                <a:ea typeface="Calibri"/>
                <a:cs typeface="Calibri"/>
                <a:sym typeface="Calibri"/>
              </a:rPr>
              <a:t>sugar</a:t>
            </a:r>
            <a:r>
              <a:rPr lang="en-GB" sz="2000">
                <a:solidFill>
                  <a:schemeClr val="dk1"/>
                </a:solidFill>
                <a:latin typeface="Calibri"/>
                <a:ea typeface="Calibri"/>
                <a:cs typeface="Calibri"/>
                <a:sym typeface="Calibri"/>
              </a:rPr>
              <a:t> (glucose) molecules are absorbed from lower concentrations in the gut into the blood which has a higher sugar concentration. </a:t>
            </a:r>
            <a:endParaRPr/>
          </a:p>
          <a:p>
            <a:pPr marL="0" marR="0" lvl="0" indent="0" algn="ctr" rtl="0">
              <a:spcBef>
                <a:spcPts val="0"/>
              </a:spcBef>
              <a:spcAft>
                <a:spcPts val="0"/>
              </a:spcAft>
              <a:buNone/>
            </a:pPr>
            <a:r>
              <a:rPr lang="en-GB" sz="2000" b="1">
                <a:solidFill>
                  <a:schemeClr val="dk1"/>
                </a:solidFill>
                <a:latin typeface="Calibri"/>
                <a:ea typeface="Calibri"/>
                <a:cs typeface="Calibri"/>
                <a:sym typeface="Calibri"/>
              </a:rPr>
              <a:t>The glucose is used for respiration.</a:t>
            </a:r>
            <a:endParaRPr/>
          </a:p>
          <a:p>
            <a:pPr marL="0" marR="0" lvl="0" indent="0" algn="ctr" rtl="0">
              <a:spcBef>
                <a:spcPts val="0"/>
              </a:spcBef>
              <a:spcAft>
                <a:spcPts val="0"/>
              </a:spcAft>
              <a:buNone/>
            </a:pPr>
            <a:endParaRPr sz="2000">
              <a:solidFill>
                <a:schemeClr val="dk1"/>
              </a:solidFill>
              <a:latin typeface="Calibri"/>
              <a:ea typeface="Calibri"/>
              <a:cs typeface="Calibri"/>
              <a:sym typeface="Calibri"/>
            </a:endParaRPr>
          </a:p>
        </p:txBody>
      </p:sp>
      <p:pic>
        <p:nvPicPr>
          <p:cNvPr id="809" name="Google Shape;809;p64"/>
          <p:cNvPicPr preferRelativeResize="0"/>
          <p:nvPr/>
        </p:nvPicPr>
        <p:blipFill rotWithShape="1">
          <a:blip r:embed="rId4">
            <a:alphaModFix/>
          </a:blip>
          <a:srcRect/>
          <a:stretch/>
        </p:blipFill>
        <p:spPr>
          <a:xfrm>
            <a:off x="93117" y="2481552"/>
            <a:ext cx="4140200" cy="39624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61"/>
          <p:cNvSpPr txBox="1">
            <a:spLocks noGrp="1"/>
          </p:cNvSpPr>
          <p:nvPr>
            <p:ph type="ctrTitle"/>
          </p:nvPr>
        </p:nvSpPr>
        <p:spPr>
          <a:xfrm>
            <a:off x="683568" y="0"/>
            <a:ext cx="8460432"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Transport in cells – Adaptations in animals </a:t>
            </a:r>
            <a:endParaRPr/>
          </a:p>
        </p:txBody>
      </p:sp>
      <p:sp>
        <p:nvSpPr>
          <p:cNvPr id="769" name="Google Shape;769;p61"/>
          <p:cNvSpPr/>
          <p:nvPr/>
        </p:nvSpPr>
        <p:spPr>
          <a:xfrm>
            <a:off x="0" y="0"/>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0" name="Google Shape;770;p61"/>
          <p:cNvSpPr txBox="1"/>
          <p:nvPr/>
        </p:nvSpPr>
        <p:spPr>
          <a:xfrm>
            <a:off x="0" y="782880"/>
            <a:ext cx="9144000"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Adaptations of gills in fish:</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Each gill is made of lots of thin plates</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called </a:t>
            </a:r>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gill filaments, water with low oxygen flows </a:t>
            </a:r>
            <a:r>
              <a:rPr lang="en-GB" sz="2000">
                <a:solidFill>
                  <a:schemeClr val="dk1"/>
                </a:solidFill>
                <a:latin typeface="Calibri"/>
                <a:ea typeface="Calibri"/>
                <a:cs typeface="Calibri"/>
                <a:sym typeface="Calibri"/>
              </a:rPr>
              <a:t>over</a:t>
            </a:r>
            <a:r>
              <a:rPr lang="en-GB" sz="2000" b="1">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GB" sz="2000" b="1">
                <a:solidFill>
                  <a:srgbClr val="E36C09"/>
                </a:solidFill>
                <a:latin typeface="Calibri"/>
                <a:ea typeface="Calibri"/>
                <a:cs typeface="Calibri"/>
                <a:sym typeface="Calibri"/>
              </a:rPr>
              <a:t>them </a:t>
            </a:r>
            <a:r>
              <a:rPr lang="en-GB" sz="2000">
                <a:solidFill>
                  <a:schemeClr val="dk1"/>
                </a:solidFill>
                <a:latin typeface="Calibri"/>
                <a:ea typeface="Calibri"/>
                <a:cs typeface="Calibri"/>
                <a:sym typeface="Calibri"/>
              </a:rPr>
              <a:t>(however, the oxygen in the blood surrounding</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 the gills is lower) . </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Gill filaments </a:t>
            </a:r>
            <a:r>
              <a:rPr lang="en-GB" sz="2000" b="1">
                <a:solidFill>
                  <a:srgbClr val="E36C09"/>
                </a:solidFill>
                <a:latin typeface="Calibri"/>
                <a:ea typeface="Calibri"/>
                <a:cs typeface="Calibri"/>
                <a:sym typeface="Calibri"/>
              </a:rPr>
              <a:t>increase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surface area</a:t>
            </a:r>
            <a:r>
              <a:rPr lang="en-GB" sz="2000">
                <a:solidFill>
                  <a:schemeClr val="dk1"/>
                </a:solidFill>
                <a:latin typeface="Calibri"/>
                <a:ea typeface="Calibri"/>
                <a:cs typeface="Calibri"/>
                <a:sym typeface="Calibri"/>
              </a:rPr>
              <a:t>.</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Gill filaments are covered with </a:t>
            </a:r>
            <a:r>
              <a:rPr lang="en-GB" sz="2000" b="1">
                <a:solidFill>
                  <a:srgbClr val="E36C09"/>
                </a:solidFill>
                <a:latin typeface="Calibri"/>
                <a:ea typeface="Calibri"/>
                <a:cs typeface="Calibri"/>
                <a:sym typeface="Calibri"/>
              </a:rPr>
              <a:t>lamella </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that increase the surface area more. </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Lamella have a very </a:t>
            </a:r>
            <a:r>
              <a:rPr lang="en-GB" sz="2000" b="1">
                <a:solidFill>
                  <a:srgbClr val="E36C09"/>
                </a:solidFill>
                <a:latin typeface="Calibri"/>
                <a:ea typeface="Calibri"/>
                <a:cs typeface="Calibri"/>
                <a:sym typeface="Calibri"/>
              </a:rPr>
              <a:t>good blood supply. </a:t>
            </a:r>
            <a:r>
              <a:rPr lang="en-GB" sz="2000">
                <a:solidFill>
                  <a:schemeClr val="dk1"/>
                </a:solidFill>
                <a:latin typeface="Calibri"/>
                <a:ea typeface="Calibri"/>
                <a:cs typeface="Calibri"/>
                <a:sym typeface="Calibri"/>
              </a:rPr>
              <a:t>This</a:t>
            </a:r>
            <a:r>
              <a:rPr lang="en-GB" sz="2000" b="1">
                <a:solidFill>
                  <a:srgbClr val="E36C09"/>
                </a:solidFill>
                <a:latin typeface="Calibri"/>
                <a:ea typeface="Calibri"/>
                <a:cs typeface="Calibri"/>
                <a:sym typeface="Calibri"/>
              </a:rPr>
              <a:t> maintains </a:t>
            </a:r>
            <a:endParaRPr/>
          </a:p>
          <a:p>
            <a:pPr marL="0" marR="0" lvl="0" indent="0" algn="l" rtl="0">
              <a:spcBef>
                <a:spcPts val="0"/>
              </a:spcBef>
              <a:spcAft>
                <a:spcPts val="0"/>
              </a:spcAft>
              <a:buNone/>
            </a:pPr>
            <a:r>
              <a:rPr lang="en-GB" sz="2000">
                <a:solidFill>
                  <a:schemeClr val="dk1"/>
                </a:solidFill>
                <a:latin typeface="Calibri"/>
                <a:ea typeface="Calibri"/>
                <a:cs typeface="Calibri"/>
                <a:sym typeface="Calibri"/>
              </a:rPr>
              <a:t>the</a:t>
            </a:r>
            <a:r>
              <a:rPr lang="en-GB" sz="2000" b="1">
                <a:solidFill>
                  <a:srgbClr val="E36C09"/>
                </a:solidFill>
                <a:latin typeface="Calibri"/>
                <a:ea typeface="Calibri"/>
                <a:cs typeface="Calibri"/>
                <a:sym typeface="Calibri"/>
              </a:rPr>
              <a:t> concentration gradient as water flows </a:t>
            </a:r>
            <a:r>
              <a:rPr lang="en-GB" sz="2000">
                <a:solidFill>
                  <a:schemeClr val="dk1"/>
                </a:solidFill>
                <a:latin typeface="Calibri"/>
                <a:ea typeface="Calibri"/>
                <a:cs typeface="Calibri"/>
                <a:sym typeface="Calibri"/>
              </a:rPr>
              <a:t>in the </a:t>
            </a:r>
            <a:r>
              <a:rPr lang="en-GB" sz="2000" b="1">
                <a:solidFill>
                  <a:srgbClr val="E36C09"/>
                </a:solidFill>
                <a:latin typeface="Calibri"/>
                <a:ea typeface="Calibri"/>
                <a:cs typeface="Calibri"/>
                <a:sym typeface="Calibri"/>
              </a:rPr>
              <a:t>opposite direction.</a:t>
            </a: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rgbClr val="E36C09"/>
              </a:buClr>
              <a:buSzPts val="2000"/>
              <a:buFont typeface="Arial"/>
              <a:buChar char="•"/>
            </a:pPr>
            <a:r>
              <a:rPr lang="en-GB" sz="2000" b="1">
                <a:solidFill>
                  <a:srgbClr val="E36C09"/>
                </a:solidFill>
                <a:latin typeface="Calibri"/>
                <a:ea typeface="Calibri"/>
                <a:cs typeface="Calibri"/>
                <a:sym typeface="Calibri"/>
              </a:rPr>
              <a:t>Membranes</a:t>
            </a:r>
            <a:r>
              <a:rPr lang="en-GB" sz="2000">
                <a:solidFill>
                  <a:schemeClr val="dk1"/>
                </a:solidFill>
                <a:latin typeface="Calibri"/>
                <a:ea typeface="Calibri"/>
                <a:cs typeface="Calibri"/>
                <a:sym typeface="Calibri"/>
              </a:rPr>
              <a:t> of the lamellae are </a:t>
            </a:r>
            <a:r>
              <a:rPr lang="en-GB" sz="2000" b="1">
                <a:solidFill>
                  <a:srgbClr val="E36C09"/>
                </a:solidFill>
                <a:latin typeface="Calibri"/>
                <a:ea typeface="Calibri"/>
                <a:cs typeface="Calibri"/>
                <a:sym typeface="Calibri"/>
              </a:rPr>
              <a:t>very thin </a:t>
            </a:r>
            <a:r>
              <a:rPr lang="en-GB" sz="2000">
                <a:solidFill>
                  <a:schemeClr val="dk1"/>
                </a:solidFill>
                <a:latin typeface="Calibri"/>
                <a:ea typeface="Calibri"/>
                <a:cs typeface="Calibri"/>
                <a:sym typeface="Calibri"/>
              </a:rPr>
              <a:t>to allow for a </a:t>
            </a:r>
            <a:r>
              <a:rPr lang="en-GB" sz="2000" b="1">
                <a:solidFill>
                  <a:srgbClr val="E36C09"/>
                </a:solidFill>
                <a:latin typeface="Calibri"/>
                <a:ea typeface="Calibri"/>
                <a:cs typeface="Calibri"/>
                <a:sym typeface="Calibri"/>
              </a:rPr>
              <a:t>short diffusion distance. </a:t>
            </a:r>
            <a:endParaRPr/>
          </a:p>
          <a:p>
            <a:pPr marL="0" marR="0" lvl="0" indent="0" algn="l" rtl="0">
              <a:spcBef>
                <a:spcPts val="0"/>
              </a:spcBef>
              <a:spcAft>
                <a:spcPts val="0"/>
              </a:spcAft>
              <a:buNone/>
            </a:pPr>
            <a:r>
              <a:rPr lang="en-GB" sz="2000" b="1">
                <a:solidFill>
                  <a:schemeClr val="dk1"/>
                </a:solidFill>
                <a:latin typeface="Calibri"/>
                <a:ea typeface="Calibri"/>
                <a:cs typeface="Calibri"/>
                <a:sym typeface="Calibri"/>
              </a:rPr>
              <a:t> </a:t>
            </a:r>
            <a:endParaRPr/>
          </a:p>
        </p:txBody>
      </p:sp>
      <p:pic>
        <p:nvPicPr>
          <p:cNvPr id="771" name="Google Shape;771;p61"/>
          <p:cNvPicPr preferRelativeResize="0"/>
          <p:nvPr/>
        </p:nvPicPr>
        <p:blipFill rotWithShape="1">
          <a:blip r:embed="rId3">
            <a:alphaModFix/>
          </a:blip>
          <a:srcRect/>
          <a:stretch/>
        </p:blipFill>
        <p:spPr>
          <a:xfrm>
            <a:off x="4572000" y="4120893"/>
            <a:ext cx="3326116" cy="2350636"/>
          </a:xfrm>
          <a:prstGeom prst="rect">
            <a:avLst/>
          </a:prstGeom>
          <a:noFill/>
          <a:ln>
            <a:noFill/>
          </a:ln>
        </p:spPr>
      </p:pic>
      <p:sp>
        <p:nvSpPr>
          <p:cNvPr id="772" name="Google Shape;772;p61"/>
          <p:cNvSpPr/>
          <p:nvPr/>
        </p:nvSpPr>
        <p:spPr>
          <a:xfrm>
            <a:off x="307504" y="6194077"/>
            <a:ext cx="34004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1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http://kids.britannica.com/kids/assembly/view/87782</a:t>
            </a:r>
            <a:endParaRPr sz="1100">
              <a:solidFill>
                <a:schemeClr val="dk1"/>
              </a:solidFill>
              <a:latin typeface="Calibri"/>
              <a:ea typeface="Calibri"/>
              <a:cs typeface="Calibri"/>
              <a:sym typeface="Calibri"/>
            </a:endParaRPr>
          </a:p>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pic>
        <p:nvPicPr>
          <p:cNvPr id="773" name="Google Shape;773;p61"/>
          <p:cNvPicPr preferRelativeResize="0"/>
          <p:nvPr/>
        </p:nvPicPr>
        <p:blipFill rotWithShape="1">
          <a:blip r:embed="rId5">
            <a:alphaModFix/>
          </a:blip>
          <a:srcRect/>
          <a:stretch/>
        </p:blipFill>
        <p:spPr>
          <a:xfrm>
            <a:off x="5436096" y="432436"/>
            <a:ext cx="3388493" cy="2930755"/>
          </a:xfrm>
          <a:prstGeom prst="rect">
            <a:avLst/>
          </a:prstGeom>
          <a:noFill/>
          <a:ln>
            <a:noFill/>
          </a:ln>
        </p:spPr>
      </p:pic>
      <p:pic>
        <p:nvPicPr>
          <p:cNvPr id="774" name="Google Shape;774;p61"/>
          <p:cNvPicPr preferRelativeResize="0"/>
          <p:nvPr/>
        </p:nvPicPr>
        <p:blipFill rotWithShape="1">
          <a:blip r:embed="rId6">
            <a:alphaModFix/>
          </a:blip>
          <a:srcRect/>
          <a:stretch/>
        </p:blipFill>
        <p:spPr>
          <a:xfrm>
            <a:off x="691034" y="4293096"/>
            <a:ext cx="2448272" cy="1791418"/>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62"/>
          <p:cNvSpPr txBox="1">
            <a:spLocks noGrp="1"/>
          </p:cNvSpPr>
          <p:nvPr>
            <p:ph type="ctrTitle"/>
          </p:nvPr>
        </p:nvSpPr>
        <p:spPr>
          <a:xfrm>
            <a:off x="683568" y="0"/>
            <a:ext cx="8460432" cy="657041"/>
          </a:xfrm>
          <a:prstGeom prst="rect">
            <a:avLst/>
          </a:prstGeom>
          <a:noFill/>
          <a:ln>
            <a:noFill/>
          </a:ln>
        </p:spPr>
        <p:txBody>
          <a:bodyPr spcFirstLastPara="1" wrap="square" lIns="91425" tIns="45700" rIns="91425" bIns="45700" anchor="ctr" anchorCtr="0">
            <a:noAutofit/>
          </a:bodyPr>
          <a:lstStyle/>
          <a:p>
            <a:pPr marL="342900" marR="0" lvl="1" indent="0" algn="r" rtl="0">
              <a:lnSpc>
                <a:spcPct val="100000"/>
              </a:lnSpc>
              <a:spcBef>
                <a:spcPts val="0"/>
              </a:spcBef>
              <a:spcAft>
                <a:spcPts val="0"/>
              </a:spcAft>
              <a:buNone/>
            </a:pPr>
            <a:r>
              <a:rPr lang="en-GB" sz="2400" b="1">
                <a:solidFill>
                  <a:schemeClr val="accent6"/>
                </a:solidFill>
              </a:rPr>
              <a:t>Transport in cells – Adaptations in plants</a:t>
            </a:r>
            <a:endParaRPr/>
          </a:p>
        </p:txBody>
      </p:sp>
      <p:sp>
        <p:nvSpPr>
          <p:cNvPr id="781" name="Google Shape;781;p62"/>
          <p:cNvSpPr/>
          <p:nvPr/>
        </p:nvSpPr>
        <p:spPr>
          <a:xfrm>
            <a:off x="0" y="0"/>
            <a:ext cx="9144000" cy="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2" name="Google Shape;782;p62"/>
          <p:cNvSpPr txBox="1"/>
          <p:nvPr/>
        </p:nvSpPr>
        <p:spPr>
          <a:xfrm>
            <a:off x="0" y="982540"/>
            <a:ext cx="4913784"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Adaptations of the roots:</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The root surface is covered in millions of </a:t>
            </a:r>
            <a:r>
              <a:rPr lang="en-GB" sz="2000" b="1">
                <a:solidFill>
                  <a:srgbClr val="E36C09"/>
                </a:solidFill>
                <a:latin typeface="Calibri"/>
                <a:ea typeface="Calibri"/>
                <a:cs typeface="Calibri"/>
                <a:sym typeface="Calibri"/>
              </a:rPr>
              <a:t>root hair cells. </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Root hair cells </a:t>
            </a:r>
            <a:r>
              <a:rPr lang="en-GB" sz="2000" b="1">
                <a:solidFill>
                  <a:srgbClr val="E36C09"/>
                </a:solidFill>
                <a:latin typeface="Calibri"/>
                <a:ea typeface="Calibri"/>
                <a:cs typeface="Calibri"/>
                <a:sym typeface="Calibri"/>
              </a:rPr>
              <a:t>increase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the </a:t>
            </a:r>
            <a:r>
              <a:rPr lang="en-GB" sz="2000" b="1">
                <a:solidFill>
                  <a:srgbClr val="E36C09"/>
                </a:solidFill>
                <a:latin typeface="Calibri"/>
                <a:ea typeface="Calibri"/>
                <a:cs typeface="Calibri"/>
                <a:sym typeface="Calibri"/>
              </a:rPr>
              <a:t>surface area</a:t>
            </a:r>
            <a:r>
              <a:rPr lang="en-GB" sz="2000">
                <a:solidFill>
                  <a:schemeClr val="dk1"/>
                </a:solidFill>
                <a:latin typeface="Calibri"/>
                <a:ea typeface="Calibri"/>
                <a:cs typeface="Calibri"/>
                <a:sym typeface="Calibri"/>
              </a:rPr>
              <a:t>.</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Present on the </a:t>
            </a:r>
            <a:r>
              <a:rPr lang="en-GB" sz="2000" b="1">
                <a:solidFill>
                  <a:srgbClr val="E36C09"/>
                </a:solidFill>
                <a:latin typeface="Calibri"/>
                <a:ea typeface="Calibri"/>
                <a:cs typeface="Calibri"/>
                <a:sym typeface="Calibri"/>
              </a:rPr>
              <a:t>mature</a:t>
            </a:r>
            <a:r>
              <a:rPr lang="en-GB" sz="2000">
                <a:solidFill>
                  <a:schemeClr val="dk1"/>
                </a:solidFill>
                <a:latin typeface="Calibri"/>
                <a:ea typeface="Calibri"/>
                <a:cs typeface="Calibri"/>
                <a:sym typeface="Calibri"/>
              </a:rPr>
              <a:t> </a:t>
            </a:r>
            <a:r>
              <a:rPr lang="en-GB" sz="2000" b="1">
                <a:solidFill>
                  <a:schemeClr val="dk1"/>
                </a:solidFill>
                <a:latin typeface="Calibri"/>
                <a:ea typeface="Calibri"/>
                <a:cs typeface="Calibri"/>
                <a:sym typeface="Calibri"/>
              </a:rPr>
              <a:t>parts</a:t>
            </a:r>
            <a:r>
              <a:rPr lang="en-GB" sz="2000">
                <a:solidFill>
                  <a:schemeClr val="dk1"/>
                </a:solidFill>
                <a:latin typeface="Calibri"/>
                <a:ea typeface="Calibri"/>
                <a:cs typeface="Calibri"/>
                <a:sym typeface="Calibri"/>
              </a:rPr>
              <a:t> of the roots. </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Absorb</a:t>
            </a:r>
            <a:r>
              <a:rPr lang="en-GB" sz="2000" b="1">
                <a:solidFill>
                  <a:srgbClr val="E36C09"/>
                </a:solidFill>
                <a:latin typeface="Calibri"/>
                <a:ea typeface="Calibri"/>
                <a:cs typeface="Calibri"/>
                <a:sym typeface="Calibri"/>
              </a:rPr>
              <a:t> water </a:t>
            </a:r>
            <a:r>
              <a:rPr lang="en-GB" sz="2000">
                <a:solidFill>
                  <a:schemeClr val="dk1"/>
                </a:solidFill>
                <a:latin typeface="Calibri"/>
                <a:ea typeface="Calibri"/>
                <a:cs typeface="Calibri"/>
                <a:sym typeface="Calibri"/>
              </a:rPr>
              <a:t>and</a:t>
            </a:r>
            <a:r>
              <a:rPr lang="en-GB" sz="2000" b="1">
                <a:solidFill>
                  <a:schemeClr val="dk1"/>
                </a:solidFill>
                <a:latin typeface="Calibri"/>
                <a:ea typeface="Calibri"/>
                <a:cs typeface="Calibri"/>
                <a:sym typeface="Calibri"/>
              </a:rPr>
              <a:t> </a:t>
            </a:r>
            <a:r>
              <a:rPr lang="en-GB" sz="2000" b="1">
                <a:solidFill>
                  <a:srgbClr val="E36C09"/>
                </a:solidFill>
                <a:latin typeface="Calibri"/>
                <a:ea typeface="Calibri"/>
                <a:cs typeface="Calibri"/>
                <a:sym typeface="Calibri"/>
              </a:rPr>
              <a:t>minerals </a:t>
            </a:r>
            <a:r>
              <a:rPr lang="en-GB" sz="2000">
                <a:solidFill>
                  <a:schemeClr val="dk1"/>
                </a:solidFill>
                <a:latin typeface="Calibri"/>
                <a:ea typeface="Calibri"/>
                <a:cs typeface="Calibri"/>
                <a:sym typeface="Calibri"/>
              </a:rPr>
              <a:t>from the soil.</a:t>
            </a:r>
            <a:endParaRPr/>
          </a:p>
          <a:p>
            <a:pPr marL="0" marR="0" lvl="0" indent="0" algn="l" rtl="0">
              <a:spcBef>
                <a:spcPts val="0"/>
              </a:spcBef>
              <a:spcAft>
                <a:spcPts val="0"/>
              </a:spcAft>
              <a:buNone/>
            </a:pPr>
            <a:r>
              <a:rPr lang="en-GB" sz="2000" b="1">
                <a:solidFill>
                  <a:schemeClr val="dk1"/>
                </a:solidFill>
                <a:latin typeface="Calibri"/>
                <a:ea typeface="Calibri"/>
                <a:cs typeface="Calibri"/>
                <a:sym typeface="Calibri"/>
              </a:rPr>
              <a:t> </a:t>
            </a:r>
            <a:endParaRPr/>
          </a:p>
        </p:txBody>
      </p:sp>
      <p:pic>
        <p:nvPicPr>
          <p:cNvPr id="783" name="Google Shape;783;p62"/>
          <p:cNvPicPr preferRelativeResize="0"/>
          <p:nvPr/>
        </p:nvPicPr>
        <p:blipFill rotWithShape="1">
          <a:blip r:embed="rId3">
            <a:alphaModFix/>
          </a:blip>
          <a:srcRect/>
          <a:stretch/>
        </p:blipFill>
        <p:spPr>
          <a:xfrm>
            <a:off x="5043798" y="787468"/>
            <a:ext cx="1820925" cy="2441841"/>
          </a:xfrm>
          <a:prstGeom prst="rect">
            <a:avLst/>
          </a:prstGeom>
          <a:noFill/>
          <a:ln>
            <a:noFill/>
          </a:ln>
        </p:spPr>
      </p:pic>
      <p:pic>
        <p:nvPicPr>
          <p:cNvPr id="784" name="Google Shape;784;p62"/>
          <p:cNvPicPr preferRelativeResize="0"/>
          <p:nvPr/>
        </p:nvPicPr>
        <p:blipFill rotWithShape="1">
          <a:blip r:embed="rId4">
            <a:alphaModFix/>
          </a:blip>
          <a:srcRect/>
          <a:stretch/>
        </p:blipFill>
        <p:spPr>
          <a:xfrm>
            <a:off x="6864723" y="1124744"/>
            <a:ext cx="2189686" cy="1440160"/>
          </a:xfrm>
          <a:prstGeom prst="rect">
            <a:avLst/>
          </a:prstGeom>
          <a:noFill/>
          <a:ln>
            <a:noFill/>
          </a:ln>
        </p:spPr>
      </p:pic>
      <p:sp>
        <p:nvSpPr>
          <p:cNvPr id="785" name="Google Shape;785;p62"/>
          <p:cNvSpPr/>
          <p:nvPr/>
        </p:nvSpPr>
        <p:spPr>
          <a:xfrm>
            <a:off x="0" y="3008022"/>
            <a:ext cx="4768007" cy="3477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b="1">
                <a:solidFill>
                  <a:schemeClr val="dk1"/>
                </a:solidFill>
                <a:latin typeface="Calibri"/>
                <a:ea typeface="Calibri"/>
                <a:cs typeface="Calibri"/>
                <a:sym typeface="Calibri"/>
              </a:rPr>
              <a:t>Adaptations of the leaves:</a:t>
            </a:r>
            <a:endParaRPr/>
          </a:p>
          <a:p>
            <a:pPr marL="342900" marR="0" lvl="0" indent="-342900" algn="l" rtl="0">
              <a:spcBef>
                <a:spcPts val="0"/>
              </a:spcBef>
              <a:spcAft>
                <a:spcPts val="0"/>
              </a:spcAft>
              <a:buClr>
                <a:schemeClr val="dk1"/>
              </a:buClr>
              <a:buSzPts val="2000"/>
              <a:buFont typeface="Arial"/>
              <a:buChar char="•"/>
            </a:pPr>
            <a:r>
              <a:rPr lang="en-GB" sz="2000" b="1">
                <a:solidFill>
                  <a:srgbClr val="E36C09"/>
                </a:solidFill>
                <a:latin typeface="Calibri"/>
                <a:ea typeface="Calibri"/>
                <a:cs typeface="Calibri"/>
                <a:sym typeface="Calibri"/>
              </a:rPr>
              <a:t>Large surface area </a:t>
            </a:r>
            <a:r>
              <a:rPr lang="en-GB" sz="2000">
                <a:solidFill>
                  <a:schemeClr val="dk1"/>
                </a:solidFill>
                <a:latin typeface="Calibri"/>
                <a:ea typeface="Calibri"/>
                <a:cs typeface="Calibri"/>
                <a:sym typeface="Calibri"/>
              </a:rPr>
              <a:t>to </a:t>
            </a:r>
            <a:r>
              <a:rPr lang="en-GB" sz="2000" b="1">
                <a:solidFill>
                  <a:srgbClr val="E36C09"/>
                </a:solidFill>
                <a:latin typeface="Calibri"/>
                <a:ea typeface="Calibri"/>
                <a:cs typeface="Calibri"/>
                <a:sym typeface="Calibri"/>
              </a:rPr>
              <a:t>absorb</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more </a:t>
            </a:r>
            <a:r>
              <a:rPr lang="en-GB" sz="2000" b="1">
                <a:solidFill>
                  <a:srgbClr val="E36C09"/>
                </a:solidFill>
                <a:latin typeface="Calibri"/>
                <a:ea typeface="Calibri"/>
                <a:cs typeface="Calibri"/>
                <a:sym typeface="Calibri"/>
              </a:rPr>
              <a:t>light.</a:t>
            </a:r>
            <a:endParaRPr/>
          </a:p>
          <a:p>
            <a:pPr marL="342900" marR="0" lvl="0" indent="-342900" algn="l" rtl="0">
              <a:spcBef>
                <a:spcPts val="0"/>
              </a:spcBef>
              <a:spcAft>
                <a:spcPts val="0"/>
              </a:spcAft>
              <a:buClr>
                <a:schemeClr val="dk1"/>
              </a:buClr>
              <a:buSzPts val="2000"/>
              <a:buFont typeface="Arial"/>
              <a:buChar char="•"/>
            </a:pPr>
            <a:r>
              <a:rPr lang="en-GB" sz="2000">
                <a:solidFill>
                  <a:schemeClr val="dk1"/>
                </a:solidFill>
                <a:latin typeface="Calibri"/>
                <a:ea typeface="Calibri"/>
                <a:cs typeface="Calibri"/>
                <a:sym typeface="Calibri"/>
              </a:rPr>
              <a:t>Thin so </a:t>
            </a:r>
            <a:r>
              <a:rPr lang="en-GB" sz="2000" b="1">
                <a:solidFill>
                  <a:srgbClr val="E36C09"/>
                </a:solidFill>
                <a:latin typeface="Calibri"/>
                <a:ea typeface="Calibri"/>
                <a:cs typeface="Calibri"/>
                <a:sym typeface="Calibri"/>
              </a:rPr>
              <a:t>short distance </a:t>
            </a:r>
            <a:r>
              <a:rPr lang="en-GB" sz="2000">
                <a:solidFill>
                  <a:schemeClr val="dk1"/>
                </a:solidFill>
                <a:latin typeface="Calibri"/>
                <a:ea typeface="Calibri"/>
                <a:cs typeface="Calibri"/>
                <a:sym typeface="Calibri"/>
              </a:rPr>
              <a:t>for carbon dioxide to diffuse into leaf cells.</a:t>
            </a:r>
            <a:endParaRPr/>
          </a:p>
          <a:p>
            <a:pPr marL="342900" marR="0" lvl="0" indent="-342900" algn="l" rtl="0">
              <a:spcBef>
                <a:spcPts val="0"/>
              </a:spcBef>
              <a:spcAft>
                <a:spcPts val="0"/>
              </a:spcAft>
              <a:buClr>
                <a:schemeClr val="dk1"/>
              </a:buClr>
              <a:buSzPts val="2000"/>
              <a:buFont typeface="Arial"/>
              <a:buChar char="•"/>
            </a:pPr>
            <a:r>
              <a:rPr lang="en-GB" sz="2000" b="1">
                <a:solidFill>
                  <a:srgbClr val="E36C09"/>
                </a:solidFill>
                <a:latin typeface="Calibri"/>
                <a:ea typeface="Calibri"/>
                <a:cs typeface="Calibri"/>
                <a:sym typeface="Calibri"/>
              </a:rPr>
              <a:t>Chlorophyll </a:t>
            </a:r>
            <a:r>
              <a:rPr lang="en-GB" sz="2000">
                <a:solidFill>
                  <a:schemeClr val="dk1"/>
                </a:solidFill>
                <a:latin typeface="Calibri"/>
                <a:ea typeface="Calibri"/>
                <a:cs typeface="Calibri"/>
                <a:sym typeface="Calibri"/>
              </a:rPr>
              <a:t>absorbs </a:t>
            </a:r>
            <a:r>
              <a:rPr lang="en-GB" sz="2000" b="1">
                <a:solidFill>
                  <a:srgbClr val="E36C09"/>
                </a:solidFill>
                <a:latin typeface="Calibri"/>
                <a:ea typeface="Calibri"/>
                <a:cs typeface="Calibri"/>
                <a:sym typeface="Calibri"/>
              </a:rPr>
              <a:t>sunlight</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for </a:t>
            </a:r>
            <a:r>
              <a:rPr lang="en-GB" sz="2000" b="1">
                <a:solidFill>
                  <a:srgbClr val="E36C09"/>
                </a:solidFill>
                <a:latin typeface="Calibri"/>
                <a:ea typeface="Calibri"/>
                <a:cs typeface="Calibri"/>
                <a:sym typeface="Calibri"/>
              </a:rPr>
              <a:t>photosynthesis</a:t>
            </a:r>
            <a:r>
              <a:rPr lang="en-GB" sz="2000">
                <a:solidFill>
                  <a:schemeClr val="dk1"/>
                </a:solidFill>
                <a:latin typeface="Calibri"/>
                <a:ea typeface="Calibri"/>
                <a:cs typeface="Calibri"/>
                <a:sym typeface="Calibri"/>
              </a:rPr>
              <a:t>.</a:t>
            </a:r>
            <a:endParaRPr/>
          </a:p>
          <a:p>
            <a:pPr marL="342900" marR="0" lvl="0" indent="-342900" algn="l" rtl="0">
              <a:spcBef>
                <a:spcPts val="0"/>
              </a:spcBef>
              <a:spcAft>
                <a:spcPts val="0"/>
              </a:spcAft>
              <a:buClr>
                <a:schemeClr val="dk1"/>
              </a:buClr>
              <a:buSzPts val="2000"/>
              <a:buFont typeface="Arial"/>
              <a:buChar char="•"/>
            </a:pPr>
            <a:r>
              <a:rPr lang="en-GB" sz="2000" b="1">
                <a:solidFill>
                  <a:srgbClr val="E36C09"/>
                </a:solidFill>
                <a:latin typeface="Calibri"/>
                <a:ea typeface="Calibri"/>
                <a:cs typeface="Calibri"/>
                <a:sym typeface="Calibri"/>
              </a:rPr>
              <a:t>Xylem</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and </a:t>
            </a:r>
            <a:r>
              <a:rPr lang="en-GB" sz="2000" b="1">
                <a:solidFill>
                  <a:srgbClr val="E36C09"/>
                </a:solidFill>
                <a:latin typeface="Calibri"/>
                <a:ea typeface="Calibri"/>
                <a:cs typeface="Calibri"/>
                <a:sym typeface="Calibri"/>
              </a:rPr>
              <a:t>phloem</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to </a:t>
            </a:r>
            <a:r>
              <a:rPr lang="en-GB" sz="2000" b="1">
                <a:solidFill>
                  <a:srgbClr val="E36C09"/>
                </a:solidFill>
                <a:latin typeface="Calibri"/>
                <a:ea typeface="Calibri"/>
                <a:cs typeface="Calibri"/>
                <a:sym typeface="Calibri"/>
              </a:rPr>
              <a:t>support</a:t>
            </a:r>
            <a:r>
              <a:rPr lang="en-GB" sz="2000">
                <a:solidFill>
                  <a:schemeClr val="dk1"/>
                </a:solidFill>
                <a:latin typeface="Calibri"/>
                <a:ea typeface="Calibri"/>
                <a:cs typeface="Calibri"/>
                <a:sym typeface="Calibri"/>
              </a:rPr>
              <a:t> the leaf and </a:t>
            </a:r>
            <a:r>
              <a:rPr lang="en-GB" sz="2000" b="1">
                <a:solidFill>
                  <a:srgbClr val="E36C09"/>
                </a:solidFill>
                <a:latin typeface="Calibri"/>
                <a:ea typeface="Calibri"/>
                <a:cs typeface="Calibri"/>
                <a:sym typeface="Calibri"/>
              </a:rPr>
              <a:t>transport</a:t>
            </a:r>
            <a:r>
              <a:rPr lang="en-GB" sz="2000">
                <a:solidFill>
                  <a:srgbClr val="E36C09"/>
                </a:solidFill>
                <a:latin typeface="Calibri"/>
                <a:ea typeface="Calibri"/>
                <a:cs typeface="Calibri"/>
                <a:sym typeface="Calibri"/>
              </a:rPr>
              <a:t> </a:t>
            </a:r>
            <a:r>
              <a:rPr lang="en-GB" sz="2000" b="1">
                <a:solidFill>
                  <a:srgbClr val="E36C09"/>
                </a:solidFill>
                <a:latin typeface="Calibri"/>
                <a:ea typeface="Calibri"/>
                <a:cs typeface="Calibri"/>
                <a:sym typeface="Calibri"/>
              </a:rPr>
              <a:t>water</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and </a:t>
            </a:r>
            <a:r>
              <a:rPr lang="en-GB" sz="2000" b="1">
                <a:solidFill>
                  <a:srgbClr val="E36C09"/>
                </a:solidFill>
                <a:latin typeface="Calibri"/>
                <a:ea typeface="Calibri"/>
                <a:cs typeface="Calibri"/>
                <a:sym typeface="Calibri"/>
              </a:rPr>
              <a:t>glucose</a:t>
            </a:r>
            <a:r>
              <a:rPr lang="en-GB" sz="2000">
                <a:solidFill>
                  <a:schemeClr val="dk1"/>
                </a:solidFill>
                <a:latin typeface="Calibri"/>
                <a:ea typeface="Calibri"/>
                <a:cs typeface="Calibri"/>
                <a:sym typeface="Calibri"/>
              </a:rPr>
              <a:t>.</a:t>
            </a:r>
            <a:endParaRPr/>
          </a:p>
          <a:p>
            <a:pPr marL="342900" marR="0" lvl="0" indent="-342900" algn="l" rtl="0">
              <a:spcBef>
                <a:spcPts val="0"/>
              </a:spcBef>
              <a:spcAft>
                <a:spcPts val="0"/>
              </a:spcAft>
              <a:buClr>
                <a:schemeClr val="dk1"/>
              </a:buClr>
              <a:buSzPts val="2000"/>
              <a:buFont typeface="Arial"/>
              <a:buChar char="•"/>
            </a:pPr>
            <a:r>
              <a:rPr lang="en-GB" sz="2000" b="1">
                <a:solidFill>
                  <a:srgbClr val="E36C09"/>
                </a:solidFill>
                <a:latin typeface="Calibri"/>
                <a:ea typeface="Calibri"/>
                <a:cs typeface="Calibri"/>
                <a:sym typeface="Calibri"/>
              </a:rPr>
              <a:t>Stomata</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on the </a:t>
            </a:r>
            <a:r>
              <a:rPr lang="en-GB" sz="2000" b="1">
                <a:solidFill>
                  <a:srgbClr val="E36C09"/>
                </a:solidFill>
                <a:latin typeface="Calibri"/>
                <a:ea typeface="Calibri"/>
                <a:cs typeface="Calibri"/>
                <a:sym typeface="Calibri"/>
              </a:rPr>
              <a:t>lower side </a:t>
            </a:r>
            <a:r>
              <a:rPr lang="en-GB" sz="2000">
                <a:solidFill>
                  <a:schemeClr val="dk1"/>
                </a:solidFill>
                <a:latin typeface="Calibri"/>
                <a:ea typeface="Calibri"/>
                <a:cs typeface="Calibri"/>
                <a:sym typeface="Calibri"/>
              </a:rPr>
              <a:t>of the leaf to allow </a:t>
            </a:r>
            <a:r>
              <a:rPr lang="en-GB" sz="2000" b="1">
                <a:solidFill>
                  <a:srgbClr val="E36C09"/>
                </a:solidFill>
                <a:latin typeface="Calibri"/>
                <a:ea typeface="Calibri"/>
                <a:cs typeface="Calibri"/>
                <a:sym typeface="Calibri"/>
              </a:rPr>
              <a:t>gases</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to </a:t>
            </a:r>
            <a:r>
              <a:rPr lang="en-GB" sz="2000" b="1">
                <a:solidFill>
                  <a:srgbClr val="E36C09"/>
                </a:solidFill>
                <a:latin typeface="Calibri"/>
                <a:ea typeface="Calibri"/>
                <a:cs typeface="Calibri"/>
                <a:sym typeface="Calibri"/>
              </a:rPr>
              <a:t>diffuse</a:t>
            </a:r>
            <a:r>
              <a:rPr lang="en-GB" sz="2000">
                <a:solidFill>
                  <a:srgbClr val="E36C09"/>
                </a:solidFill>
                <a:latin typeface="Calibri"/>
                <a:ea typeface="Calibri"/>
                <a:cs typeface="Calibri"/>
                <a:sym typeface="Calibri"/>
              </a:rPr>
              <a:t> </a:t>
            </a:r>
            <a:r>
              <a:rPr lang="en-GB" sz="2000">
                <a:solidFill>
                  <a:schemeClr val="dk1"/>
                </a:solidFill>
                <a:latin typeface="Calibri"/>
                <a:ea typeface="Calibri"/>
                <a:cs typeface="Calibri"/>
                <a:sym typeface="Calibri"/>
              </a:rPr>
              <a:t>into and out of the leaf.</a:t>
            </a:r>
            <a:endParaRPr/>
          </a:p>
        </p:txBody>
      </p:sp>
      <p:pic>
        <p:nvPicPr>
          <p:cNvPr id="786" name="Google Shape;786;p62"/>
          <p:cNvPicPr preferRelativeResize="0"/>
          <p:nvPr/>
        </p:nvPicPr>
        <p:blipFill rotWithShape="1">
          <a:blip r:embed="rId5">
            <a:alphaModFix/>
          </a:blip>
          <a:srcRect r="10496"/>
          <a:stretch/>
        </p:blipFill>
        <p:spPr>
          <a:xfrm>
            <a:off x="4480419" y="3649300"/>
            <a:ext cx="4632693" cy="258801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65"/>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816" name="Google Shape;816;p65"/>
          <p:cNvSpPr txBox="1"/>
          <p:nvPr/>
        </p:nvSpPr>
        <p:spPr>
          <a:xfrm>
            <a:off x="0" y="980728"/>
            <a:ext cx="4716016"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QuestionIT!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Transport in cells</a:t>
            </a:r>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Diffusion</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Osmosis</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Active transport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17" name="Google Shape;817;p65"/>
          <p:cNvPicPr preferRelativeResize="0"/>
          <p:nvPr/>
        </p:nvPicPr>
        <p:blipFill rotWithShape="1">
          <a:blip r:embed="rId3">
            <a:alphaModFix/>
          </a:blip>
          <a:srcRect/>
          <a:stretch/>
        </p:blipFill>
        <p:spPr>
          <a:xfrm>
            <a:off x="4211960" y="886544"/>
            <a:ext cx="4914900" cy="56388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66"/>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Transport in cells – </a:t>
            </a:r>
            <a:r>
              <a:rPr lang="en-GB" sz="2400" b="1" i="0" u="none" strike="noStrike" cap="none">
                <a:solidFill>
                  <a:schemeClr val="dk1"/>
                </a:solidFill>
                <a:latin typeface="Calibri"/>
                <a:ea typeface="Calibri"/>
                <a:cs typeface="Calibri"/>
                <a:sym typeface="Calibri"/>
              </a:rPr>
              <a:t>QuestionIT</a:t>
            </a:r>
            <a:endParaRPr/>
          </a:p>
        </p:txBody>
      </p:sp>
      <p:sp>
        <p:nvSpPr>
          <p:cNvPr id="823" name="Google Shape;823;p66"/>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824" name="Google Shape;824;p66"/>
          <p:cNvSpPr txBox="1"/>
          <p:nvPr/>
        </p:nvSpPr>
        <p:spPr>
          <a:xfrm>
            <a:off x="149087" y="613994"/>
            <a:ext cx="8915400" cy="757130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 Define ‘diffusion’.</a:t>
            </a:r>
            <a:br>
              <a:rPr lang="en-GB" sz="2400">
                <a:solidFill>
                  <a:schemeClr val="dk1"/>
                </a:solidFill>
                <a:latin typeface="Calibri"/>
                <a:ea typeface="Calibri"/>
                <a:cs typeface="Calibri"/>
                <a:sym typeface="Calibri"/>
              </a:rPr>
            </a:br>
            <a:r>
              <a:rPr lang="en-GB" sz="2400">
                <a:solidFill>
                  <a:schemeClr val="dk1"/>
                </a:solidFill>
                <a:latin typeface="Calibri"/>
                <a:ea typeface="Calibri"/>
                <a:cs typeface="Calibri"/>
                <a:sym typeface="Calibri"/>
              </a:rPr>
              <a:t>2. State three places where diffusion occurs in the body.</a:t>
            </a:r>
            <a:br>
              <a:rPr lang="en-GB" sz="2400">
                <a:solidFill>
                  <a:schemeClr val="dk1"/>
                </a:solidFill>
                <a:latin typeface="Calibri"/>
                <a:ea typeface="Calibri"/>
                <a:cs typeface="Calibri"/>
                <a:sym typeface="Calibri"/>
              </a:rPr>
            </a:br>
            <a:r>
              <a:rPr lang="en-GB" sz="2400">
                <a:solidFill>
                  <a:schemeClr val="dk1"/>
                </a:solidFill>
                <a:latin typeface="Calibri"/>
                <a:ea typeface="Calibri"/>
                <a:cs typeface="Calibri"/>
                <a:sym typeface="Calibri"/>
              </a:rPr>
              <a:t>3. What is a concentration gradient?</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4. What three factors affect the concentration gradient?</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5. What is surface area to volume ratio?</a:t>
            </a:r>
            <a:br>
              <a:rPr lang="en-GB" sz="2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6. Which has the largest surface area to volume ratio, an elephant or a meerkat? </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7. State how the following are adapted for diffusion:</a:t>
            </a:r>
            <a:endParaRPr/>
          </a:p>
          <a:p>
            <a:pPr marL="457200" marR="0" lvl="1" indent="0" algn="l" rtl="0">
              <a:spcBef>
                <a:spcPts val="0"/>
              </a:spcBef>
              <a:spcAft>
                <a:spcPts val="0"/>
              </a:spcAft>
              <a:buNone/>
            </a:pPr>
            <a:r>
              <a:rPr lang="en-GB" sz="1600" b="0" i="0" u="none" strike="noStrike" cap="none">
                <a:solidFill>
                  <a:schemeClr val="dk1"/>
                </a:solidFill>
                <a:latin typeface="Calibri"/>
                <a:ea typeface="Calibri"/>
                <a:cs typeface="Calibri"/>
                <a:sym typeface="Calibri"/>
              </a:rPr>
              <a:t>a. The small intestines</a:t>
            </a:r>
            <a:endParaRPr/>
          </a:p>
          <a:p>
            <a:pPr marL="457200" marR="0" lvl="1" indent="0" algn="l" rtl="0">
              <a:spcBef>
                <a:spcPts val="0"/>
              </a:spcBef>
              <a:spcAft>
                <a:spcPts val="0"/>
              </a:spcAft>
              <a:buNone/>
            </a:pPr>
            <a:r>
              <a:rPr lang="en-GB" sz="1600" b="0" i="0" u="none" strike="noStrike" cap="none">
                <a:solidFill>
                  <a:schemeClr val="dk1"/>
                </a:solidFill>
                <a:latin typeface="Calibri"/>
                <a:ea typeface="Calibri"/>
                <a:cs typeface="Calibri"/>
                <a:sym typeface="Calibri"/>
              </a:rPr>
              <a:t>b. The lungs</a:t>
            </a:r>
            <a:endParaRPr/>
          </a:p>
          <a:p>
            <a:pPr marL="457200" marR="0" lvl="1" indent="0" algn="l" rtl="0">
              <a:spcBef>
                <a:spcPts val="0"/>
              </a:spcBef>
              <a:spcAft>
                <a:spcPts val="0"/>
              </a:spcAft>
              <a:buNone/>
            </a:pPr>
            <a:r>
              <a:rPr lang="en-GB" sz="1600" b="0" i="0" u="none" strike="noStrike" cap="none">
                <a:solidFill>
                  <a:schemeClr val="dk1"/>
                </a:solidFill>
                <a:latin typeface="Calibri"/>
                <a:ea typeface="Calibri"/>
                <a:cs typeface="Calibri"/>
                <a:sym typeface="Calibri"/>
              </a:rPr>
              <a:t>c. Gills in fish</a:t>
            </a:r>
            <a:endParaRPr/>
          </a:p>
          <a:p>
            <a:pPr marL="457200" marR="0" lvl="1" indent="0" algn="l" rtl="0">
              <a:spcBef>
                <a:spcPts val="0"/>
              </a:spcBef>
              <a:spcAft>
                <a:spcPts val="0"/>
              </a:spcAft>
              <a:buNone/>
            </a:pPr>
            <a:r>
              <a:rPr lang="en-GB" sz="1600" b="0" i="0" u="none" strike="noStrike" cap="none">
                <a:solidFill>
                  <a:schemeClr val="dk1"/>
                </a:solidFill>
                <a:latin typeface="Calibri"/>
                <a:ea typeface="Calibri"/>
                <a:cs typeface="Calibri"/>
                <a:sym typeface="Calibri"/>
              </a:rPr>
              <a:t>d. Root</a:t>
            </a:r>
            <a:endParaRPr/>
          </a:p>
          <a:p>
            <a:pPr marL="457200" marR="0" lvl="1" indent="0" algn="l" rtl="0">
              <a:spcBef>
                <a:spcPts val="0"/>
              </a:spcBef>
              <a:spcAft>
                <a:spcPts val="0"/>
              </a:spcAft>
              <a:buNone/>
            </a:pPr>
            <a:r>
              <a:rPr lang="en-GB" sz="1600" b="0" i="0" u="none" strike="noStrike" cap="none">
                <a:solidFill>
                  <a:schemeClr val="dk1"/>
                </a:solidFill>
                <a:latin typeface="Calibri"/>
                <a:ea typeface="Calibri"/>
                <a:cs typeface="Calibri"/>
                <a:sym typeface="Calibri"/>
              </a:rPr>
              <a:t>e. Leaves</a:t>
            </a:r>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342900" marR="0" lvl="0" indent="-24130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p67"/>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Transport in cells – </a:t>
            </a:r>
            <a:r>
              <a:rPr lang="en-GB" sz="2400" b="1" i="0" u="none" strike="noStrike" cap="none">
                <a:solidFill>
                  <a:schemeClr val="dk1"/>
                </a:solidFill>
                <a:latin typeface="Calibri"/>
                <a:ea typeface="Calibri"/>
                <a:cs typeface="Calibri"/>
                <a:sym typeface="Calibri"/>
              </a:rPr>
              <a:t>QuestionIT</a:t>
            </a:r>
            <a:endParaRPr/>
          </a:p>
        </p:txBody>
      </p:sp>
      <p:sp>
        <p:nvSpPr>
          <p:cNvPr id="830" name="Google Shape;830;p67"/>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831" name="Google Shape;831;p67"/>
          <p:cNvSpPr txBox="1"/>
          <p:nvPr/>
        </p:nvSpPr>
        <p:spPr>
          <a:xfrm>
            <a:off x="149087" y="613994"/>
            <a:ext cx="8915400" cy="69329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8. Define ‘osmosis’.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9. What is a ‘partially permeable membrane’?</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10. What happens to an animal cell in a hypertonic solution?</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11. What happens to an animal cell in a hypotonic solution?</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12. Define ‘active transport’.</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13. Why does active transport need to occur in root hair cells?</a:t>
            </a:r>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14. Why does active transport need to occur in the gut?</a:t>
            </a:r>
            <a:endParaRPr/>
          </a:p>
          <a:p>
            <a:pPr marL="0" marR="0" lvl="0" indent="0" algn="l" rtl="0">
              <a:lnSpc>
                <a:spcPct val="150000"/>
              </a:lnSpc>
              <a:spcBef>
                <a:spcPts val="0"/>
              </a:spcBef>
              <a:spcAft>
                <a:spcPts val="0"/>
              </a:spcAft>
              <a:buNone/>
            </a:pPr>
            <a:endParaRPr sz="240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GB" sz="2400">
                <a:solidFill>
                  <a:schemeClr val="dk1"/>
                </a:solidFill>
                <a:latin typeface="Calibri"/>
                <a:ea typeface="Calibri"/>
                <a:cs typeface="Calibri"/>
                <a:sym typeface="Calibri"/>
              </a:rPr>
              <a:t> </a:t>
            </a:r>
            <a:endParaRPr/>
          </a:p>
          <a:p>
            <a:pPr marL="457200" marR="0" lvl="1" indent="0" algn="l" rtl="0">
              <a:lnSpc>
                <a:spcPct val="150000"/>
              </a:lnSpc>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lnSpc>
                <a:spcPct val="150000"/>
              </a:lnSpc>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lnSpc>
                <a:spcPct val="150000"/>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342900" marR="0" lvl="0" indent="-241300" algn="l" rtl="0">
              <a:lnSpc>
                <a:spcPct val="150000"/>
              </a:lnSpc>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68"/>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838" name="Google Shape;838;p68"/>
          <p:cNvSpPr txBox="1"/>
          <p:nvPr/>
        </p:nvSpPr>
        <p:spPr>
          <a:xfrm>
            <a:off x="0" y="980728"/>
            <a:ext cx="4716016"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7200" b="1">
                <a:solidFill>
                  <a:schemeClr val="dk1"/>
                </a:solidFill>
                <a:latin typeface="Calibri"/>
                <a:ea typeface="Calibri"/>
                <a:cs typeface="Calibri"/>
                <a:sym typeface="Calibri"/>
              </a:rPr>
              <a:t>AnswerIT!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GB" sz="3600" b="1">
                <a:solidFill>
                  <a:srgbClr val="7F7F7F"/>
                </a:solidFill>
                <a:latin typeface="Calibri"/>
                <a:ea typeface="Calibri"/>
                <a:cs typeface="Calibri"/>
                <a:sym typeface="Calibri"/>
              </a:rPr>
              <a:t>Transport in cells</a:t>
            </a:r>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0" marR="0" lvl="0" indent="0" algn="l" rtl="0">
              <a:spcBef>
                <a:spcPts val="0"/>
              </a:spcBef>
              <a:spcAft>
                <a:spcPts val="0"/>
              </a:spcAft>
              <a:buNone/>
            </a:pPr>
            <a:endParaRPr sz="3600" b="1">
              <a:solidFill>
                <a:srgbClr val="7F7F7F"/>
              </a:solidFill>
              <a:latin typeface="Calibri"/>
              <a:ea typeface="Calibri"/>
              <a:cs typeface="Calibri"/>
              <a:sym typeface="Calibri"/>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Diffusion</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Osmosis</a:t>
            </a:r>
            <a:endParaRPr/>
          </a:p>
          <a:p>
            <a:pPr marL="685800" marR="0" lvl="1" indent="-342900" algn="l" rtl="0">
              <a:spcBef>
                <a:spcPts val="0"/>
              </a:spcBef>
              <a:spcAft>
                <a:spcPts val="0"/>
              </a:spcAft>
              <a:buClr>
                <a:srgbClr val="7F7F7F"/>
              </a:buClr>
              <a:buSzPts val="2400"/>
              <a:buFont typeface="Arial"/>
              <a:buChar char="•"/>
            </a:pPr>
            <a:r>
              <a:rPr lang="en-GB" sz="2400" b="0" i="0" u="none" strike="noStrike" cap="none">
                <a:solidFill>
                  <a:srgbClr val="7F7F7F"/>
                </a:solidFill>
                <a:latin typeface="Calibri"/>
                <a:ea typeface="Calibri"/>
                <a:cs typeface="Calibri"/>
                <a:sym typeface="Calibri"/>
              </a:rPr>
              <a:t>Active transport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39" name="Google Shape;839;p68"/>
          <p:cNvPicPr preferRelativeResize="0"/>
          <p:nvPr/>
        </p:nvPicPr>
        <p:blipFill rotWithShape="1">
          <a:blip r:embed="rId3">
            <a:alphaModFix/>
          </a:blip>
          <a:srcRect/>
          <a:stretch/>
        </p:blipFill>
        <p:spPr>
          <a:xfrm>
            <a:off x="4139952" y="704918"/>
            <a:ext cx="4824536" cy="52578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69"/>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Transport in cells – </a:t>
            </a:r>
            <a:r>
              <a:rPr lang="en-GB" sz="2400" b="1" i="0" u="none" strike="noStrike" cap="none">
                <a:solidFill>
                  <a:schemeClr val="dk1"/>
                </a:solidFill>
                <a:latin typeface="Calibri"/>
                <a:ea typeface="Calibri"/>
                <a:cs typeface="Calibri"/>
                <a:sym typeface="Calibri"/>
              </a:rPr>
              <a:t>QuestionIT</a:t>
            </a:r>
            <a:endParaRPr/>
          </a:p>
        </p:txBody>
      </p:sp>
      <p:sp>
        <p:nvSpPr>
          <p:cNvPr id="845" name="Google Shape;845;p69"/>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846" name="Google Shape;846;p69"/>
          <p:cNvSpPr txBox="1"/>
          <p:nvPr/>
        </p:nvSpPr>
        <p:spPr>
          <a:xfrm>
            <a:off x="149087" y="714007"/>
            <a:ext cx="8915400" cy="7448193"/>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400"/>
              <a:buFont typeface="Calibri"/>
              <a:buAutoNum type="arabicPeriod"/>
            </a:pPr>
            <a:r>
              <a:rPr lang="en-GB" sz="2400">
                <a:solidFill>
                  <a:schemeClr val="dk1"/>
                </a:solidFill>
                <a:latin typeface="Calibri"/>
                <a:ea typeface="Calibri"/>
                <a:cs typeface="Calibri"/>
                <a:sym typeface="Calibri"/>
              </a:rPr>
              <a:t>Define ‘diffusion’?</a:t>
            </a:r>
            <a:endParaRPr/>
          </a:p>
          <a:p>
            <a:pPr marL="0" marR="0" lvl="0" indent="0" algn="l" rtl="0">
              <a:spcBef>
                <a:spcPts val="0"/>
              </a:spcBef>
              <a:spcAft>
                <a:spcPts val="0"/>
              </a:spcAft>
              <a:buNone/>
            </a:pPr>
            <a:r>
              <a:rPr lang="en-GB" sz="2400">
                <a:solidFill>
                  <a:srgbClr val="00B050"/>
                </a:solidFill>
                <a:latin typeface="Calibri"/>
                <a:ea typeface="Calibri"/>
                <a:cs typeface="Calibri"/>
                <a:sym typeface="Calibri"/>
              </a:rPr>
              <a:t>The spreading of the particles from a region where they are of a higher concentration to an area of lower concentration.  </a:t>
            </a:r>
            <a:endParaRPr/>
          </a:p>
          <a:p>
            <a:pPr marL="0" marR="0" lvl="0" indent="0" algn="l" rtl="0">
              <a:spcBef>
                <a:spcPts val="0"/>
              </a:spcBef>
              <a:spcAft>
                <a:spcPts val="0"/>
              </a:spcAft>
              <a:buNone/>
            </a:pPr>
            <a:endParaRPr sz="900">
              <a:solidFill>
                <a:schemeClr val="dk1"/>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2. State three places where diffusion occurs in the body. </a:t>
            </a:r>
            <a:r>
              <a:rPr lang="en-GB" sz="2400">
                <a:solidFill>
                  <a:srgbClr val="00B050"/>
                </a:solidFill>
                <a:latin typeface="Calibri"/>
                <a:ea typeface="Calibri"/>
                <a:cs typeface="Calibri"/>
                <a:sym typeface="Calibri"/>
              </a:rPr>
              <a:t>Small intestines, lungs, kidneys</a:t>
            </a:r>
            <a:endParaRPr/>
          </a:p>
          <a:p>
            <a:pPr marL="0" marR="0" lvl="0" indent="0" algn="l" rtl="0">
              <a:spcBef>
                <a:spcPts val="0"/>
              </a:spcBef>
              <a:spcAft>
                <a:spcPts val="0"/>
              </a:spcAft>
              <a:buNone/>
            </a:pPr>
            <a:endParaRPr sz="900">
              <a:solidFill>
                <a:srgbClr val="00B050"/>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3. What is a concentration gradient? </a:t>
            </a:r>
            <a:r>
              <a:rPr lang="en-GB" sz="2400">
                <a:solidFill>
                  <a:srgbClr val="00B050"/>
                </a:solidFill>
                <a:latin typeface="Calibri"/>
                <a:ea typeface="Calibri"/>
                <a:cs typeface="Calibri"/>
                <a:sym typeface="Calibri"/>
              </a:rPr>
              <a:t>The difference in concentration between two areas next to each other. </a:t>
            </a:r>
            <a:endParaRPr/>
          </a:p>
          <a:p>
            <a:pPr marL="0" marR="0" lvl="0" indent="0" algn="l" rtl="0">
              <a:spcBef>
                <a:spcPts val="0"/>
              </a:spcBef>
              <a:spcAft>
                <a:spcPts val="0"/>
              </a:spcAft>
              <a:buNone/>
            </a:pPr>
            <a:endParaRPr sz="900">
              <a:solidFill>
                <a:srgbClr val="00B050"/>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4. What three factors affect rate of diffusion? </a:t>
            </a:r>
            <a:r>
              <a:rPr lang="en-GB" sz="2400">
                <a:solidFill>
                  <a:srgbClr val="00B050"/>
                </a:solidFill>
                <a:latin typeface="Calibri"/>
                <a:ea typeface="Calibri"/>
                <a:cs typeface="Calibri"/>
                <a:sym typeface="Calibri"/>
              </a:rPr>
              <a:t>Concentration gradient, temperature, surface area.</a:t>
            </a:r>
            <a:endParaRPr/>
          </a:p>
          <a:p>
            <a:pPr marL="0" marR="0" lvl="0" indent="0" algn="l" rtl="0">
              <a:spcBef>
                <a:spcPts val="0"/>
              </a:spcBef>
              <a:spcAft>
                <a:spcPts val="0"/>
              </a:spcAft>
              <a:buNone/>
            </a:pPr>
            <a:endParaRPr sz="900">
              <a:solidFill>
                <a:srgbClr val="00B050"/>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5. What is surface area to volume ratio? </a:t>
            </a:r>
            <a:r>
              <a:rPr lang="en-GB" sz="2400">
                <a:solidFill>
                  <a:srgbClr val="00B050"/>
                </a:solidFill>
                <a:latin typeface="Calibri"/>
                <a:ea typeface="Calibri"/>
                <a:cs typeface="Calibri"/>
                <a:sym typeface="Calibri"/>
              </a:rPr>
              <a:t>The  size of a surface compared to its volume. </a:t>
            </a:r>
            <a:endParaRPr/>
          </a:p>
          <a:p>
            <a:pPr marL="0" marR="0" lvl="0" indent="0" algn="l" rtl="0">
              <a:spcBef>
                <a:spcPts val="0"/>
              </a:spcBef>
              <a:spcAft>
                <a:spcPts val="0"/>
              </a:spcAft>
              <a:buNone/>
            </a:pPr>
            <a:endParaRPr sz="900">
              <a:solidFill>
                <a:srgbClr val="00B050"/>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6. Which has the largest surface area to volume ratio an elephant or a meerkat? </a:t>
            </a:r>
            <a:r>
              <a:rPr lang="en-GB" sz="2400">
                <a:solidFill>
                  <a:srgbClr val="00B050"/>
                </a:solidFill>
                <a:latin typeface="Calibri"/>
                <a:ea typeface="Calibri"/>
                <a:cs typeface="Calibri"/>
                <a:sym typeface="Calibri"/>
              </a:rPr>
              <a:t>The meerkat. </a:t>
            </a:r>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342900" marR="0" lvl="0" indent="-24130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70"/>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Transport in cells – </a:t>
            </a:r>
            <a:r>
              <a:rPr lang="en-GB" sz="2400" b="1" i="0" u="none" strike="noStrike" cap="none">
                <a:solidFill>
                  <a:schemeClr val="dk1"/>
                </a:solidFill>
                <a:latin typeface="Calibri"/>
                <a:ea typeface="Calibri"/>
                <a:cs typeface="Calibri"/>
                <a:sym typeface="Calibri"/>
              </a:rPr>
              <a:t>QuestionIT</a:t>
            </a:r>
            <a:endParaRPr/>
          </a:p>
        </p:txBody>
      </p:sp>
      <p:sp>
        <p:nvSpPr>
          <p:cNvPr id="852" name="Google Shape;852;p70"/>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853" name="Google Shape;853;p70"/>
          <p:cNvSpPr txBox="1"/>
          <p:nvPr/>
        </p:nvSpPr>
        <p:spPr>
          <a:xfrm>
            <a:off x="149087" y="613994"/>
            <a:ext cx="8915400" cy="60016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7. State how the following are adapted for diffusion:</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457200" marR="0" lvl="1" indent="0" algn="l" rtl="0">
              <a:spcBef>
                <a:spcPts val="0"/>
              </a:spcBef>
              <a:spcAft>
                <a:spcPts val="0"/>
              </a:spcAft>
              <a:buNone/>
            </a:pPr>
            <a:r>
              <a:rPr lang="en-GB" sz="2400" b="0" i="0" u="none" strike="noStrike" cap="none">
                <a:solidFill>
                  <a:schemeClr val="dk1"/>
                </a:solidFill>
                <a:latin typeface="Calibri"/>
                <a:ea typeface="Calibri"/>
                <a:cs typeface="Calibri"/>
                <a:sym typeface="Calibri"/>
              </a:rPr>
              <a:t>a. The small intestines. </a:t>
            </a:r>
            <a:r>
              <a:rPr lang="en-GB" sz="2400" b="0" i="0" u="none" strike="noStrike" cap="none">
                <a:solidFill>
                  <a:srgbClr val="00B050"/>
                </a:solidFill>
                <a:latin typeface="Calibri"/>
                <a:ea typeface="Calibri"/>
                <a:cs typeface="Calibri"/>
                <a:sym typeface="Calibri"/>
              </a:rPr>
              <a:t>Have villi to increase surface area, good blood supply, thin membranes. </a:t>
            </a:r>
            <a:endParaRPr/>
          </a:p>
          <a:p>
            <a:pPr marL="457200" marR="0" lvl="1" indent="0" algn="l" rtl="0">
              <a:spcBef>
                <a:spcPts val="0"/>
              </a:spcBef>
              <a:spcAft>
                <a:spcPts val="0"/>
              </a:spcAft>
              <a:buNone/>
            </a:pPr>
            <a:r>
              <a:rPr lang="en-GB" sz="2400" b="0" i="0" u="none" strike="noStrike" cap="none">
                <a:solidFill>
                  <a:schemeClr val="dk1"/>
                </a:solidFill>
                <a:latin typeface="Calibri"/>
                <a:ea typeface="Calibri"/>
                <a:cs typeface="Calibri"/>
                <a:sym typeface="Calibri"/>
              </a:rPr>
              <a:t>b. The lungs.</a:t>
            </a:r>
            <a:r>
              <a:rPr lang="en-GB" sz="2400" b="0" i="0" u="none" strike="noStrike" cap="none">
                <a:solidFill>
                  <a:srgbClr val="00B050"/>
                </a:solidFill>
                <a:latin typeface="Calibri"/>
                <a:ea typeface="Calibri"/>
                <a:cs typeface="Calibri"/>
                <a:sym typeface="Calibri"/>
              </a:rPr>
              <a:t> Have alveoli to increase surface area, good blood supply, thin membranes, they are ventilated. </a:t>
            </a: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GB" sz="2400" b="0" i="0" u="none" strike="noStrike" cap="none">
                <a:solidFill>
                  <a:schemeClr val="dk1"/>
                </a:solidFill>
                <a:latin typeface="Calibri"/>
                <a:ea typeface="Calibri"/>
                <a:cs typeface="Calibri"/>
                <a:sym typeface="Calibri"/>
              </a:rPr>
              <a:t>c. Gills in fish.</a:t>
            </a:r>
            <a:r>
              <a:rPr lang="en-GB" sz="2400" b="0" i="0" u="none" strike="noStrike" cap="none">
                <a:solidFill>
                  <a:srgbClr val="00B050"/>
                </a:solidFill>
                <a:latin typeface="Calibri"/>
                <a:ea typeface="Calibri"/>
                <a:cs typeface="Calibri"/>
                <a:sym typeface="Calibri"/>
              </a:rPr>
              <a:t> Have gill filaments and lamella to increase surface area, good blood supply, thin membranes. </a:t>
            </a: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GB" sz="2400" b="0" i="0" u="none" strike="noStrike" cap="none">
                <a:solidFill>
                  <a:schemeClr val="dk1"/>
                </a:solidFill>
                <a:latin typeface="Calibri"/>
                <a:ea typeface="Calibri"/>
                <a:cs typeface="Calibri"/>
                <a:sym typeface="Calibri"/>
              </a:rPr>
              <a:t>d. Roots. </a:t>
            </a:r>
            <a:r>
              <a:rPr lang="en-GB" sz="2400" b="0" i="0" u="none" strike="noStrike" cap="none">
                <a:solidFill>
                  <a:srgbClr val="00B050"/>
                </a:solidFill>
                <a:latin typeface="Calibri"/>
                <a:ea typeface="Calibri"/>
                <a:cs typeface="Calibri"/>
                <a:sym typeface="Calibri"/>
              </a:rPr>
              <a:t>Have root hair cells to increase surface area.</a:t>
            </a: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r>
              <a:rPr lang="en-GB" sz="2400" b="0" i="0" u="none" strike="noStrike" cap="none">
                <a:solidFill>
                  <a:schemeClr val="dk1"/>
                </a:solidFill>
                <a:latin typeface="Calibri"/>
                <a:ea typeface="Calibri"/>
                <a:cs typeface="Calibri"/>
                <a:sym typeface="Calibri"/>
              </a:rPr>
              <a:t>e. Leaves. </a:t>
            </a:r>
            <a:r>
              <a:rPr lang="en-GB" sz="2400" b="0" i="0" u="none" strike="noStrike" cap="none">
                <a:solidFill>
                  <a:srgbClr val="00B050"/>
                </a:solidFill>
                <a:latin typeface="Calibri"/>
                <a:ea typeface="Calibri"/>
                <a:cs typeface="Calibri"/>
                <a:sym typeface="Calibri"/>
              </a:rPr>
              <a:t>Large surface area, thin and stomata.</a:t>
            </a:r>
            <a:endParaRPr/>
          </a:p>
          <a:p>
            <a:pPr marL="457200" marR="0" lvl="1" indent="0" algn="l" rtl="0">
              <a:spcBef>
                <a:spcPts val="0"/>
              </a:spcBef>
              <a:spcAft>
                <a:spcPts val="0"/>
              </a:spcAft>
              <a:buNone/>
            </a:pPr>
            <a:endParaRPr sz="2400" b="0" i="0" u="none" strike="noStrike" cap="none">
              <a:solidFill>
                <a:srgbClr val="00B050"/>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8. Define osmosis? </a:t>
            </a:r>
            <a:r>
              <a:rPr lang="en-GB" sz="2400">
                <a:solidFill>
                  <a:srgbClr val="00B050"/>
                </a:solidFill>
                <a:latin typeface="Calibri"/>
                <a:ea typeface="Calibri"/>
                <a:cs typeface="Calibri"/>
                <a:sym typeface="Calibri"/>
              </a:rPr>
              <a:t>Osmosis is the diffusion of water from a dilute solution to a concentrated solution through a partially permeable membrane.</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9. What is a partially permeable membrane? </a:t>
            </a:r>
            <a:r>
              <a:rPr lang="en-GB" sz="2400">
                <a:solidFill>
                  <a:srgbClr val="00B050"/>
                </a:solidFill>
                <a:latin typeface="Calibri"/>
                <a:ea typeface="Calibri"/>
                <a:cs typeface="Calibri"/>
                <a:sym typeface="Calibri"/>
              </a:rPr>
              <a:t>A membrane that lets some but not all substances through. </a:t>
            </a:r>
            <a:endParaRPr sz="2400">
              <a:solidFill>
                <a:srgbClr val="00B050"/>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71"/>
          <p:cNvSpPr txBox="1">
            <a:spLocks noGrp="1"/>
          </p:cNvSpPr>
          <p:nvPr>
            <p:ph type="ctrTitle"/>
          </p:nvPr>
        </p:nvSpPr>
        <p:spPr>
          <a:xfrm>
            <a:off x="1331640" y="0"/>
            <a:ext cx="7812360" cy="657041"/>
          </a:xfrm>
          <a:prstGeom prst="rect">
            <a:avLst/>
          </a:prstGeom>
          <a:noFill/>
          <a:ln>
            <a:noFill/>
          </a:ln>
        </p:spPr>
        <p:txBody>
          <a:bodyPr spcFirstLastPara="1" wrap="square" lIns="91425" tIns="45700" rIns="91425" bIns="45700" anchor="ctr" anchorCtr="0">
            <a:noAutofit/>
          </a:bodyPr>
          <a:lstStyle/>
          <a:p>
            <a:pPr marL="342900" lvl="1" indent="0" algn="r" rtl="0">
              <a:spcBef>
                <a:spcPts val="0"/>
              </a:spcBef>
              <a:spcAft>
                <a:spcPts val="0"/>
              </a:spcAft>
              <a:buNone/>
            </a:pPr>
            <a:r>
              <a:rPr lang="en-GB" sz="2400" b="1">
                <a:solidFill>
                  <a:schemeClr val="accent6"/>
                </a:solidFill>
              </a:rPr>
              <a:t>Transport in cells – </a:t>
            </a:r>
            <a:r>
              <a:rPr lang="en-GB" sz="2400" b="1" i="0" u="none" strike="noStrike" cap="none">
                <a:solidFill>
                  <a:schemeClr val="dk1"/>
                </a:solidFill>
                <a:latin typeface="Calibri"/>
                <a:ea typeface="Calibri"/>
                <a:cs typeface="Calibri"/>
                <a:sym typeface="Calibri"/>
              </a:rPr>
              <a:t>QuestionIT</a:t>
            </a:r>
            <a:endParaRPr/>
          </a:p>
        </p:txBody>
      </p:sp>
      <p:sp>
        <p:nvSpPr>
          <p:cNvPr id="859" name="Google Shape;859;p71"/>
          <p:cNvSpPr/>
          <p:nvPr/>
        </p:nvSpPr>
        <p:spPr>
          <a:xfrm>
            <a:off x="149087" y="802524"/>
            <a:ext cx="8915400" cy="559573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1"/>
              </a:buClr>
              <a:buSzPts val="2000"/>
              <a:buFont typeface="Calibri"/>
              <a:buNone/>
            </a:pPr>
            <a:endParaRPr sz="2000">
              <a:solidFill>
                <a:schemeClr val="dk1"/>
              </a:solidFill>
              <a:latin typeface="Calibri"/>
              <a:ea typeface="Calibri"/>
              <a:cs typeface="Calibri"/>
              <a:sym typeface="Calibri"/>
            </a:endParaRPr>
          </a:p>
        </p:txBody>
      </p:sp>
      <p:sp>
        <p:nvSpPr>
          <p:cNvPr id="860" name="Google Shape;860;p71"/>
          <p:cNvSpPr txBox="1"/>
          <p:nvPr/>
        </p:nvSpPr>
        <p:spPr>
          <a:xfrm>
            <a:off x="149087" y="714007"/>
            <a:ext cx="8915400" cy="65248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alibri"/>
                <a:ea typeface="Calibri"/>
                <a:cs typeface="Calibri"/>
                <a:sym typeface="Calibri"/>
              </a:rPr>
              <a:t>10. What happens to an animal cell in a hypertonic solution? </a:t>
            </a:r>
            <a:r>
              <a:rPr lang="en-GB" sz="2400">
                <a:solidFill>
                  <a:srgbClr val="00B050"/>
                </a:solidFill>
                <a:latin typeface="Calibri"/>
                <a:ea typeface="Calibri"/>
                <a:cs typeface="Calibri"/>
                <a:sym typeface="Calibri"/>
              </a:rPr>
              <a:t>It will lose water by osmosis and shrivel. </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11. What happens to an animal cell in a hypotonic solution? </a:t>
            </a:r>
            <a:r>
              <a:rPr lang="en-GB" sz="2400">
                <a:solidFill>
                  <a:srgbClr val="00B050"/>
                </a:solidFill>
                <a:latin typeface="Calibri"/>
                <a:ea typeface="Calibri"/>
                <a:cs typeface="Calibri"/>
                <a:sym typeface="Calibri"/>
              </a:rPr>
              <a:t>It will absorb water by osmosis and get bigger/burst. </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12. Define active transport. </a:t>
            </a:r>
            <a:r>
              <a:rPr lang="en-GB" sz="2400">
                <a:solidFill>
                  <a:srgbClr val="00B050"/>
                </a:solidFill>
                <a:latin typeface="Calibri"/>
                <a:ea typeface="Calibri"/>
                <a:cs typeface="Calibri"/>
                <a:sym typeface="Calibri"/>
              </a:rPr>
              <a:t>Active transport moves substances from a more dilute solution to a more concentrated solution (against a concentration gradient) using energy from respiration.</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13. Why does active transport need to occur in root hair cells? </a:t>
            </a:r>
            <a:r>
              <a:rPr lang="en-GB" sz="2400">
                <a:solidFill>
                  <a:srgbClr val="00B050"/>
                </a:solidFill>
                <a:latin typeface="Calibri"/>
                <a:ea typeface="Calibri"/>
                <a:cs typeface="Calibri"/>
                <a:sym typeface="Calibri"/>
              </a:rPr>
              <a:t>Because the minerals are at a higher concentration in the roots than in the soil.</a:t>
            </a:r>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14. Why does active transport need to occur in the gut? </a:t>
            </a:r>
            <a:r>
              <a:rPr lang="en-GB" sz="2400">
                <a:solidFill>
                  <a:srgbClr val="00B050"/>
                </a:solidFill>
                <a:latin typeface="Calibri"/>
                <a:ea typeface="Calibri"/>
                <a:cs typeface="Calibri"/>
                <a:sym typeface="Calibri"/>
              </a:rPr>
              <a:t>Because the glucose in the blood is at a higher concentration than in the gut.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GB" sz="2400">
                <a:solidFill>
                  <a:schemeClr val="dk1"/>
                </a:solidFill>
                <a:latin typeface="Calibri"/>
                <a:ea typeface="Calibri"/>
                <a:cs typeface="Calibri"/>
                <a:sym typeface="Calibri"/>
              </a:rPr>
              <a:t> </a:t>
            </a:r>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2400" b="0" i="0" u="none" strike="noStrike" cap="none">
              <a:solidFill>
                <a:schemeClr val="dk1"/>
              </a:solidFill>
              <a:latin typeface="Calibri"/>
              <a:ea typeface="Calibri"/>
              <a:cs typeface="Calibri"/>
              <a:sym typeface="Calibri"/>
            </a:endParaRPr>
          </a:p>
          <a:p>
            <a:pPr marL="457200" marR="0" lvl="1"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342900" marR="0" lvl="0" indent="-241300" algn="l" rtl="0">
              <a:spcBef>
                <a:spcPts val="0"/>
              </a:spcBef>
              <a:spcAft>
                <a:spcPts val="0"/>
              </a:spcAft>
              <a:buClr>
                <a:schemeClr val="dk1"/>
              </a:buClr>
              <a:buSzPts val="1600"/>
              <a:buFont typeface="Calibri"/>
              <a:buNone/>
            </a:pPr>
            <a:endParaRPr sz="16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IXL Sci">
  <a:themeElements>
    <a:clrScheme name="Custom 1">
      <a:dk1>
        <a:srgbClr val="000000"/>
      </a:dk1>
      <a:lt1>
        <a:srgbClr val="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8938</Words>
  <Application>Microsoft Office PowerPoint</Application>
  <PresentationFormat>On-screen Show (4:3)</PresentationFormat>
  <Paragraphs>1144</Paragraphs>
  <Slides>71</Slides>
  <Notes>71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71</vt:i4>
      </vt:variant>
    </vt:vector>
  </HeadingPairs>
  <TitlesOfParts>
    <vt:vector size="79" baseType="lpstr">
      <vt:lpstr>Times</vt:lpstr>
      <vt:lpstr>Source Sans Pro</vt:lpstr>
      <vt:lpstr>Arial</vt:lpstr>
      <vt:lpstr>Gill Sans</vt:lpstr>
      <vt:lpstr>Calibri</vt:lpstr>
      <vt:lpstr>Custom Design</vt:lpstr>
      <vt:lpstr>1_Office Theme</vt:lpstr>
      <vt:lpstr>PIXL Sci</vt:lpstr>
      <vt:lpstr>PowerPoint Presentation</vt:lpstr>
      <vt:lpstr>Overview   Cell Biology</vt:lpstr>
      <vt:lpstr>PowerPoint Presentation</vt:lpstr>
      <vt:lpstr>Cell structure part 1 - Eukaryotes and prokaryotes</vt:lpstr>
      <vt:lpstr>Cell structure part 1 - Animal, plant cells and bacterial cells </vt:lpstr>
      <vt:lpstr>Cell structure part 1 - Animal, plant cells and bacterial cells </vt:lpstr>
      <vt:lpstr>PowerPoint Presentation</vt:lpstr>
      <vt:lpstr>Cell structure part 1 – QuestionIT</vt:lpstr>
      <vt:lpstr>Cell structure part 1 – QuestionIT</vt:lpstr>
      <vt:lpstr>Cell structure part 1 – QuestionIT</vt:lpstr>
      <vt:lpstr>PowerPoint Presentation</vt:lpstr>
      <vt:lpstr>Cell structure – AnswerIT</vt:lpstr>
      <vt:lpstr>Cell structure – AnswerIT</vt:lpstr>
      <vt:lpstr>Cell structure – AnswerIT</vt:lpstr>
      <vt:lpstr>PowerPoint Presentation</vt:lpstr>
      <vt:lpstr>Cell structure part 2 - Animal cell specialisation </vt:lpstr>
      <vt:lpstr>Cell structure part 2 - Plant cell specialisation</vt:lpstr>
      <vt:lpstr>Cell structure part 2 - Cell differentiation</vt:lpstr>
      <vt:lpstr>PowerPoint Presentation</vt:lpstr>
      <vt:lpstr>Cell structure part 2 – QuestionIT</vt:lpstr>
      <vt:lpstr>Cell structure – QuestionIT</vt:lpstr>
      <vt:lpstr>Cell structure – QuestionIT</vt:lpstr>
      <vt:lpstr>PowerPoint Presentation</vt:lpstr>
      <vt:lpstr>Cell structure – AnswerIT</vt:lpstr>
      <vt:lpstr>Cell structure – AnswerIT</vt:lpstr>
      <vt:lpstr>Cell structure – AnswerIT</vt:lpstr>
      <vt:lpstr>PowerPoint Presentation</vt:lpstr>
      <vt:lpstr>Cell structure - Microscopy</vt:lpstr>
      <vt:lpstr>Cell structure - Microscopy</vt:lpstr>
      <vt:lpstr>Cell structure - Microscopy</vt:lpstr>
      <vt:lpstr>Cell structure - Microscopy</vt:lpstr>
      <vt:lpstr>Cell structure – Microscopy </vt:lpstr>
      <vt:lpstr>Cell structure - Culturing microorganisms (biology only)</vt:lpstr>
      <vt:lpstr>PowerPoint Presentation</vt:lpstr>
      <vt:lpstr>Cell structure part 3 – QuestionIT</vt:lpstr>
      <vt:lpstr>Cell structure part 3 – QuestionIT</vt:lpstr>
      <vt:lpstr>Cell structure part 3 – QuestionIT</vt:lpstr>
      <vt:lpstr>Cell structure part 3 – QuestionIT (Biology ONLY)</vt:lpstr>
      <vt:lpstr>PowerPoint Presentation</vt:lpstr>
      <vt:lpstr>Cell structure part 3 – QuestionIT</vt:lpstr>
      <vt:lpstr>Cell structure part 3 – AnswerIT</vt:lpstr>
      <vt:lpstr>Cell structure part 3 – QuestionIT</vt:lpstr>
      <vt:lpstr>Cell structure part 3 – QuestionIT</vt:lpstr>
      <vt:lpstr>Cell structure part 3 – QuestionIT (Biology ONLY)</vt:lpstr>
      <vt:lpstr>PowerPoint Presentation</vt:lpstr>
      <vt:lpstr>Cell division - Chromosomes</vt:lpstr>
      <vt:lpstr>Cell division - Mitosis and the cell cycle</vt:lpstr>
      <vt:lpstr>Cell division - Stem Cells - animals</vt:lpstr>
      <vt:lpstr>Cell division- Stem Cells - plants</vt:lpstr>
      <vt:lpstr>PowerPoint Presentation</vt:lpstr>
      <vt:lpstr>Cell Division– QuestionIT</vt:lpstr>
      <vt:lpstr>Cell Division– QuestionIT</vt:lpstr>
      <vt:lpstr>PowerPoint Presentation</vt:lpstr>
      <vt:lpstr>Cell Division– AnswerIT</vt:lpstr>
      <vt:lpstr>Cell Division– AnswerIT</vt:lpstr>
      <vt:lpstr>PowerPoint Presentation</vt:lpstr>
      <vt:lpstr>Transport in cells - Diffusion</vt:lpstr>
      <vt:lpstr>Transport in cells - Diffusion</vt:lpstr>
      <vt:lpstr>Transport in cells – Surface area to volume ratio</vt:lpstr>
      <vt:lpstr>Transport in cells – Adaptations in animals </vt:lpstr>
      <vt:lpstr>Transport in cells - Osmosis</vt:lpstr>
      <vt:lpstr>Transport in cells – Active transport</vt:lpstr>
      <vt:lpstr>Transport in cells – Adaptations in animals </vt:lpstr>
      <vt:lpstr>Transport in cells – Adaptations in plants</vt:lpstr>
      <vt:lpstr>PowerPoint Presentation</vt:lpstr>
      <vt:lpstr>Transport in cells – QuestionIT</vt:lpstr>
      <vt:lpstr>Transport in cells – QuestionIT</vt:lpstr>
      <vt:lpstr>PowerPoint Presentation</vt:lpstr>
      <vt:lpstr>Transport in cells – QuestionIT</vt:lpstr>
      <vt:lpstr>Transport in cells – QuestionIT</vt:lpstr>
      <vt:lpstr>Transport in cells – QuestionIT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Miss C Barker</cp:lastModifiedBy>
  <cp:revision>2</cp:revision>
  <dcterms:created xsi:type="dcterms:W3CDTF">2016-03-05T09:38:04Z</dcterms:created>
  <dcterms:modified xsi:type="dcterms:W3CDTF">2026-02-23T13:15:45Z</dcterms:modified>
</cp:coreProperties>
</file>